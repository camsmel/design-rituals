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62" r:id="rId12"/>
    <p:sldId id="259" r:id="rId9"/>
    <p:sldId id="258" r:id="rId8"/>
    <p:sldId id="263" r:id="rId13"/>
  </p:sldIdLst>
  <p:sldSz cy="5143500" cx="9144000"/>
  <p:notesSz cx="51435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Kani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1DC07B-1B65-4E73-9999-A8F139A01F9D}">
  <a:tblStyle styleId="{D61DC07B-1B65-4E73-9999-A8F139A01F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nter-regular.fntdata"/><Relationship Id="rId15" Type="http://schemas.openxmlformats.org/officeDocument/2006/relationships/font" Target="fonts/Inter-bold.fntdata"/><Relationship Id="rId16" Type="http://schemas.openxmlformats.org/officeDocument/2006/relationships/font" Target="fonts/Inter-italic.fntdata"/><Relationship Id="rId17" Type="http://schemas.openxmlformats.org/officeDocument/2006/relationships/font" Target="fonts/Inter-boldItalic.fntdata"/><Relationship Id="rId18" Type="http://schemas.openxmlformats.org/officeDocument/2006/relationships/font" Target="fonts/Kanit-regular.fntdata"/><Relationship Id="rId19" Type="http://schemas.openxmlformats.org/officeDocument/2006/relationships/font" Target="fonts/Kanit-bold.fntdata"/><Relationship Id="rId20" Type="http://schemas.openxmlformats.org/officeDocument/2006/relationships/font" Target="fonts/Kanit-italic.fntdata"/><Relationship Id="rId21" Type="http://schemas.openxmlformats.org/officeDocument/2006/relationships/font" Target="fonts/Kani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This slide is for the speaker, not the audience. Delete it before presenting.</a:t>
            </a: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Say the thesis out loud, slowly, then stop talking for a beat. Do not soften it and do not add "but of course it depends": a hedged thesis produces a hedged debate and the room stays polite.</a:t>
            </a:r>
          </a:p>
          <a:p>
            <a:r>
              <a:t>Optional staging, and it lands well remotely: put the statement on a sheet of paper and hold it up to the camera.</a:t>
            </a:r>
          </a:p>
          <a:p>
            <a:r>
              <a:t>⏱ 1 min</a:t>
            </a: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State the objection as its defenders would state it, not as a version you can knock down. The room can tell the difference instantly.</a:t>
            </a:r>
          </a:p>
          <a:p>
            <a:r>
              <a:t>"What would change my mind" is a commitment, so make it something that could actually happen. If nothing would move you, this is the wrong ritual.</a:t>
            </a:r>
          </a:p>
          <a:p>
            <a:r>
              <a:t>⏱ 3 min</a:t>
            </a:r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Two arguments, not five. You are opening a debate, not closing it, and every extra argument is one the room has to queue behind.</a:t>
            </a:r>
          </a:p>
          <a:p>
            <a:r>
              <a:t>Anonymise the client as usual: "a mutual insurer, twelve people in the product team" is enough for the argument to land.</a:t>
            </a:r>
          </a:p>
          <a:p>
            <a:r>
              <a:t>⏱ 5 min</a:t>
            </a: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Two lines on screen, no more. The room needs to hold your claim in their head for the next twenty-five minutes.</a:t>
            </a:r>
          </a:p>
          <a:p>
            <a:r>
              <a:t>"Why now" is what stops this being a philosophy seminar: a client situation, a piece of tooling that changed, something you read that annoyed you.</a:t>
            </a:r>
          </a:p>
          <a:p>
            <a:r>
              <a:t>⏱ 2 min</a:t>
            </a:r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Leave this slide up for the whole debate. It carries the rule and gives latecomers something to grab onto.</a:t>
            </a:r>
          </a:p>
          <a:p>
            <a:r>
              <a:t>Call on the quiet disagreement before the loud agreement, and put a name to it: "[name], you were making a face." On sensitive subjects, restate the rule once out loud rather than assuming everyone read it.</a:t>
            </a:r>
          </a:p>
          <a:p>
            <a:r>
              <a:t>Close by saying what moved you and what did not. That is the whole point of the format, and it takes thirty seconds.</a:t>
            </a:r>
          </a:p>
          <a:p>
            <a:r>
              <a:t>⏱ 18 min</a:t>
            </a:r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lang="en-US" sz="1700">
                <a:solidFill>
                  <a:srgbClr val="5818FF"/>
                </a:solidFill>
                <a:highlight>
                  <a:srgbClr val="5818FF"/>
                </a:highlight>
                <a:latin typeface="Kanit"/>
                <a:ea typeface="Kanit"/>
                <a:cs typeface="Kanit"/>
                <a:sym typeface="Kanit"/>
              </a:rPr>
              <a:t>.</a:t>
            </a:r>
            <a:r>
              <a:rPr b="1" i="0" lang="en-US" sz="1600" u="none" cap="none" strike="noStrike">
                <a:solidFill>
                  <a:schemeClr val="lt1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600" u="none" cap="none" strike="noStrike">
                <a:solidFill>
                  <a:schemeClr val="lt1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READ ME FIRST</a:t>
            </a:r>
            <a:r>
              <a:rPr b="1" i="0" lang="en-US" sz="1600" u="none" cap="none" strike="noStrike">
                <a:solidFill>
                  <a:srgbClr val="5818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>
              <a:solidFill>
                <a:srgbClr val="5818FF"/>
              </a:solidFill>
              <a:highlight>
                <a:srgbClr val="5818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5" y="475503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2000"/>
              <a:buFont typeface="Kanit"/>
              <a:buNone/>
            </a:pPr>
            <a:r>
              <a:rPr b="1" i="0" lang="en-US" sz="20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TO USE THIS TEMPLATE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932688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35040" y="420624"/>
            <a:ext cx="2606040" cy="502920"/>
          </a:xfrm>
          <a:prstGeom prst="roundRect">
            <a:avLst>
              <a:gd fmla="val 7273" name="adj"/>
            </a:avLst>
          </a:prstGeom>
          <a:solidFill>
            <a:srgbClr val="1B0442"/>
          </a:solidFill>
          <a:ln cap="flat" cmpd="sng" w="12700">
            <a:solidFill>
              <a:srgbClr val="1B0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35040" y="420624"/>
            <a:ext cx="2606040" cy="502920"/>
          </a:xfrm>
          <a:prstGeom prst="rect">
            <a:avLst/>
          </a:prstGeom>
          <a:solidFill>
            <a:srgbClr val="C500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DELETE THIS SLIDE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</a:br>
            <a:r>
              <a:rPr b="0" i="0" lang="en-US" sz="900" u="none" cap="none" strike="noStrike">
                <a:solidFill>
                  <a:srgbClr val="FFF0F2"/>
                </a:solidFill>
                <a:latin typeface="Inter"/>
                <a:ea typeface="Inter"/>
                <a:cs typeface="Inter"/>
                <a:sym typeface="Inter"/>
              </a:rPr>
              <a:t>before you present</a:t>
            </a:r>
            <a:endParaRPr b="0" i="0" sz="1000" u="none" cap="none" strike="noStrike">
              <a:solidFill>
                <a:srgbClr val="FFF0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1338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Kanit"/>
              <a:buNone/>
            </a:pPr>
            <a:r>
              <a:rPr lang="en-US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You come with a statement you actually believe, you make the case in twelve minutes, and you spend the next eighteen being argued with.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" name="Google Shape;22;p3"/>
          <p:cNvGraphicFramePr/>
          <p:nvPr/>
        </p:nvGraphicFramePr>
        <p:xfrm>
          <a:off x="502920" y="16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{D61DC07B-1B65-4E73-9999-A8F139A01F9D}</a:tableStyleId>
              </a:tblPr>
              <a:tblGrid>
                <a:gridCol w="4069075"/>
                <a:gridCol w="406907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RULES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TRAP TO AVOID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1417325">
                <a:tc>
                  <a:txBody>
                    <a:bodyPr/>
                    <a:lstStyle/>
                    <a:p>
                      <a:r>
                        <a:t>· 5 slides. 12 min of case, 18 min of debate</a:t>
                      </a:r>
                    </a:p>
                    <a:p>
                      <a:r>
                        <a:t>· Pick a thesis you could be talked out of</a:t>
                      </a:r>
                    </a:p>
                    <a:p>
                      <a:r>
                        <a:t>· Name the best objection yourself</a:t>
                      </a:r>
                    </a:p>
                    <a:p>
                      <a:r>
                        <a:t>· Challenge the claim, never the person</a:t>
                      </a:r>
                    </a:p>
                    <a:p>
                      <a:r>
                        <a:t>· Close on what actually moved you</a:t>
                      </a: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Picking a thesis nobody will contest. "Accessibility matters" gets nods and silence. A debate needs a claim with a cost attached.</a:t>
                      </a:r>
                    </a:p>
                    <a:p>
                      <a:r>
                        <a:t>The quieter trap: defending your position to the death. The ritual is called Change My Mind, not Prove Me Right.</a:t>
                      </a: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Google Shape;23;p3"/>
          <p:cNvSpPr/>
          <p:nvPr/>
        </p:nvSpPr>
        <p:spPr>
          <a:xfrm>
            <a:off x="502920" y="3490032"/>
            <a:ext cx="8138100" cy="841200"/>
          </a:xfrm>
          <a:prstGeom prst="roundRect">
            <a:avLst>
              <a:gd fmla="val 4348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30936" y="3490032"/>
            <a:ext cx="78822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100"/>
              <a:buFont typeface="Kanit"/>
              <a:buNone/>
            </a:pPr>
            <a:r>
              <a:rPr b="1" i="0" lang="en-US" sz="11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HOW TO FILL THIS IN.   Write the thesis first, in one sentence, as a statement. Everything else follows from it. Read the speaker notes on each slide, then delete the TIP boxes and this slide.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Quicker route: paste your argument into Claude and ask it to fill this template for you. Then correct what it got wrong, which is the part only you can 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4383901"/>
            <a:ext cx="813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850"/>
              <a:buFont typeface="Inter"/>
              <a:buNone/>
            </a:pPr>
            <a:r>
              <a:rPr b="0" i="1" lang="en-US" sz="8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Confidentiality: anonymise the client unless the mission is public · blur user data, names and figures in screenshots · prefer relative metrics · never share a client Figma or Miro link, screenshot it instead.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82296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TRIBE DESIGN · [DATE]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Kanit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CHANGE MY MIND 💬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192024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"[Your thesis, one sentence, stated flat, not as a question]"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3108960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33101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[Your name] · [Client or anonymised descriptor]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897880" y="822960"/>
            <a:ext cx="2743200" cy="2743200"/>
          </a:xfrm>
          <a:prstGeom prst="roundRect">
            <a:avLst>
              <a:gd fmla="val 1333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897880" y="82296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CHANGE MY MIND · DEBATE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WHERE I MIGHT BE WRONG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1" name="Google Shape;51;p5"/>
          <p:cNvGraphicFramePr/>
          <p:nvPr/>
        </p:nvGraphicFramePr>
        <p:xfrm>
          <a:off x="502920" y="1179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{D61DC07B-1B65-4E73-9999-A8F139A01F9D}</a:tableStyleId>
              </a:tblPr>
              <a:tblGrid>
                <a:gridCol w="2011675"/>
                <a:gridCol w="61264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MY ANSWER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strongest objection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best argument against you, stated fairly]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What I'm not arguing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strawman you want off the table]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Where I'm least sure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part of your case you would drop first]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What would change my mind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evidence or experience that would move you]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Google Shape;52;p5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  The slide that makes this ritual work. Naming the best counter-argument yourself buys you a real debate instead of twenty minutes of people explaining something you already knew.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/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CHANGE MY MIND · DEBATE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THE CASE FOR IT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02920" y="1179576"/>
            <a:ext cx="3977640" cy="256032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64922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WHAT I ARGUE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49224" y="1600200"/>
            <a:ext cx="3685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[Argument one, one line]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[Argument two, one line]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663440" y="1179576"/>
            <a:ext cx="3977640" cy="256032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80974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WHERE IT COMES FROM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809744" y="1600200"/>
            <a:ext cx="3685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[The mission, the project or the reading behind it]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you saw that made you believe it]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  The right-hand column is what makes this a debate rather than an opinion. An argument with no experience behind it gets dismissed in thirty seconds.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/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CHANGE MY MIND · DEBATE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MY THESIS, AND WHY NOW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02920" y="1179576"/>
            <a:ext cx="8138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[The statement again, in your own words]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[Why it is worth arguing about now, in one line]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  A thesis is a claim someone could reasonably refuse. "PMs should not write the problem statement alone" is a thesis. "Collaboration is important" is a mood.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/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CHANGE MY MIND · DEBATE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THE FLOOR IS YOURS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502920" y="1179576"/>
            <a:ext cx="8138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[Opening question: the one that splits the room]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[Second question, for when the first is exhausted]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[A question aimed at whoever disagrees most]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02920" y="2615184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Ground rule: challenge the claim, never the person.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02920" y="426110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TIP  Open on the disagreement, not the agreement. "Who here thinks this is wrong?" gets a debate going faster than "any thoughts?", which gets you four seconds of silence.</a:t>
            </a:r>
            <a:r>
              <a:rPr b="0" i="0" lang="en-US" sz="9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