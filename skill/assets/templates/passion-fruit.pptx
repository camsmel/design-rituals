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5143500" cy="9144000"/>
  <p:embeddedFontLst>
    <p:embeddedFont>
      <p:font typeface="Inter"/>
      <p:regular r:id="rId13"/>
      <p:bold r:id="rId14"/>
      <p:italic r:id="rId15"/>
      <p:boldItalic r:id="rId16"/>
    </p:embeddedFont>
    <p:embeddedFont>
      <p:font typeface="Kani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DF97B4-71AE-4F80-9F4B-99A7DEEAFE71}">
  <a:tblStyle styleId="{9BDF97B4-71AE-4F80-9F4B-99A7DEEAFE7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ni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Kanit-regular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Kanit-italic.fntdata"/><Relationship Id="rId6" Type="http://schemas.openxmlformats.org/officeDocument/2006/relationships/slide" Target="slides/slide1.xml"/><Relationship Id="rId18" Type="http://schemas.openxmlformats.org/officeDocument/2006/relationships/font" Target="fonts/Kani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for the speaker, not the audience. Delete it before presenting.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Put a photo of you practising your passion! Even a bad one ;)</a:t>
            </a:r>
            <a:br>
              <a:rPr lang="en-US"/>
            </a:br>
            <a:r>
              <a:rPr lang="en-US"/>
              <a:t>⏱ 30 sec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2 min</a:t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4 min</a:t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4 min</a:t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a bridge feels forced while you're writing it, it will feel forced in the room. Two honest ones beat three invented ones.</a:t>
            </a:r>
            <a:br>
              <a:rPr lang="en-US"/>
            </a:br>
            <a:r>
              <a:rPr lang="en-US"/>
              <a:t>⏱ 4 min</a:t>
            </a:r>
            <a:endParaRPr/>
          </a:p>
        </p:txBody>
      </p:sp>
      <p:sp>
        <p:nvSpPr>
          <p:cNvPr id="92" name="Google Shape;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2 min, then 10 min of questions</a:t>
            </a:r>
            <a:endParaRPr/>
          </a:p>
        </p:txBody>
      </p:sp>
      <p:sp>
        <p:nvSpPr>
          <p:cNvPr id="106" name="Google Shape;1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02925" y="4755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2000"/>
              <a:buFont typeface="Kanit"/>
              <a:buNone/>
            </a:pPr>
            <a:r>
              <a:rPr b="1" i="0" lang="en-US" sz="20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HOW TO USE THIS TEMPLATE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0" y="932688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02920" y="11338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Kanit"/>
              <a:buNone/>
            </a:pPr>
            <a:r>
              <a:rPr lang="en-US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The most relaxed slot of the month. You talk about something you love, what it quietly taught you as a designer, and we all get to know each other a bit better!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" name="Google Shape;19;p3"/>
          <p:cNvGraphicFramePr/>
          <p:nvPr/>
        </p:nvGraphicFramePr>
        <p:xfrm>
          <a:off x="502920" y="17769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{9BDF97B4-71AE-4F80-9F4B-99A7DEEAFE71}</a:tableStyleId>
              </a:tblPr>
              <a:tblGrid>
                <a:gridCol w="4069075"/>
                <a:gridCol w="4069075"/>
              </a:tblGrid>
              <a:tr h="30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RULES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TRAP TO AVOID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103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No need to be an expert to share your passion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Slide 5, the bridges, is the one to keep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Forcing the parallel. If your passion is bread and you claim it taught you agile, we can all tell.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Google Shape;20;p3"/>
          <p:cNvSpPr/>
          <p:nvPr/>
        </p:nvSpPr>
        <p:spPr>
          <a:xfrm>
            <a:off x="502920" y="3383280"/>
            <a:ext cx="8138160" cy="841248"/>
          </a:xfrm>
          <a:prstGeom prst="roundRect">
            <a:avLst>
              <a:gd fmla="val 4348" name="adj"/>
            </a:avLst>
          </a:prstGeom>
          <a:solidFill>
            <a:srgbClr val="E6DEFA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30936" y="3383280"/>
            <a:ext cx="788212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100"/>
              <a:buFont typeface="Kanit"/>
              <a:buNone/>
            </a:pPr>
            <a:r>
              <a:rPr b="1" i="0" lang="en-US" sz="11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HOW TO FILL THIS IN.   </a:t>
            </a: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Read the speaker notes on each slide first: they hold the questions to answer and what to actually say out loud. Fill the [bracketed] bits, drop your visuals in the dashed zones, then delete the TIP boxes and this slide.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Quicker route: paste your notes into Claude and ask it to fill this template for you. Then correct what it got wrong, which is the part only you can 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502920" y="256032"/>
            <a:ext cx="5943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lang="en-US" sz="1700">
                <a:solidFill>
                  <a:srgbClr val="5818FF"/>
                </a:solidFill>
                <a:highlight>
                  <a:srgbClr val="5818FF"/>
                </a:highlight>
                <a:latin typeface="Kanit"/>
                <a:ea typeface="Kanit"/>
                <a:cs typeface="Kanit"/>
                <a:sym typeface="Kanit"/>
              </a:rPr>
              <a:t>.</a:t>
            </a:r>
            <a:r>
              <a:rPr b="1" i="0" lang="en-US" sz="1600" u="none" cap="none" strike="noStrike">
                <a:solidFill>
                  <a:srgbClr val="FFFFFF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 READ ME FIRST</a:t>
            </a:r>
            <a:r>
              <a:rPr b="1" i="0" lang="en-US" sz="1600" u="none" cap="none" strike="noStrike">
                <a:solidFill>
                  <a:srgbClr val="5818FF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00" u="none" cap="none" strike="noStrike">
              <a:solidFill>
                <a:srgbClr val="5818FF"/>
              </a:solidFill>
              <a:highlight>
                <a:srgbClr val="5818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035040" y="420624"/>
            <a:ext cx="2606100" cy="502800"/>
          </a:xfrm>
          <a:prstGeom prst="rect">
            <a:avLst/>
          </a:prstGeom>
          <a:solidFill>
            <a:srgbClr val="C5004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DELETE THIS SLIDE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</a:br>
            <a:r>
              <a:rPr b="0" i="0" lang="en-US" sz="900" u="none" cap="none" strike="noStrike">
                <a:solidFill>
                  <a:srgbClr val="FFF0F2"/>
                </a:solidFill>
                <a:latin typeface="Inter"/>
                <a:ea typeface="Inter"/>
                <a:cs typeface="Inter"/>
                <a:sym typeface="Inter"/>
              </a:rPr>
              <a:t>before you present</a:t>
            </a:r>
            <a:endParaRPr b="0" i="0" sz="1000" u="none" cap="none" strike="noStrike">
              <a:solidFill>
                <a:srgbClr val="FFF0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0442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2920" y="822960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C4ACFF"/>
                </a:solidFill>
                <a:latin typeface="Inter"/>
                <a:ea typeface="Inter"/>
                <a:cs typeface="Inter"/>
                <a:sym typeface="Inter"/>
              </a:rPr>
              <a:t>TRIBE DESIGN · [DATE]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02920" y="114300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Kanit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PASSION FRUIT 🍍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02920" y="1920240"/>
            <a:ext cx="5120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[Your passion, in three words]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3108960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02920" y="331012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[Your name] · [Client or anonymised descriptor]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897880" y="822960"/>
            <a:ext cx="2743200" cy="2743200"/>
          </a:xfrm>
          <a:prstGeom prst="roundRect">
            <a:avLst>
              <a:gd fmla="val 1333" name="adj"/>
            </a:avLst>
          </a:prstGeom>
          <a:solidFill>
            <a:srgbClr val="5818FF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897880" y="82296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(optional)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PASSION FRUIT · YOUR PASSION, AND WHAT IT TEACHES YOU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02925" y="475502"/>
            <a:ext cx="6766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HOW I GOT INTO IT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709160" y="1179576"/>
            <a:ext cx="3931920" cy="2834640"/>
          </a:xfrm>
          <a:prstGeom prst="roundRect">
            <a:avLst>
              <a:gd fmla="val 1290" name="adj"/>
            </a:avLst>
          </a:prstGeom>
          <a:solidFill>
            <a:srgbClr val="E6DEFA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4709160" y="1179576"/>
            <a:ext cx="39319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PHOTO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02920" y="1179576"/>
            <a:ext cx="39319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[When and how it started]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666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[Who or what dragged you in]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666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[Where you're at now: hours a week, level, gear]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Keep it short. The origin story is the warm-up, not the session.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PASSION FRUIT · YOUR PASSION, AND WHAT IT TEACHES YOU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02925" y="475501"/>
            <a:ext cx="6766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HOW IT ACTUALLY WORKS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502920" y="1179576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500"/>
              <a:buFont typeface="Kanit"/>
              <a:buNone/>
            </a:pPr>
            <a:r>
              <a:rPr b="0" i="0" lang="en-US" sz="15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[The one rule or mechanism outsiders never see]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02920" y="1865376"/>
            <a:ext cx="8138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[How it works, step one]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666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[How it works, step two]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666"/>
              </a:lnSpc>
              <a:spcBef>
                <a:spcPts val="800"/>
              </a:spcBef>
              <a:spcAft>
                <a:spcPts val="0"/>
              </a:spcAft>
              <a:buClr>
                <a:srgbClr val="1B0442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[The vocabulary, defined the first time you use it]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02920" y="3255264"/>
            <a:ext cx="8138160" cy="822960"/>
          </a:xfrm>
          <a:prstGeom prst="roundRect">
            <a:avLst>
              <a:gd fmla="val 4444" name="adj"/>
            </a:avLst>
          </a:prstGeom>
          <a:solidFill>
            <a:srgbClr val="E6DEFA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502920" y="3255264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diagram, photo or screenshot of the thing you're describing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Assume we know nothing, and explain one mechanism properly rather than five in passing. Watch the jargon: you know far more about this than you think.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PASSION FRUIT · YOUR PASSION, AND WHAT IT TEACHES YOU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502925" y="475502"/>
            <a:ext cx="6766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SHOW, DON'T TELL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502920" y="1179576"/>
            <a:ext cx="8138160" cy="2743200"/>
          </a:xfrm>
          <a:prstGeom prst="roundRect">
            <a:avLst>
              <a:gd fmla="val 1333" name="adj"/>
            </a:avLst>
          </a:prstGeom>
          <a:solidFill>
            <a:srgbClr val="E6DEFA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502920" y="1179576"/>
            <a:ext cx="8138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YOUR BEST PHOTOS · A 60-SECOND VIDEO · OR AN OBJECT YOU HOLD UP TO THE CAMERA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(holding something up to a webcam is unreasonably good television, so bring the object)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Mute the video unless the sound is the point, and cap it at 60 seconds. On a remote call, a minute of footage feels like four.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PASSION FRUIT · YOUR PASSION, AND WHAT IT TEACHES YOU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502925" y="475501"/>
            <a:ext cx="6766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WHAT IT TAUGHT ME THAT I USE AT WORK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p8"/>
          <p:cNvGraphicFramePr/>
          <p:nvPr/>
        </p:nvGraphicFramePr>
        <p:xfrm>
          <a:off x="502920" y="11795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{9BDF97B4-71AE-4F80-9F4B-99A7DEEAFE71}</a:tableStyleId>
              </a:tblPr>
              <a:tblGrid>
                <a:gridCol w="4069075"/>
                <a:gridCol w="4069075"/>
              </a:tblGrid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IN MY PASSION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IN MY DESIGN PRACTICE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[the habit]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[something you did last month because of it]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[the habit]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[something you did last month because of it]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[the habit]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[something you did last month because of it]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8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The one slide to get right. Anchor each bridge in a real recent behaviour: "climbing taught me to read a route before touching it, so I sketch three approaches before opening Figma." Not "it taught me patience."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8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044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/>
          <p:nvPr/>
        </p:nvSpPr>
        <p:spPr>
          <a:xfrm>
            <a:off x="502920" y="4224528"/>
            <a:ext cx="8138100" cy="530400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C4ACFF"/>
                </a:solidFill>
                <a:latin typeface="Inter"/>
                <a:ea typeface="Inter"/>
                <a:cs typeface="Inter"/>
                <a:sym typeface="Inter"/>
              </a:rPr>
              <a:t>PASSION FRUIT · YOUR PASSION, AND WHAT IT TEACHES YOU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TRY IT YOURSELF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502920" y="1179576"/>
            <a:ext cx="8138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to start this weekend: [first step]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769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it costs: [gear, subscription, club]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0769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resource: [book, channel, place, person]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502920" y="2615184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800"/>
              <a:buFont typeface="Kanit"/>
              <a:buNone/>
            </a:pPr>
            <a:r>
              <a:rPr b="0" i="0" lang="en-US" sz="18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Over to you: [your question to the tribe]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76250" y="4261100"/>
            <a:ext cx="8064900" cy="475500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900"/>
              <a:buFont typeface="Kanit"/>
              <a:buNone/>
            </a:pPr>
            <a:r>
              <a:rPr b="1" lang="en-US" sz="900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C50041"/>
                </a:solidFill>
                <a:latin typeface="Inter"/>
                <a:ea typeface="Inter"/>
                <a:cs typeface="Inter"/>
                <a:sym typeface="Inter"/>
              </a:rPr>
              <a:t>A good closing question: "Who else has a hobby with a strict rulebook, and does it make you more or less patient with design systems?"</a:t>
            </a:r>
            <a:endParaRPr b="0" i="0" sz="900" u="none" cap="none" strike="noStrike">
              <a:solidFill>
                <a:srgbClr val="C500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9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