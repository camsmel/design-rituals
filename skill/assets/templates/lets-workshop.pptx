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5143500" cy="9144000"/>
  <p:embeddedFontLst>
    <p:embeddedFont>
      <p:font typeface="Inter"/>
      <p:regular r:id="rId15"/>
      <p:bold r:id="rId16"/>
      <p:italic r:id="rId17"/>
      <p:boldItalic r:id="rId18"/>
    </p:embeddedFont>
    <p:embeddedFont>
      <p:font typeface="Kanit"/>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70FA030-2093-4A06-A46F-41E9CF246CDF}">
  <a:tblStyle styleId="{170FA030-2093-4A06-A46F-41E9CF246CD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Kanit-bold.fntdata"/><Relationship Id="rId11" Type="http://schemas.openxmlformats.org/officeDocument/2006/relationships/slide" Target="slides/slide6.xml"/><Relationship Id="rId22" Type="http://schemas.openxmlformats.org/officeDocument/2006/relationships/font" Target="fonts/Kanit-boldItalic.fntdata"/><Relationship Id="rId10" Type="http://schemas.openxmlformats.org/officeDocument/2006/relationships/slide" Target="slides/slide5.xml"/><Relationship Id="rId21" Type="http://schemas.openxmlformats.org/officeDocument/2006/relationships/font" Target="fonts/Kanit-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Inter-regular.fntdata"/><Relationship Id="rId14" Type="http://schemas.openxmlformats.org/officeDocument/2006/relationships/slide" Target="slides/slide9.xml"/><Relationship Id="rId17" Type="http://schemas.openxmlformats.org/officeDocument/2006/relationships/font" Target="fonts/Inter-italic.fntdata"/><Relationship Id="rId16" Type="http://schemas.openxmlformats.org/officeDocument/2006/relationships/font" Target="fonts/Inter-bold.fntdata"/><Relationship Id="rId5" Type="http://schemas.openxmlformats.org/officeDocument/2006/relationships/notesMaster" Target="notesMasters/notesMaster1.xml"/><Relationship Id="rId19" Type="http://schemas.openxmlformats.org/officeDocument/2006/relationships/font" Target="fonts/Kanit-regular.fntdata"/><Relationship Id="rId6" Type="http://schemas.openxmlformats.org/officeDocument/2006/relationships/slide" Target="slides/slide1.xml"/><Relationship Id="rId18" Type="http://schemas.openxmlformats.org/officeDocument/2006/relationships/font" Target="fonts/Inter-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slide is for the speaker, not the audience. Delete it before presenting.</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 name="Google Shape;2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Co-animated, so agree in writing beforehand: who frames, who runs the exercise, who watches the clock, who owns the output.</a:t>
            </a:r>
            <a:br>
              <a:rPr lang="en-US"/>
            </a:br>
            <a:r>
              <a:rPr lang="en-US"/>
              <a:t>⏱ 1 min</a:t>
            </a:r>
            <a:endParaRPr/>
          </a:p>
        </p:txBody>
      </p:sp>
      <p:sp>
        <p:nvSpPr>
          <p:cNvPr id="29" name="Google Shape;2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 name="Google Shape;4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Nothing else goes on this slide. If it takes more than one sentence, the workshop isn't designed yet.</a:t>
            </a:r>
            <a:br>
              <a:rPr lang="en-US"/>
            </a:br>
            <a:r>
              <a:rPr lang="en-US"/>
              <a:t>⏱ 5 min, with your co-animator</a:t>
            </a:r>
            <a:endParaRPr/>
          </a:p>
        </p:txBody>
      </p:sp>
      <p:sp>
        <p:nvSpPr>
          <p:cNvPr id="44" name="Google Shape;4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 name="Google Shape;5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3 min</a:t>
            </a:r>
            <a:endParaRPr/>
          </a:p>
        </p:txBody>
      </p:sp>
      <p:sp>
        <p:nvSpPr>
          <p:cNvPr id="58" name="Google Shape;5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 name="Google Shape;7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 min</a:t>
            </a:r>
            <a:endParaRPr/>
          </a:p>
        </p:txBody>
      </p:sp>
      <p:sp>
        <p:nvSpPr>
          <p:cNvPr id="73" name="Google Shape;7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 name="Google Shape;8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silence in the solo round is a facilitation choice, so hold it, kindly.</a:t>
            </a:r>
            <a:br>
              <a:rPr lang="en-US"/>
            </a:br>
            <a:br>
              <a:rPr lang="en-US"/>
            </a:br>
            <a:r>
              <a:rPr lang="en-US"/>
              <a:t>Materials: A3 canvas per table plus a digital version for remote joiners, sharpies and post-its per table, a visible timer, one briefed facilitator per table, one scribe for the room.</a:t>
            </a:r>
            <a:br>
              <a:rPr lang="en-US"/>
            </a:br>
            <a:r>
              <a:rPr lang="en-US"/>
              <a:t>⏱ 2 min</a:t>
            </a:r>
            <a:endParaRPr/>
          </a:p>
        </p:txBody>
      </p:sp>
      <p:sp>
        <p:nvSpPr>
          <p:cNvPr id="88" name="Google Shape;88;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 name="Google Shape;10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One of you circulates during table work, the other stays available at the front. Both circulating means nobody is watching the clock.</a:t>
            </a:r>
            <a:br>
              <a:rPr lang="en-US"/>
            </a:br>
            <a:r>
              <a:rPr lang="en-US"/>
              <a:t>⏱ 20 min</a:t>
            </a:r>
            <a:endParaRPr/>
          </a:p>
        </p:txBody>
      </p:sp>
      <p:sp>
        <p:nvSpPr>
          <p:cNvPr id="102" name="Google Shape;102;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 name="Google Shape;11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12 min</a:t>
            </a:r>
            <a:endParaRPr/>
          </a:p>
        </p:txBody>
      </p:sp>
      <p:sp>
        <p:nvSpPr>
          <p:cNvPr id="116" name="Google Shape;11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 name="Google Shape;13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8 min</a:t>
            </a:r>
            <a:endParaRPr/>
          </a:p>
        </p:txBody>
      </p:sp>
      <p:sp>
        <p:nvSpPr>
          <p:cNvPr id="131" name="Google Shape;131;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0FF"/>
        </a:solidFill>
      </p:bgPr>
    </p:bg>
    <p:spTree>
      <p:nvGrpSpPr>
        <p:cNvPr id="15" name="Shape 15"/>
        <p:cNvGrpSpPr/>
        <p:nvPr/>
      </p:nvGrpSpPr>
      <p:grpSpPr>
        <a:xfrm>
          <a:off x="0" y="0"/>
          <a:ext cx="0" cy="0"/>
          <a:chOff x="0" y="0"/>
          <a:chExt cx="0" cy="0"/>
        </a:xfrm>
      </p:grpSpPr>
      <p:sp>
        <p:nvSpPr>
          <p:cNvPr id="16" name="Google Shape;16;p3"/>
          <p:cNvSpPr/>
          <p:nvPr/>
        </p:nvSpPr>
        <p:spPr>
          <a:xfrm>
            <a:off x="502920" y="256032"/>
            <a:ext cx="59436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818FF"/>
              </a:buClr>
              <a:buSzPts val="850"/>
              <a:buFont typeface="Inter"/>
              <a:buNone/>
            </a:pPr>
            <a:r>
              <a:rPr b="1" i="0" lang="en-US" sz="850" u="none" cap="none" strike="noStrike">
                <a:solidFill>
                  <a:srgbClr val="5818FF"/>
                </a:solidFill>
                <a:latin typeface="Inter"/>
                <a:ea typeface="Inter"/>
                <a:cs typeface="Inter"/>
                <a:sym typeface="Inter"/>
              </a:rPr>
              <a:t>LET'S WORK(SHOP) · READ ME FIRST</a:t>
            </a:r>
            <a:endParaRPr b="0" i="0" sz="850" u="none" cap="none" strike="noStrike">
              <a:solidFill>
                <a:schemeClr val="dk1"/>
              </a:solidFill>
              <a:latin typeface="Calibri"/>
              <a:ea typeface="Calibri"/>
              <a:cs typeface="Calibri"/>
              <a:sym typeface="Calibri"/>
            </a:endParaRPr>
          </a:p>
        </p:txBody>
      </p:sp>
      <p:sp>
        <p:nvSpPr>
          <p:cNvPr id="17" name="Google Shape;17;p3"/>
          <p:cNvSpPr/>
          <p:nvPr/>
        </p:nvSpPr>
        <p:spPr>
          <a:xfrm>
            <a:off x="502920" y="475488"/>
            <a:ext cx="59436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0442"/>
              </a:buClr>
              <a:buSzPts val="2000"/>
              <a:buFont typeface="Kanit"/>
              <a:buNone/>
            </a:pPr>
            <a:r>
              <a:rPr b="1" i="0" lang="en-US" sz="2000" u="none" cap="none" strike="noStrike">
                <a:solidFill>
                  <a:srgbClr val="1B0442"/>
                </a:solidFill>
                <a:latin typeface="Kanit"/>
                <a:ea typeface="Kanit"/>
                <a:cs typeface="Kanit"/>
                <a:sym typeface="Kanit"/>
              </a:rPr>
              <a:t>HOW TO USE THIS TEMPLATE</a:t>
            </a:r>
            <a:endParaRPr b="0" i="0" sz="2000" u="none" cap="none" strike="noStrike">
              <a:solidFill>
                <a:schemeClr val="dk1"/>
              </a:solidFill>
              <a:latin typeface="Calibri"/>
              <a:ea typeface="Calibri"/>
              <a:cs typeface="Calibri"/>
              <a:sym typeface="Calibri"/>
            </a:endParaRPr>
          </a:p>
        </p:txBody>
      </p:sp>
      <p:sp>
        <p:nvSpPr>
          <p:cNvPr id="18" name="Google Shape;18;p3"/>
          <p:cNvSpPr/>
          <p:nvPr/>
        </p:nvSpPr>
        <p:spPr>
          <a:xfrm>
            <a:off x="502920" y="932688"/>
            <a:ext cx="1097280" cy="41148"/>
          </a:xfrm>
          <a:prstGeom prst="rect">
            <a:avLst/>
          </a:prstGeom>
          <a:solidFill>
            <a:srgbClr val="5818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p:nvPr/>
        </p:nvSpPr>
        <p:spPr>
          <a:xfrm>
            <a:off x="502920" y="1133856"/>
            <a:ext cx="8138160" cy="457200"/>
          </a:xfrm>
          <a:prstGeom prst="rect">
            <a:avLst/>
          </a:prstGeom>
          <a:noFill/>
          <a:ln>
            <a:noFill/>
          </a:ln>
        </p:spPr>
        <p:txBody>
          <a:bodyPr anchorCtr="0" anchor="ctr" bIns="0" lIns="0" spcFirstLastPara="1" rIns="0" wrap="square" tIns="0">
            <a:noAutofit/>
          </a:bodyPr>
          <a:lstStyle/>
          <a:p>
            <a:pPr indent="0" lvl="0" marL="0" marR="0" rtl="0" algn="l">
              <a:lnSpc>
                <a:spcPct val="142857"/>
              </a:lnSpc>
              <a:spcBef>
                <a:spcPts val="0"/>
              </a:spcBef>
              <a:spcAft>
                <a:spcPts val="0"/>
              </a:spcAft>
              <a:buClr>
                <a:srgbClr val="1B0442"/>
              </a:buClr>
              <a:buSzPts val="1400"/>
              <a:buFont typeface="Kanit"/>
              <a:buNone/>
            </a:pPr>
            <a:r>
              <a:rPr b="0" i="0" lang="en-US" sz="1400" u="none" cap="none" strike="noStrike">
                <a:solidFill>
                  <a:srgbClr val="1B0442"/>
                </a:solidFill>
                <a:latin typeface="Kanit"/>
                <a:ea typeface="Kanit"/>
                <a:cs typeface="Kanit"/>
                <a:sym typeface="Kanit"/>
              </a:rPr>
              <a:t>A workshop run with one of the thematic Tribes (AI, BtoE, Responsible Product), on something they or Thiga actually need moved forward.</a:t>
            </a:r>
            <a:endParaRPr b="0" i="0" sz="1400" u="none" cap="none" strike="noStrike">
              <a:solidFill>
                <a:schemeClr val="dk1"/>
              </a:solidFill>
              <a:latin typeface="Calibri"/>
              <a:ea typeface="Calibri"/>
              <a:cs typeface="Calibri"/>
              <a:sym typeface="Calibri"/>
            </a:endParaRPr>
          </a:p>
        </p:txBody>
      </p:sp>
      <p:graphicFrame>
        <p:nvGraphicFramePr>
          <p:cNvPr id="20" name="Google Shape;20;p3"/>
          <p:cNvGraphicFramePr/>
          <p:nvPr/>
        </p:nvGraphicFramePr>
        <p:xfrm>
          <a:off x="502920" y="1776097"/>
          <a:ext cx="3000000" cy="3000000"/>
        </p:xfrm>
        <a:graphic>
          <a:graphicData uri="http://schemas.openxmlformats.org/drawingml/2006/table">
            <a:tbl>
              <a:tblPr>
                <a:noFill/>
                <a:tableStyleId>{170FA030-2093-4A06-A46F-41E9CF246CDF}</a:tableStyleId>
              </a:tblPr>
              <a:tblGrid>
                <a:gridCol w="4069075"/>
                <a:gridCol w="4069075"/>
              </a:tblGrid>
              <a:tr h="293100">
                <a:tc>
                  <a:txBody>
                    <a:bodyPr/>
                    <a:lstStyle/>
                    <a:p>
                      <a:pPr indent="0" lvl="0" marL="0" marR="0" rtl="0" algn="l">
                        <a:spcBef>
                          <a:spcPts val="0"/>
                        </a:spcBef>
                        <a:spcAft>
                          <a:spcPts val="0"/>
                        </a:spcAft>
                        <a:buClr>
                          <a:srgbClr val="FFFFFF"/>
                        </a:buClr>
                        <a:buSzPts val="1000"/>
                        <a:buFont typeface="Kanit"/>
                        <a:buNone/>
                      </a:pPr>
                      <a:r>
                        <a:rPr b="1" lang="en-US" sz="1000" u="none" cap="none" strike="noStrike">
                          <a:solidFill>
                            <a:srgbClr val="FFFFFF"/>
                          </a:solidFill>
                          <a:latin typeface="Kanit"/>
                          <a:ea typeface="Kanit"/>
                          <a:cs typeface="Kanit"/>
                          <a:sym typeface="Kanit"/>
                        </a:rPr>
                        <a:t>THE RULES</a:t>
                      </a:r>
                      <a:endParaRPr sz="1000" u="none" cap="none" strike="noStrike">
                        <a:latin typeface="Kanit"/>
                        <a:ea typeface="Kanit"/>
                        <a:cs typeface="Kanit"/>
                        <a:sym typeface="Kanit"/>
                      </a:endParaRPr>
                    </a:p>
                  </a:txBody>
                  <a:tcPr marT="82300" marB="82300" marR="82300" marL="82300">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1B0442"/>
                    </a:solidFill>
                  </a:tcPr>
                </a:tc>
                <a:tc>
                  <a:txBody>
                    <a:bodyPr/>
                    <a:lstStyle/>
                    <a:p>
                      <a:pPr indent="0" lvl="0" marL="0" marR="0" rtl="0" algn="l">
                        <a:spcBef>
                          <a:spcPts val="0"/>
                        </a:spcBef>
                        <a:spcAft>
                          <a:spcPts val="0"/>
                        </a:spcAft>
                        <a:buClr>
                          <a:srgbClr val="FFFFFF"/>
                        </a:buClr>
                        <a:buSzPts val="1000"/>
                        <a:buFont typeface="Kanit"/>
                        <a:buNone/>
                      </a:pPr>
                      <a:r>
                        <a:rPr b="1" lang="en-US" sz="1000" u="none" cap="none" strike="noStrike">
                          <a:solidFill>
                            <a:srgbClr val="FFFFFF"/>
                          </a:solidFill>
                          <a:latin typeface="Kanit"/>
                          <a:ea typeface="Kanit"/>
                          <a:cs typeface="Kanit"/>
                          <a:sym typeface="Kanit"/>
                        </a:rPr>
                        <a:t>THE TRAP TO AVOID</a:t>
                      </a:r>
                      <a:endParaRPr sz="1000" u="none" cap="none" strike="noStrike">
                        <a:latin typeface="Kanit"/>
                        <a:ea typeface="Kanit"/>
                        <a:cs typeface="Kanit"/>
                        <a:sym typeface="Kanit"/>
                      </a:endParaRPr>
                    </a:p>
                  </a:txBody>
                  <a:tcPr marT="82300" marB="82300" marR="82300" marL="82300">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1B0442"/>
                    </a:solidFill>
                  </a:tcPr>
                </a:tc>
              </a:tr>
              <a:tr h="1105150">
                <a:tc>
                  <a:txBody>
                    <a:bodyPr/>
                    <a:lstStyle/>
                    <a:p>
                      <a:pPr indent="0" lvl="0" marL="0" marR="0" rtl="0" algn="l">
                        <a:lnSpc>
                          <a:spcPct val="150000"/>
                        </a:lnSpc>
                        <a:spcBef>
                          <a:spcPts val="0"/>
                        </a:spcBef>
                        <a:spcAft>
                          <a:spcPts val="0"/>
                        </a:spcAft>
                        <a:buClr>
                          <a:srgbClr val="1B0442"/>
                        </a:buClr>
                        <a:buSzPts val="1000"/>
                        <a:buFont typeface="Inter"/>
                        <a:buNone/>
                      </a:pPr>
                      <a:r>
                        <a:rPr lang="en-US" sz="1000" u="none" cap="none" strike="noStrike">
                          <a:solidFill>
                            <a:srgbClr val="1B0442"/>
                          </a:solidFill>
                          <a:latin typeface="Inter"/>
                          <a:ea typeface="Inter"/>
                          <a:cs typeface="Inter"/>
                          <a:sym typeface="Inter"/>
                        </a:rPr>
                        <a:t>· </a:t>
                      </a:r>
                      <a:r>
                        <a:rPr lang="en-US" sz="1000">
                          <a:solidFill>
                            <a:srgbClr val="1B0442"/>
                          </a:solidFill>
                          <a:latin typeface="Inter"/>
                          <a:ea typeface="Inter"/>
                          <a:cs typeface="Inter"/>
                          <a:sym typeface="Inter"/>
                        </a:rPr>
                        <a:t>Slides should be </a:t>
                      </a:r>
                      <a:r>
                        <a:rPr lang="en-US" sz="1000" u="none" cap="none" strike="noStrike">
                          <a:solidFill>
                            <a:srgbClr val="1B0442"/>
                          </a:solidFill>
                          <a:latin typeface="Inter"/>
                          <a:ea typeface="Inter"/>
                          <a:cs typeface="Inter"/>
                          <a:sym typeface="Inter"/>
                        </a:rPr>
                        <a:t>closer to instructions on a wall than a talk</a:t>
                      </a:r>
                      <a:endParaRPr sz="1000" u="none" cap="none" strike="noStrike">
                        <a:latin typeface="Inter"/>
                        <a:ea typeface="Inter"/>
                        <a:cs typeface="Inter"/>
                        <a:sym typeface="Inter"/>
                      </a:endParaRPr>
                    </a:p>
                    <a:p>
                      <a:pPr indent="0" lvl="0" marL="0" marR="0" rtl="0" algn="l">
                        <a:lnSpc>
                          <a:spcPct val="150000"/>
                        </a:lnSpc>
                        <a:spcBef>
                          <a:spcPts val="0"/>
                        </a:spcBef>
                        <a:spcAft>
                          <a:spcPts val="0"/>
                        </a:spcAft>
                        <a:buClr>
                          <a:srgbClr val="1B0442"/>
                        </a:buClr>
                        <a:buSzPts val="1000"/>
                        <a:buFont typeface="Inter"/>
                        <a:buNone/>
                      </a:pPr>
                      <a:r>
                        <a:rPr lang="en-US" sz="1000" u="none" cap="none" strike="noStrike">
                          <a:solidFill>
                            <a:srgbClr val="1B0442"/>
                          </a:solidFill>
                          <a:latin typeface="Inter"/>
                          <a:ea typeface="Inter"/>
                          <a:cs typeface="Inter"/>
                          <a:sym typeface="Inter"/>
                        </a:rPr>
                        <a:t>· One exercise. One output. 60 minutes</a:t>
                      </a:r>
                      <a:endParaRPr sz="1000" u="none" cap="none" strike="noStrike">
                        <a:latin typeface="Inter"/>
                        <a:ea typeface="Inter"/>
                        <a:cs typeface="Inter"/>
                        <a:sym typeface="Inter"/>
                      </a:endParaRPr>
                    </a:p>
                    <a:p>
                      <a:pPr indent="0" lvl="0" marL="0" marR="0" rtl="0" algn="l">
                        <a:lnSpc>
                          <a:spcPct val="150000"/>
                        </a:lnSpc>
                        <a:spcBef>
                          <a:spcPts val="0"/>
                        </a:spcBef>
                        <a:spcAft>
                          <a:spcPts val="0"/>
                        </a:spcAft>
                        <a:buClr>
                          <a:srgbClr val="1B0442"/>
                        </a:buClr>
                        <a:buSzPts val="1000"/>
                        <a:buFont typeface="Inter"/>
                        <a:buNone/>
                      </a:pPr>
                      <a:r>
                        <a:rPr lang="en-US" sz="1000" u="none" cap="none" strike="noStrike">
                          <a:solidFill>
                            <a:srgbClr val="1B0442"/>
                          </a:solidFill>
                          <a:latin typeface="Inter"/>
                          <a:ea typeface="Inter"/>
                          <a:cs typeface="Inter"/>
                          <a:sym typeface="Inter"/>
                        </a:rPr>
                        <a:t>· Bring the canvas printed and digital</a:t>
                      </a:r>
                      <a:endParaRPr sz="1000" u="none" cap="none" strike="noStrike">
                        <a:latin typeface="Inter"/>
                        <a:ea typeface="Inter"/>
                        <a:cs typeface="Inter"/>
                        <a:sym typeface="Inter"/>
                      </a:endParaRPr>
                    </a:p>
                  </a:txBody>
                  <a:tcPr marT="82300" marB="82300" marR="82300" marL="82300">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FFFFFF"/>
                    </a:solidFill>
                  </a:tcPr>
                </a:tc>
                <a:tc>
                  <a:txBody>
                    <a:bodyPr/>
                    <a:lstStyle/>
                    <a:p>
                      <a:pPr indent="0" lvl="0" marL="0" marR="0" rtl="0" algn="l">
                        <a:lnSpc>
                          <a:spcPct val="150000"/>
                        </a:lnSpc>
                        <a:spcBef>
                          <a:spcPts val="0"/>
                        </a:spcBef>
                        <a:spcAft>
                          <a:spcPts val="0"/>
                        </a:spcAft>
                        <a:buClr>
                          <a:srgbClr val="1B0442"/>
                        </a:buClr>
                        <a:buSzPts val="1000"/>
                        <a:buFont typeface="Inter"/>
                        <a:buNone/>
                      </a:pPr>
                      <a:r>
                        <a:rPr lang="en-US" sz="1000" u="none" cap="none" strike="noStrike">
                          <a:solidFill>
                            <a:srgbClr val="1B0442"/>
                          </a:solidFill>
                          <a:latin typeface="Inter"/>
                          <a:ea typeface="Inter"/>
                          <a:cs typeface="Inter"/>
                          <a:sym typeface="Inter"/>
                        </a:rPr>
                        <a:t>Cramming in three exercises. And the quieter trap: no owner for the output.</a:t>
                      </a:r>
                      <a:endParaRPr sz="1000" u="none" cap="none" strike="noStrike">
                        <a:latin typeface="Inter"/>
                        <a:ea typeface="Inter"/>
                        <a:cs typeface="Inter"/>
                        <a:sym typeface="Inter"/>
                      </a:endParaRPr>
                    </a:p>
                    <a:p>
                      <a:pPr indent="0" lvl="0" marL="0" marR="0" rtl="0" algn="l">
                        <a:lnSpc>
                          <a:spcPct val="150000"/>
                        </a:lnSpc>
                        <a:spcBef>
                          <a:spcPts val="0"/>
                        </a:spcBef>
                        <a:spcAft>
                          <a:spcPts val="0"/>
                        </a:spcAft>
                        <a:buClr>
                          <a:srgbClr val="1B0442"/>
                        </a:buClr>
                        <a:buSzPts val="1000"/>
                        <a:buFont typeface="Inter"/>
                        <a:buNone/>
                      </a:pPr>
                      <a:r>
                        <a:rPr lang="en-US" sz="1000" u="none" cap="none" strike="noStrike">
                          <a:solidFill>
                            <a:srgbClr val="1B0442"/>
                          </a:solidFill>
                          <a:latin typeface="Inter"/>
                          <a:ea typeface="Inter"/>
                          <a:cs typeface="Inter"/>
                          <a:sym typeface="Inter"/>
                        </a:rPr>
                        <a:t>An output nobody owns is a pleasant hour that evaporates </a:t>
                      </a:r>
                      <a:r>
                        <a:rPr lang="en-US" sz="1000">
                          <a:solidFill>
                            <a:srgbClr val="1B0442"/>
                          </a:solidFill>
                          <a:latin typeface="Inter"/>
                          <a:ea typeface="Inter"/>
                          <a:cs typeface="Inter"/>
                          <a:sym typeface="Inter"/>
                        </a:rPr>
                        <a:t>quickly</a:t>
                      </a:r>
                      <a:r>
                        <a:rPr lang="en-US" sz="1000" u="none" cap="none" strike="noStrike">
                          <a:solidFill>
                            <a:srgbClr val="1B0442"/>
                          </a:solidFill>
                          <a:latin typeface="Inter"/>
                          <a:ea typeface="Inter"/>
                          <a:cs typeface="Inter"/>
                          <a:sym typeface="Inter"/>
                        </a:rPr>
                        <a:t>, and that's exactly what makes people stop signing up.</a:t>
                      </a:r>
                      <a:endParaRPr sz="1000" u="none" cap="none" strike="noStrike">
                        <a:latin typeface="Inter"/>
                        <a:ea typeface="Inter"/>
                        <a:cs typeface="Inter"/>
                        <a:sym typeface="Inter"/>
                      </a:endParaRPr>
                    </a:p>
                  </a:txBody>
                  <a:tcPr marT="82300" marB="82300" marR="82300" marL="82300">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FFFFFF"/>
                    </a:solidFill>
                  </a:tcPr>
                </a:tc>
              </a:tr>
            </a:tbl>
          </a:graphicData>
        </a:graphic>
      </p:graphicFrame>
      <p:sp>
        <p:nvSpPr>
          <p:cNvPr id="21" name="Google Shape;21;p3"/>
          <p:cNvSpPr/>
          <p:nvPr/>
        </p:nvSpPr>
        <p:spPr>
          <a:xfrm>
            <a:off x="502920" y="3383280"/>
            <a:ext cx="8138160" cy="841248"/>
          </a:xfrm>
          <a:prstGeom prst="roundRect">
            <a:avLst>
              <a:gd fmla="val 4348" name="adj"/>
            </a:avLst>
          </a:prstGeom>
          <a:solidFill>
            <a:srgbClr val="E6DEFA"/>
          </a:solidFill>
          <a:ln cap="flat" cmpd="sng" w="12700">
            <a:solidFill>
              <a:srgbClr val="E6DE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a:off x="630936" y="3383280"/>
            <a:ext cx="7882128" cy="8412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818FF"/>
              </a:buClr>
              <a:buSzPts val="1100"/>
              <a:buFont typeface="Kanit"/>
              <a:buNone/>
            </a:pPr>
            <a:r>
              <a:rPr b="1" i="0" lang="en-US" sz="1100" u="none" cap="none" strike="noStrike">
                <a:solidFill>
                  <a:srgbClr val="5818FF"/>
                </a:solidFill>
                <a:latin typeface="Kanit"/>
                <a:ea typeface="Kanit"/>
                <a:cs typeface="Kanit"/>
                <a:sym typeface="Kanit"/>
              </a:rPr>
              <a:t>HOW TO FILL THIS IN.   </a:t>
            </a:r>
            <a:r>
              <a:rPr b="0" i="0" lang="en-US" sz="950" u="none" cap="none" strike="noStrike">
                <a:solidFill>
                  <a:srgbClr val="1B0442"/>
                </a:solidFill>
                <a:latin typeface="Inter"/>
                <a:ea typeface="Inter"/>
                <a:cs typeface="Inter"/>
                <a:sym typeface="Inter"/>
              </a:rPr>
              <a:t>Design it backwards with your co-animator: the output first, then who owns it, then the exercise, then the framing, and only then these slides.</a:t>
            </a:r>
            <a:endParaRPr b="0" i="0" sz="1100" u="none" cap="none" strike="noStrike">
              <a:solidFill>
                <a:schemeClr val="dk1"/>
              </a:solidFill>
              <a:latin typeface="Calibri"/>
              <a:ea typeface="Calibri"/>
              <a:cs typeface="Calibri"/>
              <a:sym typeface="Calibri"/>
            </a:endParaRPr>
          </a:p>
          <a:p>
            <a:pPr indent="0" lvl="0" marL="0" marR="0" rtl="0" algn="l">
              <a:lnSpc>
                <a:spcPct val="147368"/>
              </a:lnSpc>
              <a:spcBef>
                <a:spcPts val="0"/>
              </a:spcBef>
              <a:spcAft>
                <a:spcPts val="0"/>
              </a:spcAft>
              <a:buClr>
                <a:srgbClr val="1B0442"/>
              </a:buClr>
              <a:buSzPts val="950"/>
              <a:buFont typeface="Inter"/>
              <a:buNone/>
            </a:pPr>
            <a:r>
              <a:rPr b="0" i="0" lang="en-US" sz="950" u="none" cap="none" strike="noStrike">
                <a:solidFill>
                  <a:srgbClr val="1B0442"/>
                </a:solidFill>
                <a:latin typeface="Inter"/>
                <a:ea typeface="Inter"/>
                <a:cs typeface="Inter"/>
                <a:sym typeface="Inter"/>
              </a:rPr>
              <a:t>If you're tempted to add a second exercise, that's the moment to stop. With forty people in the room, one exercise run properly beats three run at a sprint.</a:t>
            </a:r>
            <a:endParaRPr b="0" i="0" sz="1100" u="none" cap="none" strike="noStrike">
              <a:solidFill>
                <a:schemeClr val="dk1"/>
              </a:solidFill>
              <a:latin typeface="Calibri"/>
              <a:ea typeface="Calibri"/>
              <a:cs typeface="Calibri"/>
              <a:sym typeface="Calibri"/>
            </a:endParaRPr>
          </a:p>
        </p:txBody>
      </p:sp>
      <p:sp>
        <p:nvSpPr>
          <p:cNvPr id="23" name="Google Shape;23;p3"/>
          <p:cNvSpPr/>
          <p:nvPr/>
        </p:nvSpPr>
        <p:spPr>
          <a:xfrm>
            <a:off x="502920" y="4846320"/>
            <a:ext cx="18288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0442"/>
              </a:buClr>
              <a:buSzPts val="750"/>
              <a:buFont typeface="Inter"/>
              <a:buNone/>
            </a:pPr>
            <a:r>
              <a:rPr b="0" i="0" lang="en-US" sz="750" u="none" cap="none" strike="noStrike">
                <a:solidFill>
                  <a:srgbClr val="1B0442"/>
                </a:solidFill>
                <a:latin typeface="Inter"/>
                <a:ea typeface="Inter"/>
                <a:cs typeface="Inter"/>
                <a:sym typeface="Inter"/>
              </a:rPr>
              <a:t>WWW.THIGA.CO</a:t>
            </a:r>
            <a:endParaRPr b="0" i="0" sz="750" u="none" cap="none" strike="noStrike">
              <a:solidFill>
                <a:schemeClr val="dk1"/>
              </a:solidFill>
              <a:latin typeface="Calibri"/>
              <a:ea typeface="Calibri"/>
              <a:cs typeface="Calibri"/>
              <a:sym typeface="Calibri"/>
            </a:endParaRPr>
          </a:p>
        </p:txBody>
      </p:sp>
      <p:pic>
        <p:nvPicPr>
          <p:cNvPr descr="preencoded.png" id="24" name="Google Shape;24;p3"/>
          <p:cNvPicPr preferRelativeResize="0"/>
          <p:nvPr/>
        </p:nvPicPr>
        <p:blipFill rotWithShape="1">
          <a:blip r:embed="rId3">
            <a:alphaModFix/>
          </a:blip>
          <a:srcRect b="0" l="0" r="0" t="0"/>
          <a:stretch/>
        </p:blipFill>
        <p:spPr>
          <a:xfrm>
            <a:off x="7635240" y="4846320"/>
            <a:ext cx="1005840" cy="122142"/>
          </a:xfrm>
          <a:prstGeom prst="rect">
            <a:avLst/>
          </a:prstGeom>
          <a:noFill/>
          <a:ln>
            <a:noFill/>
          </a:ln>
        </p:spPr>
      </p:pic>
      <p:sp>
        <p:nvSpPr>
          <p:cNvPr id="25" name="Google Shape;25;p3"/>
          <p:cNvSpPr/>
          <p:nvPr/>
        </p:nvSpPr>
        <p:spPr>
          <a:xfrm>
            <a:off x="6035040" y="420624"/>
            <a:ext cx="2606100" cy="502800"/>
          </a:xfrm>
          <a:prstGeom prst="rect">
            <a:avLst/>
          </a:prstGeom>
          <a:solidFill>
            <a:srgbClr val="C50041"/>
          </a:solid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FFFFFF"/>
              </a:buClr>
              <a:buSzPts val="1000"/>
              <a:buFont typeface="Kanit"/>
              <a:buNone/>
            </a:pPr>
            <a:r>
              <a:rPr b="1" i="0" lang="en-US" sz="1000" u="none" cap="none" strike="noStrike">
                <a:solidFill>
                  <a:srgbClr val="FFFFFF"/>
                </a:solidFill>
                <a:latin typeface="Kanit"/>
                <a:ea typeface="Kanit"/>
                <a:cs typeface="Kanit"/>
                <a:sym typeface="Kanit"/>
              </a:rPr>
              <a:t>DELETE THIS SLIDE</a:t>
            </a:r>
            <a:br>
              <a:rPr b="1" i="0" lang="en-US" sz="1000" u="none" cap="none" strike="noStrike">
                <a:solidFill>
                  <a:srgbClr val="FFFFFF"/>
                </a:solidFill>
                <a:latin typeface="Kanit"/>
                <a:ea typeface="Kanit"/>
                <a:cs typeface="Kanit"/>
                <a:sym typeface="Kanit"/>
              </a:rPr>
            </a:br>
            <a:r>
              <a:rPr b="0" i="0" lang="en-US" sz="900" u="none" cap="none" strike="noStrike">
                <a:solidFill>
                  <a:srgbClr val="FFF0F2"/>
                </a:solidFill>
                <a:latin typeface="Inter"/>
                <a:ea typeface="Inter"/>
                <a:cs typeface="Inter"/>
                <a:sym typeface="Inter"/>
              </a:rPr>
              <a:t>before you present</a:t>
            </a:r>
            <a:endParaRPr b="0" i="0" sz="1000" u="none" cap="none" strike="noStrike">
              <a:solidFill>
                <a:srgbClr val="FFF0F2"/>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0442"/>
        </a:solidFill>
      </p:bgPr>
    </p:bg>
    <p:spTree>
      <p:nvGrpSpPr>
        <p:cNvPr id="30" name="Shape 30"/>
        <p:cNvGrpSpPr/>
        <p:nvPr/>
      </p:nvGrpSpPr>
      <p:grpSpPr>
        <a:xfrm>
          <a:off x="0" y="0"/>
          <a:ext cx="0" cy="0"/>
          <a:chOff x="0" y="0"/>
          <a:chExt cx="0" cy="0"/>
        </a:xfrm>
      </p:grpSpPr>
      <p:sp>
        <p:nvSpPr>
          <p:cNvPr id="31" name="Google Shape;31;p4"/>
          <p:cNvSpPr/>
          <p:nvPr/>
        </p:nvSpPr>
        <p:spPr>
          <a:xfrm>
            <a:off x="0" y="0"/>
            <a:ext cx="201168" cy="5143500"/>
          </a:xfrm>
          <a:prstGeom prst="rect">
            <a:avLst/>
          </a:prstGeom>
          <a:solidFill>
            <a:srgbClr val="5818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502920" y="822960"/>
            <a:ext cx="50292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ACFF"/>
              </a:buClr>
              <a:buSzPts val="900"/>
              <a:buFont typeface="Inter"/>
              <a:buNone/>
            </a:pPr>
            <a:r>
              <a:rPr b="1" i="0" lang="en-US" sz="900" u="none" cap="none" strike="noStrike">
                <a:solidFill>
                  <a:srgbClr val="C4ACFF"/>
                </a:solidFill>
                <a:latin typeface="Inter"/>
                <a:ea typeface="Inter"/>
                <a:cs typeface="Inter"/>
                <a:sym typeface="Inter"/>
              </a:rPr>
              <a:t>TRIBE DESIGN · [DATE]</a:t>
            </a:r>
            <a:endParaRPr b="0" i="0" sz="900" u="none" cap="none" strike="noStrike">
              <a:solidFill>
                <a:schemeClr val="dk1"/>
              </a:solidFill>
              <a:latin typeface="Calibri"/>
              <a:ea typeface="Calibri"/>
              <a:cs typeface="Calibri"/>
              <a:sym typeface="Calibri"/>
            </a:endParaRPr>
          </a:p>
        </p:txBody>
      </p:sp>
      <p:sp>
        <p:nvSpPr>
          <p:cNvPr id="33" name="Google Shape;33;p4"/>
          <p:cNvSpPr/>
          <p:nvPr/>
        </p:nvSpPr>
        <p:spPr>
          <a:xfrm>
            <a:off x="502920" y="1143000"/>
            <a:ext cx="51206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300"/>
              <a:buFont typeface="Kanit"/>
              <a:buNone/>
            </a:pPr>
            <a:r>
              <a:rPr b="1" i="0" lang="en-US" sz="3300" u="none" cap="none" strike="noStrike">
                <a:solidFill>
                  <a:srgbClr val="FFFFFF"/>
                </a:solidFill>
                <a:latin typeface="Kanit"/>
                <a:ea typeface="Kanit"/>
                <a:cs typeface="Kanit"/>
                <a:sym typeface="Kanit"/>
              </a:rPr>
              <a:t>LET'S WORK(SHOP) 🧰</a:t>
            </a:r>
            <a:endParaRPr b="0" i="0" sz="3300" u="none" cap="none" strike="noStrike">
              <a:solidFill>
                <a:schemeClr val="dk1"/>
              </a:solidFill>
              <a:latin typeface="Calibri"/>
              <a:ea typeface="Calibri"/>
              <a:cs typeface="Calibri"/>
              <a:sym typeface="Calibri"/>
            </a:endParaRPr>
          </a:p>
        </p:txBody>
      </p:sp>
      <p:sp>
        <p:nvSpPr>
          <p:cNvPr id="34" name="Google Shape;34;p4"/>
          <p:cNvSpPr/>
          <p:nvPr/>
        </p:nvSpPr>
        <p:spPr>
          <a:xfrm>
            <a:off x="502920" y="1920240"/>
            <a:ext cx="5120640" cy="1051560"/>
          </a:xfrm>
          <a:prstGeom prst="rect">
            <a:avLst/>
          </a:prstGeom>
          <a:noFill/>
          <a:ln>
            <a:noFill/>
          </a:ln>
        </p:spPr>
        <p:txBody>
          <a:bodyPr anchorCtr="0" anchor="ctr" bIns="0" lIns="0" spcFirstLastPara="1" rIns="0" wrap="square" tIns="0">
            <a:noAutofit/>
          </a:bodyPr>
          <a:lstStyle/>
          <a:p>
            <a:pPr indent="0" lvl="0" marL="0" marR="0" rtl="0" algn="l">
              <a:lnSpc>
                <a:spcPct val="136842"/>
              </a:lnSpc>
              <a:spcBef>
                <a:spcPts val="0"/>
              </a:spcBef>
              <a:spcAft>
                <a:spcPts val="0"/>
              </a:spcAft>
              <a:buClr>
                <a:srgbClr val="C4ACFF"/>
              </a:buClr>
              <a:buSzPts val="1900"/>
              <a:buFont typeface="Kanit"/>
              <a:buNone/>
            </a:pPr>
            <a:r>
              <a:rPr b="0" i="0" lang="en-US" sz="1900" u="none" cap="none" strike="noStrike">
                <a:solidFill>
                  <a:srgbClr val="C4ACFF"/>
                </a:solidFill>
                <a:latin typeface="Kanit"/>
                <a:ea typeface="Kanit"/>
                <a:cs typeface="Kanit"/>
                <a:sym typeface="Kanit"/>
              </a:rPr>
              <a:t>[Workshop title], with [thematic Tribe]</a:t>
            </a:r>
            <a:endParaRPr b="0" i="0" sz="1900" u="none" cap="none" strike="noStrike">
              <a:solidFill>
                <a:schemeClr val="dk1"/>
              </a:solidFill>
              <a:latin typeface="Calibri"/>
              <a:ea typeface="Calibri"/>
              <a:cs typeface="Calibri"/>
              <a:sym typeface="Calibri"/>
            </a:endParaRPr>
          </a:p>
        </p:txBody>
      </p:sp>
      <p:sp>
        <p:nvSpPr>
          <p:cNvPr id="35" name="Google Shape;35;p4"/>
          <p:cNvSpPr/>
          <p:nvPr/>
        </p:nvSpPr>
        <p:spPr>
          <a:xfrm>
            <a:off x="502920" y="3108960"/>
            <a:ext cx="1097280" cy="41148"/>
          </a:xfrm>
          <a:prstGeom prst="rect">
            <a:avLst/>
          </a:prstGeom>
          <a:solidFill>
            <a:srgbClr val="5818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4"/>
          <p:cNvSpPr/>
          <p:nvPr/>
        </p:nvSpPr>
        <p:spPr>
          <a:xfrm>
            <a:off x="502920" y="3310128"/>
            <a:ext cx="5120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DEFA"/>
              </a:buClr>
              <a:buSzPts val="1200"/>
              <a:buFont typeface="Inter"/>
              <a:buNone/>
            </a:pPr>
            <a:r>
              <a:rPr b="0" i="0" lang="en-US" sz="1200" u="none" cap="none" strike="noStrike">
                <a:solidFill>
                  <a:srgbClr val="E6DEFA"/>
                </a:solidFill>
                <a:latin typeface="Inter"/>
                <a:ea typeface="Inter"/>
                <a:cs typeface="Inter"/>
                <a:sym typeface="Inter"/>
              </a:rPr>
              <a:t>[Your name] · [Client or anonymised descriptor]</a:t>
            </a:r>
            <a:endParaRPr b="0" i="0" sz="1200" u="none" cap="none" strike="noStrike">
              <a:solidFill>
                <a:schemeClr val="dk1"/>
              </a:solidFill>
              <a:latin typeface="Calibri"/>
              <a:ea typeface="Calibri"/>
              <a:cs typeface="Calibri"/>
              <a:sym typeface="Calibri"/>
            </a:endParaRPr>
          </a:p>
        </p:txBody>
      </p:sp>
      <p:sp>
        <p:nvSpPr>
          <p:cNvPr id="37" name="Google Shape;37;p4"/>
          <p:cNvSpPr/>
          <p:nvPr/>
        </p:nvSpPr>
        <p:spPr>
          <a:xfrm>
            <a:off x="5897880" y="822960"/>
            <a:ext cx="2743200" cy="2743200"/>
          </a:xfrm>
          <a:prstGeom prst="roundRect">
            <a:avLst>
              <a:gd fmla="val 1333" name="adj"/>
            </a:avLst>
          </a:prstGeom>
          <a:solidFill>
            <a:srgbClr val="5818FF"/>
          </a:solidFill>
          <a:ln cap="flat" cmpd="sng" w="12700">
            <a:solidFill>
              <a:srgbClr val="5818FF"/>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4"/>
          <p:cNvSpPr/>
          <p:nvPr/>
        </p:nvSpPr>
        <p:spPr>
          <a:xfrm>
            <a:off x="5897880" y="822960"/>
            <a:ext cx="2743200" cy="2743200"/>
          </a:xfrm>
          <a:prstGeom prst="rect">
            <a:avLst/>
          </a:prstGeom>
          <a:noFill/>
          <a:ln>
            <a:noFill/>
          </a:ln>
        </p:spPr>
        <p:txBody>
          <a:bodyPr anchorCtr="0" anchor="ctr" bIns="0" lIns="0" spcFirstLastPara="1" rIns="0" wrap="square" tIns="0">
            <a:noAutofit/>
          </a:bodyPr>
          <a:lstStyle/>
          <a:p>
            <a:pPr indent="0" lvl="0" marL="0" marR="0" rtl="0" algn="ctr">
              <a:lnSpc>
                <a:spcPct val="145454"/>
              </a:lnSpc>
              <a:spcBef>
                <a:spcPts val="0"/>
              </a:spcBef>
              <a:spcAft>
                <a:spcPts val="0"/>
              </a:spcAft>
              <a:buClr>
                <a:srgbClr val="C4ACFF"/>
              </a:buClr>
              <a:buSzPts val="1100"/>
              <a:buFont typeface="Kanit"/>
              <a:buNone/>
            </a:pPr>
            <a:r>
              <a:rPr b="0" i="0" lang="en-US" sz="1100" u="none" cap="none" strike="noStrike">
                <a:solidFill>
                  <a:srgbClr val="C4ACFF"/>
                </a:solidFill>
                <a:latin typeface="Kanit"/>
                <a:ea typeface="Kanit"/>
                <a:cs typeface="Kanit"/>
                <a:sym typeface="Kanit"/>
              </a:rPr>
              <a:t>IMAGE</a:t>
            </a:r>
            <a:endParaRPr b="0" i="0" sz="1100" u="none" cap="none" strike="noStrike">
              <a:solidFill>
                <a:schemeClr val="dk1"/>
              </a:solidFill>
              <a:latin typeface="Calibri"/>
              <a:ea typeface="Calibri"/>
              <a:cs typeface="Calibri"/>
              <a:sym typeface="Calibri"/>
            </a:endParaRPr>
          </a:p>
          <a:p>
            <a:pPr indent="0" lvl="0" marL="0" marR="0" rtl="0" algn="ctr">
              <a:lnSpc>
                <a:spcPct val="145454"/>
              </a:lnSpc>
              <a:spcBef>
                <a:spcPts val="0"/>
              </a:spcBef>
              <a:spcAft>
                <a:spcPts val="0"/>
              </a:spcAft>
              <a:buClr>
                <a:srgbClr val="C4ACFF"/>
              </a:buClr>
              <a:buSzPts val="1100"/>
              <a:buFont typeface="Kanit"/>
              <a:buNone/>
            </a:pPr>
            <a:r>
              <a:rPr b="0" i="0" lang="en-US" sz="1100" u="none" cap="none" strike="noStrike">
                <a:solidFill>
                  <a:srgbClr val="C4ACFF"/>
                </a:solidFill>
                <a:latin typeface="Kanit"/>
                <a:ea typeface="Kanit"/>
                <a:cs typeface="Kanit"/>
                <a:sym typeface="Kanit"/>
              </a:rPr>
              <a:t>(optional)</a:t>
            </a:r>
            <a:endParaRPr b="0" i="0" sz="1100" u="none" cap="none" strike="noStrike">
              <a:solidFill>
                <a:schemeClr val="dk1"/>
              </a:solidFill>
              <a:latin typeface="Calibri"/>
              <a:ea typeface="Calibri"/>
              <a:cs typeface="Calibri"/>
              <a:sym typeface="Calibri"/>
            </a:endParaRPr>
          </a:p>
        </p:txBody>
      </p:sp>
      <p:sp>
        <p:nvSpPr>
          <p:cNvPr id="39" name="Google Shape;39;p4"/>
          <p:cNvSpPr/>
          <p:nvPr/>
        </p:nvSpPr>
        <p:spPr>
          <a:xfrm>
            <a:off x="502920" y="4846320"/>
            <a:ext cx="18288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DEFA"/>
              </a:buClr>
              <a:buSzPts val="750"/>
              <a:buFont typeface="Inter"/>
              <a:buNone/>
            </a:pPr>
            <a:r>
              <a:rPr b="0" i="0" lang="en-US" sz="750" u="none" cap="none" strike="noStrike">
                <a:solidFill>
                  <a:srgbClr val="E6DEFA"/>
                </a:solidFill>
                <a:latin typeface="Inter"/>
                <a:ea typeface="Inter"/>
                <a:cs typeface="Inter"/>
                <a:sym typeface="Inter"/>
              </a:rPr>
              <a:t>WWW.THIGA.CO</a:t>
            </a:r>
            <a:endParaRPr b="0" i="0" sz="750" u="none" cap="none" strike="noStrike">
              <a:solidFill>
                <a:schemeClr val="dk1"/>
              </a:solidFill>
              <a:latin typeface="Calibri"/>
              <a:ea typeface="Calibri"/>
              <a:cs typeface="Calibri"/>
              <a:sym typeface="Calibri"/>
            </a:endParaRPr>
          </a:p>
        </p:txBody>
      </p:sp>
      <p:pic>
        <p:nvPicPr>
          <p:cNvPr descr="preencoded.png" id="40" name="Google Shape;40;p4"/>
          <p:cNvPicPr preferRelativeResize="0"/>
          <p:nvPr/>
        </p:nvPicPr>
        <p:blipFill rotWithShape="1">
          <a:blip r:embed="rId3">
            <a:alphaModFix/>
          </a:blip>
          <a:srcRect b="0" l="0" r="0" t="0"/>
          <a:stretch/>
        </p:blipFill>
        <p:spPr>
          <a:xfrm>
            <a:off x="7635240" y="4846320"/>
            <a:ext cx="1005840" cy="12214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0FF"/>
        </a:solidFill>
      </p:bgPr>
    </p:bg>
    <p:spTree>
      <p:nvGrpSpPr>
        <p:cNvPr id="45" name="Shape 45"/>
        <p:cNvGrpSpPr/>
        <p:nvPr/>
      </p:nvGrpSpPr>
      <p:grpSpPr>
        <a:xfrm>
          <a:off x="0" y="0"/>
          <a:ext cx="0" cy="0"/>
          <a:chOff x="0" y="0"/>
          <a:chExt cx="0" cy="0"/>
        </a:xfrm>
      </p:grpSpPr>
      <p:sp>
        <p:nvSpPr>
          <p:cNvPr id="46" name="Google Shape;46;p5"/>
          <p:cNvSpPr/>
          <p:nvPr/>
        </p:nvSpPr>
        <p:spPr>
          <a:xfrm>
            <a:off x="502920" y="256032"/>
            <a:ext cx="59436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818FF"/>
              </a:buClr>
              <a:buSzPts val="850"/>
              <a:buFont typeface="Inter"/>
              <a:buNone/>
            </a:pPr>
            <a:r>
              <a:rPr b="1" i="0" lang="en-US" sz="850" u="none" cap="none" strike="noStrike">
                <a:solidFill>
                  <a:srgbClr val="5818FF"/>
                </a:solidFill>
                <a:latin typeface="Inter"/>
                <a:ea typeface="Inter"/>
                <a:cs typeface="Inter"/>
                <a:sym typeface="Inter"/>
              </a:rPr>
              <a:t>LET'S WORK(SHOP) · CO-ANIMATED WORKSHOP</a:t>
            </a:r>
            <a:endParaRPr b="0" i="0" sz="850" u="none" cap="none" strike="noStrike">
              <a:solidFill>
                <a:schemeClr val="dk1"/>
              </a:solidFill>
              <a:latin typeface="Calibri"/>
              <a:ea typeface="Calibri"/>
              <a:cs typeface="Calibri"/>
              <a:sym typeface="Calibri"/>
            </a:endParaRPr>
          </a:p>
        </p:txBody>
      </p:sp>
      <p:sp>
        <p:nvSpPr>
          <p:cNvPr id="47" name="Google Shape;47;p5"/>
          <p:cNvSpPr/>
          <p:nvPr/>
        </p:nvSpPr>
        <p:spPr>
          <a:xfrm>
            <a:off x="502920" y="475488"/>
            <a:ext cx="6766560" cy="420624"/>
          </a:xfrm>
          <a:prstGeom prst="rect">
            <a:avLst/>
          </a:prstGeom>
          <a:noFill/>
          <a:ln>
            <a:noFill/>
          </a:ln>
        </p:spPr>
        <p:txBody>
          <a:bodyPr anchorCtr="0" anchor="t" bIns="0" lIns="0" spcFirstLastPara="1" rIns="0" wrap="square" tIns="0">
            <a:noAutofit/>
          </a:bodyPr>
          <a:lstStyle/>
          <a:p>
            <a:pPr indent="0" lvl="0" marL="0" marR="0" rtl="0" algn="l">
              <a:lnSpc>
                <a:spcPct val="115789"/>
              </a:lnSpc>
              <a:spcBef>
                <a:spcPts val="0"/>
              </a:spcBef>
              <a:spcAft>
                <a:spcPts val="0"/>
              </a:spcAft>
              <a:buClr>
                <a:srgbClr val="1B0442"/>
              </a:buClr>
              <a:buSzPts val="1900"/>
              <a:buFont typeface="Kanit"/>
              <a:buNone/>
            </a:pPr>
            <a:r>
              <a:rPr b="1" i="0" lang="en-US" sz="1900" u="none" cap="none" strike="noStrike">
                <a:solidFill>
                  <a:srgbClr val="1B0442"/>
                </a:solidFill>
                <a:latin typeface="Kanit"/>
                <a:ea typeface="Kanit"/>
                <a:cs typeface="Kanit"/>
                <a:sym typeface="Kanit"/>
              </a:rPr>
              <a:t>AT 14:00 WE WALK OUT WITH…</a:t>
            </a:r>
            <a:endParaRPr b="0" i="0" sz="1900" u="none" cap="none" strike="noStrike">
              <a:solidFill>
                <a:schemeClr val="dk1"/>
              </a:solidFill>
              <a:latin typeface="Calibri"/>
              <a:ea typeface="Calibri"/>
              <a:cs typeface="Calibri"/>
              <a:sym typeface="Calibri"/>
            </a:endParaRPr>
          </a:p>
        </p:txBody>
      </p:sp>
      <p:sp>
        <p:nvSpPr>
          <p:cNvPr id="48" name="Google Shape;48;p5"/>
          <p:cNvSpPr/>
          <p:nvPr/>
        </p:nvSpPr>
        <p:spPr>
          <a:xfrm>
            <a:off x="502920" y="941832"/>
            <a:ext cx="1097280" cy="41148"/>
          </a:xfrm>
          <a:prstGeom prst="rect">
            <a:avLst/>
          </a:prstGeom>
          <a:solidFill>
            <a:srgbClr val="5818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5"/>
          <p:cNvSpPr/>
          <p:nvPr/>
        </p:nvSpPr>
        <p:spPr>
          <a:xfrm>
            <a:off x="502920" y="1453896"/>
            <a:ext cx="7589520" cy="13716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1B0442"/>
              </a:buClr>
              <a:buSzPts val="3000"/>
              <a:buFont typeface="Kanit"/>
              <a:buNone/>
            </a:pPr>
            <a:r>
              <a:rPr b="1" i="0" lang="en-US" sz="3000" u="none" cap="none" strike="noStrike">
                <a:solidFill>
                  <a:srgbClr val="1B0442"/>
                </a:solidFill>
                <a:latin typeface="Kanit"/>
                <a:ea typeface="Kanit"/>
                <a:cs typeface="Kanit"/>
                <a:sym typeface="Kanit"/>
              </a:rPr>
              <a:t>[The output, in one sentence]</a:t>
            </a:r>
            <a:endParaRPr b="0" i="0" sz="3000" u="none" cap="none" strike="noStrike">
              <a:solidFill>
                <a:schemeClr val="dk1"/>
              </a:solidFill>
              <a:latin typeface="Calibri"/>
              <a:ea typeface="Calibri"/>
              <a:cs typeface="Calibri"/>
              <a:sym typeface="Calibri"/>
            </a:endParaRPr>
          </a:p>
        </p:txBody>
      </p:sp>
      <p:sp>
        <p:nvSpPr>
          <p:cNvPr id="50" name="Google Shape;50;p5"/>
          <p:cNvSpPr/>
          <p:nvPr/>
        </p:nvSpPr>
        <p:spPr>
          <a:xfrm>
            <a:off x="502920" y="4224528"/>
            <a:ext cx="8138160" cy="530352"/>
          </a:xfrm>
          <a:prstGeom prst="roundRect">
            <a:avLst>
              <a:gd fmla="val 6897" name="adj"/>
            </a:avLst>
          </a:prstGeom>
          <a:solidFill>
            <a:srgbClr val="FFF0F2"/>
          </a:solidFill>
          <a:ln cap="flat" cmpd="sng" w="12700">
            <a:solidFill>
              <a:srgbClr val="FFF0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a:off x="630936" y="4224528"/>
            <a:ext cx="7882128"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818FF"/>
              </a:buClr>
              <a:buSzPts val="900"/>
              <a:buFont typeface="Kanit"/>
              <a:buNone/>
            </a:pPr>
            <a:r>
              <a:rPr b="1" i="0" lang="en-US" sz="900" u="none" cap="none" strike="noStrike">
                <a:solidFill>
                  <a:srgbClr val="C50041"/>
                </a:solidFill>
                <a:latin typeface="Kanit"/>
                <a:ea typeface="Kanit"/>
                <a:cs typeface="Kanit"/>
                <a:sym typeface="Kanit"/>
              </a:rPr>
              <a:t>TIP</a:t>
            </a:r>
            <a:r>
              <a:rPr b="1" i="0" lang="en-US" sz="900" u="none" cap="none" strike="noStrike">
                <a:solidFill>
                  <a:srgbClr val="5818FF"/>
                </a:solidFill>
                <a:latin typeface="Kanit"/>
                <a:ea typeface="Kanit"/>
                <a:cs typeface="Kanit"/>
                <a:sym typeface="Kanit"/>
              </a:rPr>
              <a:t>  </a:t>
            </a:r>
            <a:r>
              <a:rPr b="0" i="0" lang="en-US" sz="900" u="none" cap="none" strike="noStrike">
                <a:solidFill>
                  <a:srgbClr val="1B0442"/>
                </a:solidFill>
                <a:latin typeface="Inter"/>
                <a:ea typeface="Inter"/>
                <a:cs typeface="Inter"/>
                <a:sym typeface="Inter"/>
              </a:rPr>
              <a:t>Write this slide before anything else. A ranked list, a filled canvas, five tested prompts, a decision. Then say it out loud twice: now, and again before the share-back.</a:t>
            </a:r>
            <a:endParaRPr b="0" i="0" sz="900" u="none" cap="none" strike="noStrike">
              <a:solidFill>
                <a:schemeClr val="dk1"/>
              </a:solidFill>
              <a:latin typeface="Calibri"/>
              <a:ea typeface="Calibri"/>
              <a:cs typeface="Calibri"/>
              <a:sym typeface="Calibri"/>
            </a:endParaRPr>
          </a:p>
        </p:txBody>
      </p:sp>
      <p:sp>
        <p:nvSpPr>
          <p:cNvPr id="52" name="Google Shape;52;p5"/>
          <p:cNvSpPr/>
          <p:nvPr/>
        </p:nvSpPr>
        <p:spPr>
          <a:xfrm>
            <a:off x="502920" y="4846320"/>
            <a:ext cx="18288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0442"/>
              </a:buClr>
              <a:buSzPts val="750"/>
              <a:buFont typeface="Inter"/>
              <a:buNone/>
            </a:pPr>
            <a:r>
              <a:rPr b="0" i="0" lang="en-US" sz="750" u="none" cap="none" strike="noStrike">
                <a:solidFill>
                  <a:srgbClr val="1B0442"/>
                </a:solidFill>
                <a:latin typeface="Inter"/>
                <a:ea typeface="Inter"/>
                <a:cs typeface="Inter"/>
                <a:sym typeface="Inter"/>
              </a:rPr>
              <a:t>WWW.THIGA.CO</a:t>
            </a:r>
            <a:endParaRPr b="0" i="0" sz="750" u="none" cap="none" strike="noStrike">
              <a:solidFill>
                <a:schemeClr val="dk1"/>
              </a:solidFill>
              <a:latin typeface="Calibri"/>
              <a:ea typeface="Calibri"/>
              <a:cs typeface="Calibri"/>
              <a:sym typeface="Calibri"/>
            </a:endParaRPr>
          </a:p>
        </p:txBody>
      </p:sp>
      <p:pic>
        <p:nvPicPr>
          <p:cNvPr descr="preencoded.png" id="53" name="Google Shape;53;p5"/>
          <p:cNvPicPr preferRelativeResize="0"/>
          <p:nvPr/>
        </p:nvPicPr>
        <p:blipFill rotWithShape="1">
          <a:blip r:embed="rId3">
            <a:alphaModFix/>
          </a:blip>
          <a:srcRect b="0" l="0" r="0" t="0"/>
          <a:stretch/>
        </p:blipFill>
        <p:spPr>
          <a:xfrm>
            <a:off x="7635240" y="4846320"/>
            <a:ext cx="1005840" cy="122142"/>
          </a:xfrm>
          <a:prstGeom prst="rect">
            <a:avLst/>
          </a:prstGeom>
          <a:noFill/>
          <a:ln>
            <a:noFill/>
          </a:ln>
        </p:spPr>
      </p:pic>
      <p:sp>
        <p:nvSpPr>
          <p:cNvPr id="54" name="Google Shape;54;p5"/>
          <p:cNvSpPr/>
          <p:nvPr/>
        </p:nvSpPr>
        <p:spPr>
          <a:xfrm>
            <a:off x="7178040" y="4846320"/>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818FF"/>
              </a:buClr>
              <a:buSzPts val="1000"/>
              <a:buFont typeface="Kanit"/>
              <a:buNone/>
            </a:pPr>
            <a:r>
              <a:rPr b="1" i="0" lang="en-US" sz="1000" u="none" cap="none" strike="noStrike">
                <a:solidFill>
                  <a:srgbClr val="5818FF"/>
                </a:solidFill>
                <a:latin typeface="Kanit"/>
                <a:ea typeface="Kanit"/>
                <a:cs typeface="Kanit"/>
                <a:sym typeface="Kanit"/>
              </a:rPr>
              <a:t>2</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0FF"/>
        </a:solidFill>
      </p:bgPr>
    </p:bg>
    <p:spTree>
      <p:nvGrpSpPr>
        <p:cNvPr id="59" name="Shape 59"/>
        <p:cNvGrpSpPr/>
        <p:nvPr/>
      </p:nvGrpSpPr>
      <p:grpSpPr>
        <a:xfrm>
          <a:off x="0" y="0"/>
          <a:ext cx="0" cy="0"/>
          <a:chOff x="0" y="0"/>
          <a:chExt cx="0" cy="0"/>
        </a:xfrm>
      </p:grpSpPr>
      <p:sp>
        <p:nvSpPr>
          <p:cNvPr id="60" name="Google Shape;60;p6"/>
          <p:cNvSpPr/>
          <p:nvPr/>
        </p:nvSpPr>
        <p:spPr>
          <a:xfrm>
            <a:off x="502920" y="256032"/>
            <a:ext cx="59436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818FF"/>
              </a:buClr>
              <a:buSzPts val="850"/>
              <a:buFont typeface="Inter"/>
              <a:buNone/>
            </a:pPr>
            <a:r>
              <a:rPr b="1" i="0" lang="en-US" sz="850" u="none" cap="none" strike="noStrike">
                <a:solidFill>
                  <a:srgbClr val="5818FF"/>
                </a:solidFill>
                <a:latin typeface="Inter"/>
                <a:ea typeface="Inter"/>
                <a:cs typeface="Inter"/>
                <a:sym typeface="Inter"/>
              </a:rPr>
              <a:t>LET'S WORK(SHOP) · CO-ANIMATED WORKSHOP</a:t>
            </a:r>
            <a:endParaRPr b="0" i="0" sz="850" u="none" cap="none" strike="noStrike">
              <a:solidFill>
                <a:schemeClr val="dk1"/>
              </a:solidFill>
              <a:latin typeface="Calibri"/>
              <a:ea typeface="Calibri"/>
              <a:cs typeface="Calibri"/>
              <a:sym typeface="Calibri"/>
            </a:endParaRPr>
          </a:p>
        </p:txBody>
      </p:sp>
      <p:sp>
        <p:nvSpPr>
          <p:cNvPr id="61" name="Google Shape;61;p6"/>
          <p:cNvSpPr/>
          <p:nvPr/>
        </p:nvSpPr>
        <p:spPr>
          <a:xfrm>
            <a:off x="502920" y="475488"/>
            <a:ext cx="6766500" cy="420600"/>
          </a:xfrm>
          <a:prstGeom prst="rect">
            <a:avLst/>
          </a:prstGeom>
          <a:noFill/>
          <a:ln>
            <a:noFill/>
          </a:ln>
        </p:spPr>
        <p:txBody>
          <a:bodyPr anchorCtr="0" anchor="t" bIns="0" lIns="0" spcFirstLastPara="1" rIns="0" wrap="square" tIns="0">
            <a:noAutofit/>
          </a:bodyPr>
          <a:lstStyle/>
          <a:p>
            <a:pPr indent="0" lvl="0" marL="0" marR="0" rtl="0" algn="l">
              <a:lnSpc>
                <a:spcPct val="115789"/>
              </a:lnSpc>
              <a:spcBef>
                <a:spcPts val="0"/>
              </a:spcBef>
              <a:spcAft>
                <a:spcPts val="0"/>
              </a:spcAft>
              <a:buClr>
                <a:srgbClr val="1B0442"/>
              </a:buClr>
              <a:buSzPts val="1900"/>
              <a:buFont typeface="Kanit"/>
              <a:buNone/>
            </a:pPr>
            <a:r>
              <a:rPr b="1" i="0" lang="en-US" sz="1900" u="none" cap="none" strike="noStrike">
                <a:solidFill>
                  <a:srgbClr val="1B0442"/>
                </a:solidFill>
                <a:latin typeface="Kanit"/>
                <a:ea typeface="Kanit"/>
                <a:cs typeface="Kanit"/>
                <a:sym typeface="Kanit"/>
              </a:rPr>
              <a:t>WHY THIS, WHY NOW</a:t>
            </a:r>
            <a:endParaRPr b="0" i="0" sz="1900" u="none" cap="none" strike="noStrike">
              <a:solidFill>
                <a:schemeClr val="dk1"/>
              </a:solidFill>
              <a:latin typeface="Calibri"/>
              <a:ea typeface="Calibri"/>
              <a:cs typeface="Calibri"/>
              <a:sym typeface="Calibri"/>
            </a:endParaRPr>
          </a:p>
        </p:txBody>
      </p:sp>
      <p:sp>
        <p:nvSpPr>
          <p:cNvPr id="62" name="Google Shape;62;p6"/>
          <p:cNvSpPr/>
          <p:nvPr/>
        </p:nvSpPr>
        <p:spPr>
          <a:xfrm>
            <a:off x="502920" y="941832"/>
            <a:ext cx="1097280" cy="41148"/>
          </a:xfrm>
          <a:prstGeom prst="rect">
            <a:avLst/>
          </a:prstGeom>
          <a:solidFill>
            <a:srgbClr val="5818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6"/>
          <p:cNvSpPr/>
          <p:nvPr/>
        </p:nvSpPr>
        <p:spPr>
          <a:xfrm>
            <a:off x="502920" y="1179576"/>
            <a:ext cx="8138160" cy="1920240"/>
          </a:xfrm>
          <a:prstGeom prst="rect">
            <a:avLst/>
          </a:prstGeom>
          <a:noFill/>
          <a:ln>
            <a:noFill/>
          </a:ln>
        </p:spPr>
        <p:txBody>
          <a:bodyPr anchorCtr="0" anchor="t" bIns="0" lIns="0" spcFirstLastPara="1" rIns="0" wrap="square" tIns="0">
            <a:noAutofit/>
          </a:bodyPr>
          <a:lstStyle/>
          <a:p>
            <a:pPr indent="-177800" lvl="0" marL="177800" marR="0" rtl="0" algn="l">
              <a:lnSpc>
                <a:spcPct val="121428"/>
              </a:lnSpc>
              <a:spcBef>
                <a:spcPts val="0"/>
              </a:spcBef>
              <a:spcAft>
                <a:spcPts val="0"/>
              </a:spcAft>
              <a:buClr>
                <a:srgbClr val="1B0442"/>
              </a:buClr>
              <a:buSzPts val="1400"/>
              <a:buFont typeface="Inter"/>
              <a:buChar char="•"/>
            </a:pPr>
            <a:r>
              <a:rPr b="0" i="0" lang="en-US" sz="1400" u="none" cap="none" strike="noStrike">
                <a:solidFill>
                  <a:srgbClr val="1B0442"/>
                </a:solidFill>
                <a:latin typeface="Inter"/>
                <a:ea typeface="Inter"/>
                <a:cs typeface="Inter"/>
                <a:sym typeface="Inter"/>
              </a:rPr>
              <a:t>[The thematic Tribe objective this serves]</a:t>
            </a:r>
            <a:endParaRPr b="0" i="0" sz="1400" u="none" cap="none" strike="noStrike">
              <a:solidFill>
                <a:schemeClr val="dk1"/>
              </a:solidFill>
              <a:latin typeface="Calibri"/>
              <a:ea typeface="Calibri"/>
              <a:cs typeface="Calibri"/>
              <a:sym typeface="Calibri"/>
            </a:endParaRPr>
          </a:p>
          <a:p>
            <a:pPr indent="-177800" lvl="0" marL="177800" marR="0" rtl="0" algn="l">
              <a:lnSpc>
                <a:spcPct val="121428"/>
              </a:lnSpc>
              <a:spcBef>
                <a:spcPts val="800"/>
              </a:spcBef>
              <a:spcAft>
                <a:spcPts val="0"/>
              </a:spcAft>
              <a:buClr>
                <a:srgbClr val="1B0442"/>
              </a:buClr>
              <a:buSzPts val="1400"/>
              <a:buFont typeface="Inter"/>
              <a:buChar char="•"/>
            </a:pPr>
            <a:r>
              <a:rPr b="0" i="0" lang="en-US" sz="1400" u="none" cap="none" strike="noStrike">
                <a:solidFill>
                  <a:srgbClr val="1B0442"/>
                </a:solidFill>
                <a:latin typeface="Inter"/>
                <a:ea typeface="Inter"/>
                <a:cs typeface="Inter"/>
                <a:sym typeface="Inter"/>
              </a:rPr>
              <a:t>[Or the Thiga objective this serves]</a:t>
            </a:r>
            <a:endParaRPr b="0" i="0" sz="1400" u="none" cap="none" strike="noStrike">
              <a:solidFill>
                <a:schemeClr val="dk1"/>
              </a:solidFill>
              <a:latin typeface="Calibri"/>
              <a:ea typeface="Calibri"/>
              <a:cs typeface="Calibri"/>
              <a:sym typeface="Calibri"/>
            </a:endParaRPr>
          </a:p>
          <a:p>
            <a:pPr indent="-177800" lvl="0" marL="177800" marR="0" rtl="0" algn="l">
              <a:lnSpc>
                <a:spcPct val="121428"/>
              </a:lnSpc>
              <a:spcBef>
                <a:spcPts val="800"/>
              </a:spcBef>
              <a:spcAft>
                <a:spcPts val="0"/>
              </a:spcAft>
              <a:buClr>
                <a:srgbClr val="1B0442"/>
              </a:buClr>
              <a:buSzPts val="1400"/>
              <a:buFont typeface="Inter"/>
              <a:buChar char="•"/>
            </a:pPr>
            <a:r>
              <a:rPr b="0" i="0" lang="en-US" sz="1400" u="none" cap="none" strike="noStrike">
                <a:solidFill>
                  <a:srgbClr val="1B0442"/>
                </a:solidFill>
                <a:latin typeface="Inter"/>
                <a:ea typeface="Inter"/>
                <a:cs typeface="Inter"/>
                <a:sym typeface="Inter"/>
              </a:rPr>
              <a:t>[What happens to the output afterwards]</a:t>
            </a:r>
            <a:endParaRPr b="0" i="0" sz="1400" u="none" cap="none" strike="noStrike">
              <a:solidFill>
                <a:schemeClr val="dk1"/>
              </a:solidFill>
              <a:latin typeface="Calibri"/>
              <a:ea typeface="Calibri"/>
              <a:cs typeface="Calibri"/>
              <a:sym typeface="Calibri"/>
            </a:endParaRPr>
          </a:p>
        </p:txBody>
      </p:sp>
      <p:sp>
        <p:nvSpPr>
          <p:cNvPr id="64" name="Google Shape;64;p6"/>
          <p:cNvSpPr/>
          <p:nvPr/>
        </p:nvSpPr>
        <p:spPr>
          <a:xfrm>
            <a:off x="502920" y="3209544"/>
            <a:ext cx="8138160" cy="548640"/>
          </a:xfrm>
          <a:prstGeom prst="rect">
            <a:avLst/>
          </a:prstGeom>
          <a:noFill/>
          <a:ln>
            <a:noFill/>
          </a:ln>
        </p:spPr>
        <p:txBody>
          <a:bodyPr anchorCtr="0" anchor="ctr" bIns="0" lIns="0" spcFirstLastPara="1" rIns="0" wrap="square" tIns="0">
            <a:noAutofit/>
          </a:bodyPr>
          <a:lstStyle/>
          <a:p>
            <a:pPr indent="0" lvl="0" marL="0" marR="0" rtl="0" algn="l">
              <a:lnSpc>
                <a:spcPct val="146666"/>
              </a:lnSpc>
              <a:spcBef>
                <a:spcPts val="0"/>
              </a:spcBef>
              <a:spcAft>
                <a:spcPts val="0"/>
              </a:spcAft>
              <a:buClr>
                <a:srgbClr val="5818FF"/>
              </a:buClr>
              <a:buSzPts val="1500"/>
              <a:buFont typeface="Kanit"/>
              <a:buNone/>
            </a:pPr>
            <a:r>
              <a:rPr b="0" i="0" lang="en-US" sz="1500" u="none" cap="none" strike="noStrike">
                <a:solidFill>
                  <a:srgbClr val="5818FF"/>
                </a:solidFill>
                <a:latin typeface="Kanit"/>
                <a:ea typeface="Kanit"/>
                <a:cs typeface="Kanit"/>
                <a:sym typeface="Kanit"/>
              </a:rPr>
              <a:t>Delivered by [co-animator, thematic Tribe]</a:t>
            </a:r>
            <a:endParaRPr b="0" i="0" sz="1500" u="none" cap="none" strike="noStrike">
              <a:solidFill>
                <a:schemeClr val="dk1"/>
              </a:solidFill>
              <a:latin typeface="Calibri"/>
              <a:ea typeface="Calibri"/>
              <a:cs typeface="Calibri"/>
              <a:sym typeface="Calibri"/>
            </a:endParaRPr>
          </a:p>
        </p:txBody>
      </p:sp>
      <p:sp>
        <p:nvSpPr>
          <p:cNvPr id="65" name="Google Shape;65;p6"/>
          <p:cNvSpPr/>
          <p:nvPr/>
        </p:nvSpPr>
        <p:spPr>
          <a:xfrm>
            <a:off x="502920" y="4224528"/>
            <a:ext cx="8138160" cy="530352"/>
          </a:xfrm>
          <a:prstGeom prst="roundRect">
            <a:avLst>
              <a:gd fmla="val 6897" name="adj"/>
            </a:avLst>
          </a:prstGeom>
          <a:solidFill>
            <a:srgbClr val="FFF0F2"/>
          </a:solidFill>
          <a:ln cap="flat" cmpd="sng" w="12700">
            <a:solidFill>
              <a:srgbClr val="FFF0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630936" y="4224528"/>
            <a:ext cx="7882128"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818FF"/>
              </a:buClr>
              <a:buSzPts val="900"/>
              <a:buFont typeface="Kanit"/>
              <a:buNone/>
            </a:pPr>
            <a:r>
              <a:rPr b="1" i="0" lang="en-US" sz="900" u="none" cap="none" strike="noStrike">
                <a:solidFill>
                  <a:srgbClr val="1B0442"/>
                </a:solidFill>
                <a:latin typeface="Kanit"/>
                <a:ea typeface="Kanit"/>
                <a:cs typeface="Kanit"/>
                <a:sym typeface="Kanit"/>
              </a:rPr>
              <a:t>TIP</a:t>
            </a:r>
            <a:r>
              <a:rPr b="1" i="0" lang="en-US" sz="900" u="none" cap="none" strike="noStrike">
                <a:solidFill>
                  <a:srgbClr val="5818FF"/>
                </a:solidFill>
                <a:latin typeface="Kanit"/>
                <a:ea typeface="Kanit"/>
                <a:cs typeface="Kanit"/>
                <a:sym typeface="Kanit"/>
              </a:rPr>
              <a:t>  </a:t>
            </a:r>
            <a:r>
              <a:rPr b="0" i="0" lang="en-US" sz="900" u="none" cap="none" strike="noStrike">
                <a:solidFill>
                  <a:srgbClr val="1B0442"/>
                </a:solidFill>
                <a:latin typeface="Inter"/>
                <a:ea typeface="Inter"/>
                <a:cs typeface="Inter"/>
                <a:sym typeface="Inter"/>
              </a:rPr>
              <a:t>Let your co-animator deliver this one. It's their legitimacy, and it's the visibility on cross-Thiga work the tribe asked for in the retro.</a:t>
            </a:r>
            <a:endParaRPr b="0" i="0" sz="900" u="none" cap="none" strike="noStrike">
              <a:solidFill>
                <a:schemeClr val="dk1"/>
              </a:solidFill>
              <a:latin typeface="Calibri"/>
              <a:ea typeface="Calibri"/>
              <a:cs typeface="Calibri"/>
              <a:sym typeface="Calibri"/>
            </a:endParaRPr>
          </a:p>
        </p:txBody>
      </p:sp>
      <p:sp>
        <p:nvSpPr>
          <p:cNvPr id="67" name="Google Shape;67;p6"/>
          <p:cNvSpPr/>
          <p:nvPr/>
        </p:nvSpPr>
        <p:spPr>
          <a:xfrm>
            <a:off x="502920" y="4846320"/>
            <a:ext cx="18288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0442"/>
              </a:buClr>
              <a:buSzPts val="750"/>
              <a:buFont typeface="Inter"/>
              <a:buNone/>
            </a:pPr>
            <a:r>
              <a:rPr b="0" i="0" lang="en-US" sz="750" u="none" cap="none" strike="noStrike">
                <a:solidFill>
                  <a:srgbClr val="1B0442"/>
                </a:solidFill>
                <a:latin typeface="Inter"/>
                <a:ea typeface="Inter"/>
                <a:cs typeface="Inter"/>
                <a:sym typeface="Inter"/>
              </a:rPr>
              <a:t>WWW.THIGA.CO</a:t>
            </a:r>
            <a:endParaRPr b="0" i="0" sz="750" u="none" cap="none" strike="noStrike">
              <a:solidFill>
                <a:schemeClr val="dk1"/>
              </a:solidFill>
              <a:latin typeface="Calibri"/>
              <a:ea typeface="Calibri"/>
              <a:cs typeface="Calibri"/>
              <a:sym typeface="Calibri"/>
            </a:endParaRPr>
          </a:p>
        </p:txBody>
      </p:sp>
      <p:pic>
        <p:nvPicPr>
          <p:cNvPr descr="preencoded.png" id="68" name="Google Shape;68;p6"/>
          <p:cNvPicPr preferRelativeResize="0"/>
          <p:nvPr/>
        </p:nvPicPr>
        <p:blipFill rotWithShape="1">
          <a:blip r:embed="rId3">
            <a:alphaModFix/>
          </a:blip>
          <a:srcRect b="0" l="0" r="0" t="0"/>
          <a:stretch/>
        </p:blipFill>
        <p:spPr>
          <a:xfrm>
            <a:off x="7635240" y="4846320"/>
            <a:ext cx="1005840" cy="122142"/>
          </a:xfrm>
          <a:prstGeom prst="rect">
            <a:avLst/>
          </a:prstGeom>
          <a:noFill/>
          <a:ln>
            <a:noFill/>
          </a:ln>
        </p:spPr>
      </p:pic>
      <p:sp>
        <p:nvSpPr>
          <p:cNvPr id="69" name="Google Shape;69;p6"/>
          <p:cNvSpPr/>
          <p:nvPr/>
        </p:nvSpPr>
        <p:spPr>
          <a:xfrm>
            <a:off x="7178040" y="4846320"/>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818FF"/>
              </a:buClr>
              <a:buSzPts val="1000"/>
              <a:buFont typeface="Kanit"/>
              <a:buNone/>
            </a:pPr>
            <a:r>
              <a:rPr b="1" i="0" lang="en-US" sz="1000" u="none" cap="none" strike="noStrike">
                <a:solidFill>
                  <a:srgbClr val="5818FF"/>
                </a:solidFill>
                <a:latin typeface="Kanit"/>
                <a:ea typeface="Kanit"/>
                <a:cs typeface="Kanit"/>
                <a:sym typeface="Kanit"/>
              </a:rPr>
              <a:t>3</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0FF"/>
        </a:solidFill>
      </p:bgPr>
    </p:bg>
    <p:spTree>
      <p:nvGrpSpPr>
        <p:cNvPr id="74" name="Shape 74"/>
        <p:cNvGrpSpPr/>
        <p:nvPr/>
      </p:nvGrpSpPr>
      <p:grpSpPr>
        <a:xfrm>
          <a:off x="0" y="0"/>
          <a:ext cx="0" cy="0"/>
          <a:chOff x="0" y="0"/>
          <a:chExt cx="0" cy="0"/>
        </a:xfrm>
      </p:grpSpPr>
      <p:sp>
        <p:nvSpPr>
          <p:cNvPr id="75" name="Google Shape;75;p7"/>
          <p:cNvSpPr/>
          <p:nvPr/>
        </p:nvSpPr>
        <p:spPr>
          <a:xfrm>
            <a:off x="2331723" y="256025"/>
            <a:ext cx="36294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818FF"/>
              </a:buClr>
              <a:buSzPts val="850"/>
              <a:buFont typeface="Inter"/>
              <a:buNone/>
            </a:pPr>
            <a:r>
              <a:rPr b="1" i="0" lang="en-US" sz="850" u="none" cap="none" strike="noStrike">
                <a:solidFill>
                  <a:srgbClr val="5818FF"/>
                </a:solidFill>
                <a:latin typeface="Inter"/>
                <a:ea typeface="Inter"/>
                <a:cs typeface="Inter"/>
                <a:sym typeface="Inter"/>
              </a:rPr>
              <a:t>CO-ANIMATED WORKSHOP</a:t>
            </a:r>
            <a:endParaRPr b="0" i="0" sz="850" u="none" cap="none" strike="noStrike">
              <a:solidFill>
                <a:schemeClr val="dk1"/>
              </a:solidFill>
              <a:latin typeface="Calibri"/>
              <a:ea typeface="Calibri"/>
              <a:cs typeface="Calibri"/>
              <a:sym typeface="Calibri"/>
            </a:endParaRPr>
          </a:p>
        </p:txBody>
      </p:sp>
      <p:sp>
        <p:nvSpPr>
          <p:cNvPr id="76" name="Google Shape;76;p7"/>
          <p:cNvSpPr/>
          <p:nvPr/>
        </p:nvSpPr>
        <p:spPr>
          <a:xfrm>
            <a:off x="502925" y="486225"/>
            <a:ext cx="6766500" cy="452700"/>
          </a:xfrm>
          <a:prstGeom prst="rect">
            <a:avLst/>
          </a:prstGeom>
          <a:noFill/>
          <a:ln>
            <a:noFill/>
          </a:ln>
        </p:spPr>
        <p:txBody>
          <a:bodyPr anchorCtr="0" anchor="ctr" bIns="0" lIns="0" spcFirstLastPara="1" rIns="0" wrap="square" tIns="0">
            <a:noAutofit/>
          </a:bodyPr>
          <a:lstStyle/>
          <a:p>
            <a:pPr indent="0" lvl="0" marL="0" marR="0" rtl="0" algn="l">
              <a:lnSpc>
                <a:spcPct val="115789"/>
              </a:lnSpc>
              <a:spcBef>
                <a:spcPts val="0"/>
              </a:spcBef>
              <a:spcAft>
                <a:spcPts val="0"/>
              </a:spcAft>
              <a:buClr>
                <a:srgbClr val="1B0442"/>
              </a:buClr>
              <a:buSzPts val="1900"/>
              <a:buFont typeface="Kanit"/>
              <a:buNone/>
            </a:pPr>
            <a:r>
              <a:rPr b="1" i="0" lang="en-US" sz="2000" u="none" cap="none" strike="noStrike">
                <a:solidFill>
                  <a:srgbClr val="1B0442"/>
                </a:solidFill>
                <a:latin typeface="Kanit"/>
                <a:ea typeface="Kanit"/>
                <a:cs typeface="Kanit"/>
                <a:sym typeface="Kanit"/>
              </a:rPr>
              <a:t>THE QUESTION WE'RE WORKING ON</a:t>
            </a:r>
            <a:endParaRPr b="0" i="0" sz="2000" u="none" cap="none" strike="noStrike">
              <a:solidFill>
                <a:schemeClr val="dk1"/>
              </a:solidFill>
              <a:latin typeface="Calibri"/>
              <a:ea typeface="Calibri"/>
              <a:cs typeface="Calibri"/>
              <a:sym typeface="Calibri"/>
            </a:endParaRPr>
          </a:p>
        </p:txBody>
      </p:sp>
      <p:sp>
        <p:nvSpPr>
          <p:cNvPr id="77" name="Google Shape;77;p7"/>
          <p:cNvSpPr/>
          <p:nvPr/>
        </p:nvSpPr>
        <p:spPr>
          <a:xfrm>
            <a:off x="502920" y="941832"/>
            <a:ext cx="1097280" cy="41148"/>
          </a:xfrm>
          <a:prstGeom prst="rect">
            <a:avLst/>
          </a:prstGeom>
          <a:solidFill>
            <a:srgbClr val="5818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7"/>
          <p:cNvSpPr/>
          <p:nvPr/>
        </p:nvSpPr>
        <p:spPr>
          <a:xfrm>
            <a:off x="502920" y="1453896"/>
            <a:ext cx="7589520" cy="13716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1B0442"/>
              </a:buClr>
              <a:buSzPts val="3000"/>
              <a:buFont typeface="Kanit"/>
              <a:buNone/>
            </a:pPr>
            <a:r>
              <a:rPr b="1" i="0" lang="en-US" sz="3000" u="none" cap="none" strike="noStrike">
                <a:solidFill>
                  <a:srgbClr val="1B0442"/>
                </a:solidFill>
                <a:latin typeface="Kanit"/>
                <a:ea typeface="Kanit"/>
                <a:cs typeface="Kanit"/>
                <a:sym typeface="Kanit"/>
              </a:rPr>
              <a:t>[One question. One slide.]</a:t>
            </a:r>
            <a:endParaRPr b="0" i="0" sz="3000" u="none" cap="none" strike="noStrike">
              <a:solidFill>
                <a:schemeClr val="dk1"/>
              </a:solidFill>
              <a:latin typeface="Calibri"/>
              <a:ea typeface="Calibri"/>
              <a:cs typeface="Calibri"/>
              <a:sym typeface="Calibri"/>
            </a:endParaRPr>
          </a:p>
        </p:txBody>
      </p:sp>
      <p:sp>
        <p:nvSpPr>
          <p:cNvPr id="79" name="Google Shape;79;p7"/>
          <p:cNvSpPr/>
          <p:nvPr/>
        </p:nvSpPr>
        <p:spPr>
          <a:xfrm>
            <a:off x="502920" y="4224528"/>
            <a:ext cx="8138160" cy="530352"/>
          </a:xfrm>
          <a:prstGeom prst="roundRect">
            <a:avLst>
              <a:gd fmla="val 6897" name="adj"/>
            </a:avLst>
          </a:prstGeom>
          <a:solidFill>
            <a:srgbClr val="FFF0F2"/>
          </a:solidFill>
          <a:ln cap="flat" cmpd="sng" w="12700">
            <a:solidFill>
              <a:srgbClr val="FFF0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7"/>
          <p:cNvSpPr/>
          <p:nvPr/>
        </p:nvSpPr>
        <p:spPr>
          <a:xfrm>
            <a:off x="630936" y="4224528"/>
            <a:ext cx="7882128"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818FF"/>
              </a:buClr>
              <a:buSzPts val="900"/>
              <a:buFont typeface="Kanit"/>
              <a:buNone/>
            </a:pPr>
            <a:r>
              <a:rPr b="1" i="0" lang="en-US" sz="900" u="none" cap="none" strike="noStrike">
                <a:solidFill>
                  <a:srgbClr val="C50041"/>
                </a:solidFill>
                <a:latin typeface="Kanit"/>
                <a:ea typeface="Kanit"/>
                <a:cs typeface="Kanit"/>
                <a:sym typeface="Kanit"/>
              </a:rPr>
              <a:t>TIP</a:t>
            </a:r>
            <a:r>
              <a:rPr b="1" i="0" lang="en-US" sz="900" u="none" cap="none" strike="noStrike">
                <a:solidFill>
                  <a:srgbClr val="5818FF"/>
                </a:solidFill>
                <a:latin typeface="Kanit"/>
                <a:ea typeface="Kanit"/>
                <a:cs typeface="Kanit"/>
                <a:sym typeface="Kanit"/>
              </a:rPr>
              <a:t>  </a:t>
            </a:r>
            <a:r>
              <a:rPr b="0" i="0" lang="en-US" sz="900" u="none" cap="none" strike="noStrike">
                <a:solidFill>
                  <a:srgbClr val="1B0442"/>
                </a:solidFill>
                <a:latin typeface="Inter"/>
                <a:ea typeface="Inter"/>
                <a:cs typeface="Inter"/>
                <a:sym typeface="Inter"/>
              </a:rPr>
              <a:t>One question, big type, no sub-questions. Sub-questions belong in the exercise instructions.</a:t>
            </a:r>
            <a:endParaRPr b="0" i="0" sz="900" u="none" cap="none" strike="noStrike">
              <a:solidFill>
                <a:schemeClr val="dk1"/>
              </a:solidFill>
              <a:latin typeface="Calibri"/>
              <a:ea typeface="Calibri"/>
              <a:cs typeface="Calibri"/>
              <a:sym typeface="Calibri"/>
            </a:endParaRPr>
          </a:p>
        </p:txBody>
      </p:sp>
      <p:sp>
        <p:nvSpPr>
          <p:cNvPr id="81" name="Google Shape;81;p7"/>
          <p:cNvSpPr/>
          <p:nvPr/>
        </p:nvSpPr>
        <p:spPr>
          <a:xfrm>
            <a:off x="502920" y="4846320"/>
            <a:ext cx="18288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0442"/>
              </a:buClr>
              <a:buSzPts val="750"/>
              <a:buFont typeface="Inter"/>
              <a:buNone/>
            </a:pPr>
            <a:r>
              <a:rPr b="0" i="0" lang="en-US" sz="750" u="none" cap="none" strike="noStrike">
                <a:solidFill>
                  <a:srgbClr val="1B0442"/>
                </a:solidFill>
                <a:latin typeface="Inter"/>
                <a:ea typeface="Inter"/>
                <a:cs typeface="Inter"/>
                <a:sym typeface="Inter"/>
              </a:rPr>
              <a:t>WWW.THIGA.CO</a:t>
            </a:r>
            <a:endParaRPr b="0" i="0" sz="750" u="none" cap="none" strike="noStrike">
              <a:solidFill>
                <a:schemeClr val="dk1"/>
              </a:solidFill>
              <a:latin typeface="Calibri"/>
              <a:ea typeface="Calibri"/>
              <a:cs typeface="Calibri"/>
              <a:sym typeface="Calibri"/>
            </a:endParaRPr>
          </a:p>
        </p:txBody>
      </p:sp>
      <p:pic>
        <p:nvPicPr>
          <p:cNvPr descr="preencoded.png" id="82" name="Google Shape;82;p7"/>
          <p:cNvPicPr preferRelativeResize="0"/>
          <p:nvPr/>
        </p:nvPicPr>
        <p:blipFill rotWithShape="1">
          <a:blip r:embed="rId3">
            <a:alphaModFix/>
          </a:blip>
          <a:srcRect b="0" l="0" r="0" t="0"/>
          <a:stretch/>
        </p:blipFill>
        <p:spPr>
          <a:xfrm>
            <a:off x="7635240" y="4846320"/>
            <a:ext cx="1005840" cy="122142"/>
          </a:xfrm>
          <a:prstGeom prst="rect">
            <a:avLst/>
          </a:prstGeom>
          <a:noFill/>
          <a:ln>
            <a:noFill/>
          </a:ln>
        </p:spPr>
      </p:pic>
      <p:sp>
        <p:nvSpPr>
          <p:cNvPr id="83" name="Google Shape;83;p7"/>
          <p:cNvSpPr/>
          <p:nvPr/>
        </p:nvSpPr>
        <p:spPr>
          <a:xfrm>
            <a:off x="7178040" y="4846320"/>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818FF"/>
              </a:buClr>
              <a:buSzPts val="1000"/>
              <a:buFont typeface="Kanit"/>
              <a:buNone/>
            </a:pPr>
            <a:r>
              <a:rPr b="1" i="0" lang="en-US" sz="1000" u="none" cap="none" strike="noStrike">
                <a:solidFill>
                  <a:srgbClr val="5818FF"/>
                </a:solidFill>
                <a:latin typeface="Kanit"/>
                <a:ea typeface="Kanit"/>
                <a:cs typeface="Kanit"/>
                <a:sym typeface="Kanit"/>
              </a:rPr>
              <a:t>4</a:t>
            </a:r>
            <a:endParaRPr b="0" i="0" sz="1000" u="none" cap="none" strike="noStrike">
              <a:solidFill>
                <a:schemeClr val="dk1"/>
              </a:solidFill>
              <a:latin typeface="Calibri"/>
              <a:ea typeface="Calibri"/>
              <a:cs typeface="Calibri"/>
              <a:sym typeface="Calibri"/>
            </a:endParaRPr>
          </a:p>
        </p:txBody>
      </p:sp>
      <p:sp>
        <p:nvSpPr>
          <p:cNvPr id="84" name="Google Shape;84;p7"/>
          <p:cNvSpPr/>
          <p:nvPr/>
        </p:nvSpPr>
        <p:spPr>
          <a:xfrm>
            <a:off x="502924" y="256025"/>
            <a:ext cx="17595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818FF"/>
              </a:buClr>
              <a:buSzPts val="850"/>
              <a:buFont typeface="Inter"/>
              <a:buNone/>
            </a:pPr>
            <a:r>
              <a:rPr b="1" lang="en-US" sz="1700">
                <a:solidFill>
                  <a:srgbClr val="5818FF"/>
                </a:solidFill>
                <a:highlight>
                  <a:srgbClr val="5818FF"/>
                </a:highlight>
                <a:latin typeface="Kanit"/>
                <a:ea typeface="Kanit"/>
                <a:cs typeface="Kanit"/>
                <a:sym typeface="Kanit"/>
              </a:rPr>
              <a:t>.</a:t>
            </a:r>
            <a:r>
              <a:rPr b="1" i="0" lang="en-US" sz="1600" u="none" cap="none" strike="noStrike">
                <a:solidFill>
                  <a:srgbClr val="FFFFFF"/>
                </a:solidFill>
                <a:highlight>
                  <a:srgbClr val="5818FF"/>
                </a:highlight>
                <a:latin typeface="Inter"/>
                <a:ea typeface="Inter"/>
                <a:cs typeface="Inter"/>
                <a:sym typeface="Inter"/>
              </a:rPr>
              <a:t> READ ME FIRST</a:t>
            </a:r>
            <a:r>
              <a:rPr b="1" i="0" lang="en-US" sz="1600" u="none" cap="none" strike="noStrike">
                <a:solidFill>
                  <a:srgbClr val="5818FF"/>
                </a:solidFill>
                <a:highlight>
                  <a:srgbClr val="5818FF"/>
                </a:highlight>
                <a:latin typeface="Inter"/>
                <a:ea typeface="Inter"/>
                <a:cs typeface="Inter"/>
                <a:sym typeface="Inter"/>
              </a:rPr>
              <a:t>.</a:t>
            </a:r>
            <a:endParaRPr b="0" i="0" sz="1600" u="none" cap="none" strike="noStrike">
              <a:solidFill>
                <a:srgbClr val="5818FF"/>
              </a:solidFill>
              <a:highlight>
                <a:srgbClr val="5818FF"/>
              </a:highlight>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0FF"/>
        </a:solidFill>
      </p:bgPr>
    </p:bg>
    <p:spTree>
      <p:nvGrpSpPr>
        <p:cNvPr id="89" name="Shape 89"/>
        <p:cNvGrpSpPr/>
        <p:nvPr/>
      </p:nvGrpSpPr>
      <p:grpSpPr>
        <a:xfrm>
          <a:off x="0" y="0"/>
          <a:ext cx="0" cy="0"/>
          <a:chOff x="0" y="0"/>
          <a:chExt cx="0" cy="0"/>
        </a:xfrm>
      </p:grpSpPr>
      <p:sp>
        <p:nvSpPr>
          <p:cNvPr id="90" name="Google Shape;90;p8"/>
          <p:cNvSpPr/>
          <p:nvPr/>
        </p:nvSpPr>
        <p:spPr>
          <a:xfrm>
            <a:off x="502920" y="256032"/>
            <a:ext cx="59436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818FF"/>
              </a:buClr>
              <a:buSzPts val="850"/>
              <a:buFont typeface="Inter"/>
              <a:buNone/>
            </a:pPr>
            <a:r>
              <a:rPr b="1" i="0" lang="en-US" sz="850" u="none" cap="none" strike="noStrike">
                <a:solidFill>
                  <a:srgbClr val="5818FF"/>
                </a:solidFill>
                <a:latin typeface="Inter"/>
                <a:ea typeface="Inter"/>
                <a:cs typeface="Inter"/>
                <a:sym typeface="Inter"/>
              </a:rPr>
              <a:t>LET'S WORK(SHOP) · CO-ANIMATED WORKSHOP</a:t>
            </a:r>
            <a:endParaRPr b="0" i="0" sz="850" u="none" cap="none" strike="noStrike">
              <a:solidFill>
                <a:schemeClr val="dk1"/>
              </a:solidFill>
              <a:latin typeface="Calibri"/>
              <a:ea typeface="Calibri"/>
              <a:cs typeface="Calibri"/>
              <a:sym typeface="Calibri"/>
            </a:endParaRPr>
          </a:p>
        </p:txBody>
      </p:sp>
      <p:sp>
        <p:nvSpPr>
          <p:cNvPr id="91" name="Google Shape;91;p8"/>
          <p:cNvSpPr/>
          <p:nvPr/>
        </p:nvSpPr>
        <p:spPr>
          <a:xfrm>
            <a:off x="502920" y="475488"/>
            <a:ext cx="6766560" cy="420624"/>
          </a:xfrm>
          <a:prstGeom prst="rect">
            <a:avLst/>
          </a:prstGeom>
          <a:noFill/>
          <a:ln>
            <a:noFill/>
          </a:ln>
        </p:spPr>
        <p:txBody>
          <a:bodyPr anchorCtr="0" anchor="t" bIns="0" lIns="0" spcFirstLastPara="1" rIns="0" wrap="square" tIns="0">
            <a:noAutofit/>
          </a:bodyPr>
          <a:lstStyle/>
          <a:p>
            <a:pPr indent="0" lvl="0" marL="0" marR="0" rtl="0" algn="l">
              <a:lnSpc>
                <a:spcPct val="115789"/>
              </a:lnSpc>
              <a:spcBef>
                <a:spcPts val="0"/>
              </a:spcBef>
              <a:spcAft>
                <a:spcPts val="0"/>
              </a:spcAft>
              <a:buClr>
                <a:srgbClr val="1B0442"/>
              </a:buClr>
              <a:buSzPts val="1900"/>
              <a:buFont typeface="Kanit"/>
              <a:buNone/>
            </a:pPr>
            <a:r>
              <a:rPr b="1" i="0" lang="en-US" sz="1900" u="none" cap="none" strike="noStrike">
                <a:solidFill>
                  <a:srgbClr val="1B0442"/>
                </a:solidFill>
                <a:latin typeface="Kanit"/>
                <a:ea typeface="Kanit"/>
                <a:cs typeface="Kanit"/>
                <a:sym typeface="Kanit"/>
              </a:rPr>
              <a:t>HOW IT WORKS</a:t>
            </a:r>
            <a:endParaRPr b="0" i="0" sz="1900" u="none" cap="none" strike="noStrike">
              <a:solidFill>
                <a:schemeClr val="dk1"/>
              </a:solidFill>
              <a:latin typeface="Calibri"/>
              <a:ea typeface="Calibri"/>
              <a:cs typeface="Calibri"/>
              <a:sym typeface="Calibri"/>
            </a:endParaRPr>
          </a:p>
        </p:txBody>
      </p:sp>
      <p:sp>
        <p:nvSpPr>
          <p:cNvPr id="92" name="Google Shape;92;p8"/>
          <p:cNvSpPr/>
          <p:nvPr/>
        </p:nvSpPr>
        <p:spPr>
          <a:xfrm>
            <a:off x="502920" y="941832"/>
            <a:ext cx="1097280" cy="41148"/>
          </a:xfrm>
          <a:prstGeom prst="rect">
            <a:avLst/>
          </a:prstGeom>
          <a:solidFill>
            <a:srgbClr val="5818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93" name="Google Shape;93;p8"/>
          <p:cNvGraphicFramePr/>
          <p:nvPr/>
        </p:nvGraphicFramePr>
        <p:xfrm>
          <a:off x="502920" y="1179576"/>
          <a:ext cx="3000000" cy="3000000"/>
        </p:xfrm>
        <a:graphic>
          <a:graphicData uri="http://schemas.openxmlformats.org/drawingml/2006/table">
            <a:tbl>
              <a:tblPr>
                <a:noFill/>
                <a:tableStyleId>{170FA030-2093-4A06-A46F-41E9CF246CDF}</a:tableStyleId>
              </a:tblPr>
              <a:tblGrid>
                <a:gridCol w="1554475"/>
                <a:gridCol w="4206250"/>
                <a:gridCol w="2377450"/>
              </a:tblGrid>
              <a:tr h="384050">
                <a:tc>
                  <a:txBody>
                    <a:bodyPr/>
                    <a:lstStyle/>
                    <a:p>
                      <a:pPr indent="0" lvl="0" marL="0" marR="0" rtl="0" algn="l">
                        <a:spcBef>
                          <a:spcPts val="0"/>
                        </a:spcBef>
                        <a:spcAft>
                          <a:spcPts val="0"/>
                        </a:spcAft>
                        <a:buClr>
                          <a:srgbClr val="FFFFFF"/>
                        </a:buClr>
                        <a:buSzPts val="1000"/>
                        <a:buFont typeface="Kanit"/>
                        <a:buNone/>
                      </a:pPr>
                      <a:r>
                        <a:rPr b="1" lang="en-US" sz="1000" u="none" cap="none" strike="noStrike">
                          <a:solidFill>
                            <a:srgbClr val="FFFFFF"/>
                          </a:solidFill>
                          <a:latin typeface="Kanit"/>
                          <a:ea typeface="Kanit"/>
                          <a:cs typeface="Kanit"/>
                          <a:sym typeface="Kanit"/>
                        </a:rPr>
                        <a:t>TIME</a:t>
                      </a:r>
                      <a:endParaRPr sz="1000" u="none" cap="none" strike="noStrike">
                        <a:latin typeface="Kanit"/>
                        <a:ea typeface="Kanit"/>
                        <a:cs typeface="Kanit"/>
                        <a:sym typeface="Kanit"/>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1B0442"/>
                    </a:solidFill>
                  </a:tcPr>
                </a:tc>
                <a:tc>
                  <a:txBody>
                    <a:bodyPr/>
                    <a:lstStyle/>
                    <a:p>
                      <a:pPr indent="0" lvl="0" marL="0" marR="0" rtl="0" algn="l">
                        <a:spcBef>
                          <a:spcPts val="0"/>
                        </a:spcBef>
                        <a:spcAft>
                          <a:spcPts val="0"/>
                        </a:spcAft>
                        <a:buClr>
                          <a:srgbClr val="FFFFFF"/>
                        </a:buClr>
                        <a:buSzPts val="1000"/>
                        <a:buFont typeface="Kanit"/>
                        <a:buNone/>
                      </a:pPr>
                      <a:r>
                        <a:rPr b="1" lang="en-US" sz="1000" u="none" cap="none" strike="noStrike">
                          <a:solidFill>
                            <a:srgbClr val="FFFFFF"/>
                          </a:solidFill>
                          <a:latin typeface="Kanit"/>
                          <a:ea typeface="Kanit"/>
                          <a:cs typeface="Kanit"/>
                          <a:sym typeface="Kanit"/>
                        </a:rPr>
                        <a:t>WHAT</a:t>
                      </a:r>
                      <a:endParaRPr sz="1000" u="none" cap="none" strike="noStrike">
                        <a:latin typeface="Kanit"/>
                        <a:ea typeface="Kanit"/>
                        <a:cs typeface="Kanit"/>
                        <a:sym typeface="Kanit"/>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1B0442"/>
                    </a:solidFill>
                  </a:tcPr>
                </a:tc>
                <a:tc>
                  <a:txBody>
                    <a:bodyPr/>
                    <a:lstStyle/>
                    <a:p>
                      <a:pPr indent="0" lvl="0" marL="0" marR="0" rtl="0" algn="l">
                        <a:spcBef>
                          <a:spcPts val="0"/>
                        </a:spcBef>
                        <a:spcAft>
                          <a:spcPts val="0"/>
                        </a:spcAft>
                        <a:buClr>
                          <a:srgbClr val="FFFFFF"/>
                        </a:buClr>
                        <a:buSzPts val="1000"/>
                        <a:buFont typeface="Kanit"/>
                        <a:buNone/>
                      </a:pPr>
                      <a:r>
                        <a:rPr b="1" lang="en-US" sz="1000" u="none" cap="none" strike="noStrike">
                          <a:solidFill>
                            <a:srgbClr val="FFFFFF"/>
                          </a:solidFill>
                          <a:latin typeface="Kanit"/>
                          <a:ea typeface="Kanit"/>
                          <a:cs typeface="Kanit"/>
                          <a:sym typeface="Kanit"/>
                        </a:rPr>
                        <a:t>HOW</a:t>
                      </a:r>
                      <a:endParaRPr sz="1000" u="none" cap="none" strike="noStrike">
                        <a:latin typeface="Kanit"/>
                        <a:ea typeface="Kanit"/>
                        <a:cs typeface="Kanit"/>
                        <a:sym typeface="Kanit"/>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1B0442"/>
                    </a:solidFill>
                  </a:tcPr>
                </a:tc>
              </a:tr>
              <a:tr h="384050">
                <a:tc>
                  <a:txBody>
                    <a:bodyPr/>
                    <a:lstStyle/>
                    <a:p>
                      <a:pPr indent="0" lvl="0" marL="0" marR="0" rtl="0" algn="l">
                        <a:spcBef>
                          <a:spcPts val="0"/>
                        </a:spcBef>
                        <a:spcAft>
                          <a:spcPts val="0"/>
                        </a:spcAft>
                        <a:buClr>
                          <a:srgbClr val="1B0442"/>
                        </a:buClr>
                        <a:buSzPts val="1000"/>
                        <a:buFont typeface="Kanit"/>
                        <a:buNone/>
                      </a:pPr>
                      <a:r>
                        <a:rPr b="1" lang="en-US" sz="1000" u="none" cap="none" strike="noStrike">
                          <a:solidFill>
                            <a:srgbClr val="1B0442"/>
                          </a:solidFill>
                          <a:latin typeface="Kanit"/>
                          <a:ea typeface="Kanit"/>
                          <a:cs typeface="Kanit"/>
                          <a:sym typeface="Kanit"/>
                        </a:rPr>
                        <a:t>13:10 → 13:20</a:t>
                      </a:r>
                      <a:endParaRPr sz="1000" u="none" cap="none" strike="noStrike">
                        <a:latin typeface="Kanit"/>
                        <a:ea typeface="Kanit"/>
                        <a:cs typeface="Kanit"/>
                        <a:sym typeface="Kanit"/>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0442"/>
                        </a:buClr>
                        <a:buSzPts val="1000"/>
                        <a:buFont typeface="Inter"/>
                        <a:buNone/>
                      </a:pPr>
                      <a:r>
                        <a:rPr lang="en-US" sz="1000" u="none" cap="none" strike="noStrike">
                          <a:solidFill>
                            <a:srgbClr val="1B0442"/>
                          </a:solidFill>
                          <a:latin typeface="Inter"/>
                          <a:ea typeface="Inter"/>
                          <a:cs typeface="Inter"/>
                          <a:sym typeface="Inter"/>
                        </a:rPr>
                        <a:t>Solo, on your own</a:t>
                      </a:r>
                      <a:endParaRPr sz="1000" u="none" cap="none" strike="noStrike">
                        <a:latin typeface="Inter"/>
                        <a:ea typeface="Inter"/>
                        <a:cs typeface="Inter"/>
                        <a:sym typeface="Inter"/>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0442"/>
                        </a:buClr>
                        <a:buSzPts val="1000"/>
                        <a:buFont typeface="Inter"/>
                        <a:buNone/>
                      </a:pPr>
                      <a:r>
                        <a:rPr lang="en-US" sz="1000" u="none" cap="none" strike="noStrike">
                          <a:solidFill>
                            <a:srgbClr val="1B0442"/>
                          </a:solidFill>
                          <a:latin typeface="Inter"/>
                          <a:ea typeface="Inter"/>
                          <a:cs typeface="Inter"/>
                          <a:sym typeface="Inter"/>
                        </a:rPr>
                        <a:t>Silent. Post-its.</a:t>
                      </a:r>
                      <a:endParaRPr sz="1000" u="none" cap="none" strike="noStrike">
                        <a:latin typeface="Inter"/>
                        <a:ea typeface="Inter"/>
                        <a:cs typeface="Inter"/>
                        <a:sym typeface="Inter"/>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FFFFFF"/>
                    </a:solidFill>
                  </a:tcPr>
                </a:tc>
              </a:tr>
              <a:tr h="384050">
                <a:tc>
                  <a:txBody>
                    <a:bodyPr/>
                    <a:lstStyle/>
                    <a:p>
                      <a:pPr indent="0" lvl="0" marL="0" marR="0" rtl="0" algn="l">
                        <a:spcBef>
                          <a:spcPts val="0"/>
                        </a:spcBef>
                        <a:spcAft>
                          <a:spcPts val="0"/>
                        </a:spcAft>
                        <a:buClr>
                          <a:srgbClr val="1B0442"/>
                        </a:buClr>
                        <a:buSzPts val="1000"/>
                        <a:buFont typeface="Kanit"/>
                        <a:buNone/>
                      </a:pPr>
                      <a:r>
                        <a:rPr b="1" lang="en-US" sz="1000" u="none" cap="none" strike="noStrike">
                          <a:solidFill>
                            <a:srgbClr val="1B0442"/>
                          </a:solidFill>
                          <a:latin typeface="Kanit"/>
                          <a:ea typeface="Kanit"/>
                          <a:cs typeface="Kanit"/>
                          <a:sym typeface="Kanit"/>
                        </a:rPr>
                        <a:t>13:20 → 13:40</a:t>
                      </a:r>
                      <a:endParaRPr sz="1000" u="none" cap="none" strike="noStrike">
                        <a:latin typeface="Kanit"/>
                        <a:ea typeface="Kanit"/>
                        <a:cs typeface="Kanit"/>
                        <a:sym typeface="Kanit"/>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0442"/>
                        </a:buClr>
                        <a:buSzPts val="1000"/>
                        <a:buFont typeface="Inter"/>
                        <a:buNone/>
                      </a:pPr>
                      <a:r>
                        <a:rPr lang="en-US" sz="1000" u="none" cap="none" strike="noStrike">
                          <a:solidFill>
                            <a:srgbClr val="1B0442"/>
                          </a:solidFill>
                          <a:latin typeface="Inter"/>
                          <a:ea typeface="Inter"/>
                          <a:cs typeface="Inter"/>
                          <a:sym typeface="Inter"/>
                        </a:rPr>
                        <a:t>Table work</a:t>
                      </a:r>
                      <a:endParaRPr sz="1000" u="none" cap="none" strike="noStrike">
                        <a:latin typeface="Inter"/>
                        <a:ea typeface="Inter"/>
                        <a:cs typeface="Inter"/>
                        <a:sym typeface="Inter"/>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0442"/>
                        </a:buClr>
                        <a:buSzPts val="1000"/>
                        <a:buFont typeface="Inter"/>
                        <a:buNone/>
                      </a:pPr>
                      <a:r>
                        <a:rPr lang="en-US" sz="1000" u="none" cap="none" strike="noStrike">
                          <a:solidFill>
                            <a:srgbClr val="1B0442"/>
                          </a:solidFill>
                          <a:latin typeface="Inter"/>
                          <a:ea typeface="Inter"/>
                          <a:cs typeface="Inter"/>
                          <a:sym typeface="Inter"/>
                        </a:rPr>
                        <a:t>Converge on 3 outputs</a:t>
                      </a:r>
                      <a:endParaRPr sz="1000" u="none" cap="none" strike="noStrike">
                        <a:latin typeface="Inter"/>
                        <a:ea typeface="Inter"/>
                        <a:cs typeface="Inter"/>
                        <a:sym typeface="Inter"/>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FFFFFF"/>
                    </a:solidFill>
                  </a:tcPr>
                </a:tc>
              </a:tr>
              <a:tr h="384050">
                <a:tc>
                  <a:txBody>
                    <a:bodyPr/>
                    <a:lstStyle/>
                    <a:p>
                      <a:pPr indent="0" lvl="0" marL="0" marR="0" rtl="0" algn="l">
                        <a:spcBef>
                          <a:spcPts val="0"/>
                        </a:spcBef>
                        <a:spcAft>
                          <a:spcPts val="0"/>
                        </a:spcAft>
                        <a:buClr>
                          <a:srgbClr val="1B0442"/>
                        </a:buClr>
                        <a:buSzPts val="1000"/>
                        <a:buFont typeface="Kanit"/>
                        <a:buNone/>
                      </a:pPr>
                      <a:r>
                        <a:rPr b="1" lang="en-US" sz="1000" u="none" cap="none" strike="noStrike">
                          <a:solidFill>
                            <a:srgbClr val="1B0442"/>
                          </a:solidFill>
                          <a:latin typeface="Kanit"/>
                          <a:ea typeface="Kanit"/>
                          <a:cs typeface="Kanit"/>
                          <a:sym typeface="Kanit"/>
                        </a:rPr>
                        <a:t>13:40 → 13:52</a:t>
                      </a:r>
                      <a:endParaRPr sz="1000" u="none" cap="none" strike="noStrike">
                        <a:latin typeface="Kanit"/>
                        <a:ea typeface="Kanit"/>
                        <a:cs typeface="Kanit"/>
                        <a:sym typeface="Kanit"/>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0442"/>
                        </a:buClr>
                        <a:buSzPts val="1000"/>
                        <a:buFont typeface="Inter"/>
                        <a:buNone/>
                      </a:pPr>
                      <a:r>
                        <a:rPr lang="en-US" sz="1000" u="none" cap="none" strike="noStrike">
                          <a:solidFill>
                            <a:srgbClr val="1B0442"/>
                          </a:solidFill>
                          <a:latin typeface="Inter"/>
                          <a:ea typeface="Inter"/>
                          <a:cs typeface="Inter"/>
                          <a:sym typeface="Inter"/>
                        </a:rPr>
                        <a:t>Share-back</a:t>
                      </a:r>
                      <a:endParaRPr sz="1000" u="none" cap="none" strike="noStrike">
                        <a:latin typeface="Inter"/>
                        <a:ea typeface="Inter"/>
                        <a:cs typeface="Inter"/>
                        <a:sym typeface="Inter"/>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0442"/>
                        </a:buClr>
                        <a:buSzPts val="1000"/>
                        <a:buFont typeface="Inter"/>
                        <a:buNone/>
                      </a:pPr>
                      <a:r>
                        <a:rPr lang="en-US" sz="1000" u="none" cap="none" strike="noStrike">
                          <a:solidFill>
                            <a:srgbClr val="1B0442"/>
                          </a:solidFill>
                          <a:latin typeface="Inter"/>
                          <a:ea typeface="Inter"/>
                          <a:cs typeface="Inter"/>
                          <a:sym typeface="Inter"/>
                        </a:rPr>
                        <a:t>90 sec per table</a:t>
                      </a:r>
                      <a:endParaRPr sz="1000" u="none" cap="none" strike="noStrike">
                        <a:latin typeface="Inter"/>
                        <a:ea typeface="Inter"/>
                        <a:cs typeface="Inter"/>
                        <a:sym typeface="Inter"/>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FFFFFF"/>
                    </a:solidFill>
                  </a:tcPr>
                </a:tc>
              </a:tr>
              <a:tr h="384050">
                <a:tc>
                  <a:txBody>
                    <a:bodyPr/>
                    <a:lstStyle/>
                    <a:p>
                      <a:pPr indent="0" lvl="0" marL="0" marR="0" rtl="0" algn="l">
                        <a:spcBef>
                          <a:spcPts val="0"/>
                        </a:spcBef>
                        <a:spcAft>
                          <a:spcPts val="0"/>
                        </a:spcAft>
                        <a:buClr>
                          <a:srgbClr val="1B0442"/>
                        </a:buClr>
                        <a:buSzPts val="1000"/>
                        <a:buFont typeface="Kanit"/>
                        <a:buNone/>
                      </a:pPr>
                      <a:r>
                        <a:rPr b="1" lang="en-US" sz="1000" u="none" cap="none" strike="noStrike">
                          <a:solidFill>
                            <a:srgbClr val="1B0442"/>
                          </a:solidFill>
                          <a:latin typeface="Kanit"/>
                          <a:ea typeface="Kanit"/>
                          <a:cs typeface="Kanit"/>
                          <a:sym typeface="Kanit"/>
                        </a:rPr>
                        <a:t>13:52 → 14:00</a:t>
                      </a:r>
                      <a:endParaRPr sz="1000" u="none" cap="none" strike="noStrike">
                        <a:latin typeface="Kanit"/>
                        <a:ea typeface="Kanit"/>
                        <a:cs typeface="Kanit"/>
                        <a:sym typeface="Kanit"/>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0442"/>
                        </a:buClr>
                        <a:buSzPts val="1000"/>
                        <a:buFont typeface="Inter"/>
                        <a:buNone/>
                      </a:pPr>
                      <a:r>
                        <a:rPr lang="en-US" sz="1000" u="none" cap="none" strike="noStrike">
                          <a:solidFill>
                            <a:srgbClr val="1B0442"/>
                          </a:solidFill>
                          <a:latin typeface="Inter"/>
                          <a:ea typeface="Inter"/>
                          <a:cs typeface="Inter"/>
                          <a:sym typeface="Inter"/>
                        </a:rPr>
                        <a:t>Decisions and owners</a:t>
                      </a:r>
                      <a:endParaRPr sz="1000" u="none" cap="none" strike="noStrike">
                        <a:latin typeface="Inter"/>
                        <a:ea typeface="Inter"/>
                        <a:cs typeface="Inter"/>
                        <a:sym typeface="Inter"/>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0442"/>
                        </a:buClr>
                        <a:buSzPts val="1000"/>
                        <a:buFont typeface="Inter"/>
                        <a:buNone/>
                      </a:pPr>
                      <a:r>
                        <a:rPr lang="en-US" sz="1000" u="none" cap="none" strike="noStrike">
                          <a:solidFill>
                            <a:srgbClr val="1B0442"/>
                          </a:solidFill>
                          <a:latin typeface="Inter"/>
                          <a:ea typeface="Inter"/>
                          <a:cs typeface="Inter"/>
                          <a:sym typeface="Inter"/>
                        </a:rPr>
                        <a:t>All together</a:t>
                      </a:r>
                      <a:endParaRPr sz="1000" u="none" cap="none" strike="noStrike">
                        <a:latin typeface="Inter"/>
                        <a:ea typeface="Inter"/>
                        <a:cs typeface="Inter"/>
                        <a:sym typeface="Inter"/>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FFFFFF"/>
                    </a:solidFill>
                  </a:tcPr>
                </a:tc>
              </a:tr>
            </a:tbl>
          </a:graphicData>
        </a:graphic>
      </p:graphicFrame>
      <p:sp>
        <p:nvSpPr>
          <p:cNvPr id="94" name="Google Shape;94;p8"/>
          <p:cNvSpPr/>
          <p:nvPr/>
        </p:nvSpPr>
        <p:spPr>
          <a:xfrm>
            <a:off x="502920" y="4224528"/>
            <a:ext cx="8138160" cy="530352"/>
          </a:xfrm>
          <a:prstGeom prst="roundRect">
            <a:avLst>
              <a:gd fmla="val 6897" name="adj"/>
            </a:avLst>
          </a:prstGeom>
          <a:solidFill>
            <a:srgbClr val="FFF0F2"/>
          </a:solidFill>
          <a:ln cap="flat" cmpd="sng" w="12700">
            <a:solidFill>
              <a:srgbClr val="FFF0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8"/>
          <p:cNvSpPr/>
          <p:nvPr/>
        </p:nvSpPr>
        <p:spPr>
          <a:xfrm>
            <a:off x="630936" y="4224528"/>
            <a:ext cx="7882128"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818FF"/>
              </a:buClr>
              <a:buSzPts val="900"/>
              <a:buFont typeface="Kanit"/>
              <a:buNone/>
            </a:pPr>
            <a:r>
              <a:rPr b="1" i="0" lang="en-US" sz="900" u="none" cap="none" strike="noStrike">
                <a:solidFill>
                  <a:srgbClr val="C50041"/>
                </a:solidFill>
                <a:latin typeface="Kanit"/>
                <a:ea typeface="Kanit"/>
                <a:cs typeface="Kanit"/>
                <a:sym typeface="Kanit"/>
              </a:rPr>
              <a:t>TIP</a:t>
            </a:r>
            <a:r>
              <a:rPr b="1" i="0" lang="en-US" sz="900" u="none" cap="none" strike="noStrike">
                <a:solidFill>
                  <a:srgbClr val="5818FF"/>
                </a:solidFill>
                <a:latin typeface="Kanit"/>
                <a:ea typeface="Kanit"/>
                <a:cs typeface="Kanit"/>
                <a:sym typeface="Kanit"/>
              </a:rPr>
              <a:t>  </a:t>
            </a:r>
            <a:r>
              <a:rPr b="0" i="0" lang="en-US" sz="900" u="none" cap="none" strike="noStrike">
                <a:solidFill>
                  <a:srgbClr val="1B0442"/>
                </a:solidFill>
                <a:latin typeface="Inter"/>
                <a:ea typeface="Inter"/>
                <a:cs typeface="Inter"/>
                <a:sym typeface="Inter"/>
              </a:rPr>
              <a:t>Leave this up during the solo round. It answers most of the "wait, what are we doing?" without anyone having to interrupt.</a:t>
            </a:r>
            <a:endParaRPr b="0" i="0" sz="900" u="none" cap="none" strike="noStrike">
              <a:solidFill>
                <a:schemeClr val="dk1"/>
              </a:solidFill>
              <a:latin typeface="Calibri"/>
              <a:ea typeface="Calibri"/>
              <a:cs typeface="Calibri"/>
              <a:sym typeface="Calibri"/>
            </a:endParaRPr>
          </a:p>
        </p:txBody>
      </p:sp>
      <p:sp>
        <p:nvSpPr>
          <p:cNvPr id="96" name="Google Shape;96;p8"/>
          <p:cNvSpPr/>
          <p:nvPr/>
        </p:nvSpPr>
        <p:spPr>
          <a:xfrm>
            <a:off x="502920" y="4846320"/>
            <a:ext cx="18288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0442"/>
              </a:buClr>
              <a:buSzPts val="750"/>
              <a:buFont typeface="Inter"/>
              <a:buNone/>
            </a:pPr>
            <a:r>
              <a:rPr b="0" i="0" lang="en-US" sz="750" u="none" cap="none" strike="noStrike">
                <a:solidFill>
                  <a:srgbClr val="1B0442"/>
                </a:solidFill>
                <a:latin typeface="Inter"/>
                <a:ea typeface="Inter"/>
                <a:cs typeface="Inter"/>
                <a:sym typeface="Inter"/>
              </a:rPr>
              <a:t>WWW.THIGA.CO</a:t>
            </a:r>
            <a:endParaRPr b="0" i="0" sz="750" u="none" cap="none" strike="noStrike">
              <a:solidFill>
                <a:schemeClr val="dk1"/>
              </a:solidFill>
              <a:latin typeface="Calibri"/>
              <a:ea typeface="Calibri"/>
              <a:cs typeface="Calibri"/>
              <a:sym typeface="Calibri"/>
            </a:endParaRPr>
          </a:p>
        </p:txBody>
      </p:sp>
      <p:pic>
        <p:nvPicPr>
          <p:cNvPr descr="preencoded.png" id="97" name="Google Shape;97;p8"/>
          <p:cNvPicPr preferRelativeResize="0"/>
          <p:nvPr/>
        </p:nvPicPr>
        <p:blipFill rotWithShape="1">
          <a:blip r:embed="rId3">
            <a:alphaModFix/>
          </a:blip>
          <a:srcRect b="0" l="0" r="0" t="0"/>
          <a:stretch/>
        </p:blipFill>
        <p:spPr>
          <a:xfrm>
            <a:off x="7635240" y="4846320"/>
            <a:ext cx="1005840" cy="122142"/>
          </a:xfrm>
          <a:prstGeom prst="rect">
            <a:avLst/>
          </a:prstGeom>
          <a:noFill/>
          <a:ln>
            <a:noFill/>
          </a:ln>
        </p:spPr>
      </p:pic>
      <p:sp>
        <p:nvSpPr>
          <p:cNvPr id="98" name="Google Shape;98;p8"/>
          <p:cNvSpPr/>
          <p:nvPr/>
        </p:nvSpPr>
        <p:spPr>
          <a:xfrm>
            <a:off x="7178040" y="4846320"/>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818FF"/>
              </a:buClr>
              <a:buSzPts val="1000"/>
              <a:buFont typeface="Kanit"/>
              <a:buNone/>
            </a:pPr>
            <a:r>
              <a:rPr b="1" i="0" lang="en-US" sz="1000" u="none" cap="none" strike="noStrike">
                <a:solidFill>
                  <a:srgbClr val="5818FF"/>
                </a:solidFill>
                <a:latin typeface="Kanit"/>
                <a:ea typeface="Kanit"/>
                <a:cs typeface="Kanit"/>
                <a:sym typeface="Kanit"/>
              </a:rPr>
              <a:t>5</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0FF"/>
        </a:solidFill>
      </p:bgPr>
    </p:bg>
    <p:spTree>
      <p:nvGrpSpPr>
        <p:cNvPr id="103" name="Shape 103"/>
        <p:cNvGrpSpPr/>
        <p:nvPr/>
      </p:nvGrpSpPr>
      <p:grpSpPr>
        <a:xfrm>
          <a:off x="0" y="0"/>
          <a:ext cx="0" cy="0"/>
          <a:chOff x="0" y="0"/>
          <a:chExt cx="0" cy="0"/>
        </a:xfrm>
      </p:grpSpPr>
      <p:sp>
        <p:nvSpPr>
          <p:cNvPr id="104" name="Google Shape;104;p9"/>
          <p:cNvSpPr/>
          <p:nvPr/>
        </p:nvSpPr>
        <p:spPr>
          <a:xfrm>
            <a:off x="502920" y="256032"/>
            <a:ext cx="59436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818FF"/>
              </a:buClr>
              <a:buSzPts val="850"/>
              <a:buFont typeface="Inter"/>
              <a:buNone/>
            </a:pPr>
            <a:r>
              <a:rPr b="1" i="0" lang="en-US" sz="850" u="none" cap="none" strike="noStrike">
                <a:solidFill>
                  <a:srgbClr val="5818FF"/>
                </a:solidFill>
                <a:latin typeface="Inter"/>
                <a:ea typeface="Inter"/>
                <a:cs typeface="Inter"/>
                <a:sym typeface="Inter"/>
              </a:rPr>
              <a:t>LET'S WORK(SHOP) · CO-ANIMATED WORKSHOP</a:t>
            </a:r>
            <a:endParaRPr b="0" i="0" sz="850" u="none" cap="none" strike="noStrike">
              <a:solidFill>
                <a:schemeClr val="dk1"/>
              </a:solidFill>
              <a:latin typeface="Calibri"/>
              <a:ea typeface="Calibri"/>
              <a:cs typeface="Calibri"/>
              <a:sym typeface="Calibri"/>
            </a:endParaRPr>
          </a:p>
        </p:txBody>
      </p:sp>
      <p:sp>
        <p:nvSpPr>
          <p:cNvPr id="105" name="Google Shape;105;p9"/>
          <p:cNvSpPr/>
          <p:nvPr/>
        </p:nvSpPr>
        <p:spPr>
          <a:xfrm>
            <a:off x="502920" y="475488"/>
            <a:ext cx="6766560" cy="420624"/>
          </a:xfrm>
          <a:prstGeom prst="rect">
            <a:avLst/>
          </a:prstGeom>
          <a:noFill/>
          <a:ln>
            <a:noFill/>
          </a:ln>
        </p:spPr>
        <p:txBody>
          <a:bodyPr anchorCtr="0" anchor="t" bIns="0" lIns="0" spcFirstLastPara="1" rIns="0" wrap="square" tIns="0">
            <a:noAutofit/>
          </a:bodyPr>
          <a:lstStyle/>
          <a:p>
            <a:pPr indent="0" lvl="0" marL="0" marR="0" rtl="0" algn="l">
              <a:lnSpc>
                <a:spcPct val="115789"/>
              </a:lnSpc>
              <a:spcBef>
                <a:spcPts val="0"/>
              </a:spcBef>
              <a:spcAft>
                <a:spcPts val="0"/>
              </a:spcAft>
              <a:buClr>
                <a:srgbClr val="1B0442"/>
              </a:buClr>
              <a:buSzPts val="1900"/>
              <a:buFont typeface="Kanit"/>
              <a:buNone/>
            </a:pPr>
            <a:r>
              <a:rPr b="1" i="0" lang="en-US" sz="1900" u="none" cap="none" strike="noStrike">
                <a:solidFill>
                  <a:srgbClr val="1B0442"/>
                </a:solidFill>
                <a:latin typeface="Kanit"/>
                <a:ea typeface="Kanit"/>
                <a:cs typeface="Kanit"/>
                <a:sym typeface="Kanit"/>
              </a:rPr>
              <a:t>THE CANVAS</a:t>
            </a:r>
            <a:endParaRPr b="0" i="0" sz="1900" u="none" cap="none" strike="noStrike">
              <a:solidFill>
                <a:schemeClr val="dk1"/>
              </a:solidFill>
              <a:latin typeface="Calibri"/>
              <a:ea typeface="Calibri"/>
              <a:cs typeface="Calibri"/>
              <a:sym typeface="Calibri"/>
            </a:endParaRPr>
          </a:p>
        </p:txBody>
      </p:sp>
      <p:sp>
        <p:nvSpPr>
          <p:cNvPr id="106" name="Google Shape;106;p9"/>
          <p:cNvSpPr/>
          <p:nvPr/>
        </p:nvSpPr>
        <p:spPr>
          <a:xfrm>
            <a:off x="502920" y="941832"/>
            <a:ext cx="1097280" cy="41148"/>
          </a:xfrm>
          <a:prstGeom prst="rect">
            <a:avLst/>
          </a:prstGeom>
          <a:solidFill>
            <a:srgbClr val="5818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107" name="Google Shape;107;p9"/>
          <p:cNvGraphicFramePr/>
          <p:nvPr/>
        </p:nvGraphicFramePr>
        <p:xfrm>
          <a:off x="502920" y="1179576"/>
          <a:ext cx="3000000" cy="3000000"/>
        </p:xfrm>
        <a:graphic>
          <a:graphicData uri="http://schemas.openxmlformats.org/drawingml/2006/table">
            <a:tbl>
              <a:tblPr>
                <a:noFill/>
                <a:tableStyleId>{170FA030-2093-4A06-A46F-41E9CF246CDF}</a:tableStyleId>
              </a:tblPr>
              <a:tblGrid>
                <a:gridCol w="2011675"/>
                <a:gridCol w="2011675"/>
                <a:gridCol w="2057400"/>
                <a:gridCol w="2057400"/>
              </a:tblGrid>
              <a:tr h="475500">
                <a:tc>
                  <a:txBody>
                    <a:bodyPr/>
                    <a:lstStyle/>
                    <a:p>
                      <a:pPr indent="0" lvl="0" marL="0" marR="0" rtl="0" algn="l">
                        <a:spcBef>
                          <a:spcPts val="0"/>
                        </a:spcBef>
                        <a:spcAft>
                          <a:spcPts val="0"/>
                        </a:spcAft>
                        <a:buClr>
                          <a:srgbClr val="FFFFFF"/>
                        </a:buClr>
                        <a:buSzPts val="1000"/>
                        <a:buFont typeface="Kanit"/>
                        <a:buNone/>
                      </a:pPr>
                      <a:r>
                        <a:rPr b="1" lang="en-US" sz="1000" u="none" cap="none" strike="noStrike">
                          <a:solidFill>
                            <a:srgbClr val="FFFFFF"/>
                          </a:solidFill>
                          <a:latin typeface="Kanit"/>
                          <a:ea typeface="Kanit"/>
                          <a:cs typeface="Kanit"/>
                          <a:sym typeface="Kanit"/>
                        </a:rPr>
                        <a:t>[COLUMN 1]</a:t>
                      </a:r>
                      <a:endParaRPr sz="1000" u="none" cap="none" strike="noStrike">
                        <a:latin typeface="Kanit"/>
                        <a:ea typeface="Kanit"/>
                        <a:cs typeface="Kanit"/>
                        <a:sym typeface="Kanit"/>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1B0442"/>
                    </a:solidFill>
                  </a:tcPr>
                </a:tc>
                <a:tc>
                  <a:txBody>
                    <a:bodyPr/>
                    <a:lstStyle/>
                    <a:p>
                      <a:pPr indent="0" lvl="0" marL="0" marR="0" rtl="0" algn="l">
                        <a:spcBef>
                          <a:spcPts val="0"/>
                        </a:spcBef>
                        <a:spcAft>
                          <a:spcPts val="0"/>
                        </a:spcAft>
                        <a:buClr>
                          <a:srgbClr val="FFFFFF"/>
                        </a:buClr>
                        <a:buSzPts val="1000"/>
                        <a:buFont typeface="Kanit"/>
                        <a:buNone/>
                      </a:pPr>
                      <a:r>
                        <a:rPr b="1" lang="en-US" sz="1000" u="none" cap="none" strike="noStrike">
                          <a:solidFill>
                            <a:srgbClr val="FFFFFF"/>
                          </a:solidFill>
                          <a:latin typeface="Kanit"/>
                          <a:ea typeface="Kanit"/>
                          <a:cs typeface="Kanit"/>
                          <a:sym typeface="Kanit"/>
                        </a:rPr>
                        <a:t>[COLUMN 2]</a:t>
                      </a:r>
                      <a:endParaRPr sz="1000" u="none" cap="none" strike="noStrike">
                        <a:latin typeface="Kanit"/>
                        <a:ea typeface="Kanit"/>
                        <a:cs typeface="Kanit"/>
                        <a:sym typeface="Kanit"/>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1B0442"/>
                    </a:solidFill>
                  </a:tcPr>
                </a:tc>
                <a:tc>
                  <a:txBody>
                    <a:bodyPr/>
                    <a:lstStyle/>
                    <a:p>
                      <a:pPr indent="0" lvl="0" marL="0" marR="0" rtl="0" algn="l">
                        <a:spcBef>
                          <a:spcPts val="0"/>
                        </a:spcBef>
                        <a:spcAft>
                          <a:spcPts val="0"/>
                        </a:spcAft>
                        <a:buClr>
                          <a:srgbClr val="FFFFFF"/>
                        </a:buClr>
                        <a:buSzPts val="1000"/>
                        <a:buFont typeface="Kanit"/>
                        <a:buNone/>
                      </a:pPr>
                      <a:r>
                        <a:rPr b="1" lang="en-US" sz="1000" u="none" cap="none" strike="noStrike">
                          <a:solidFill>
                            <a:srgbClr val="FFFFFF"/>
                          </a:solidFill>
                          <a:latin typeface="Kanit"/>
                          <a:ea typeface="Kanit"/>
                          <a:cs typeface="Kanit"/>
                          <a:sym typeface="Kanit"/>
                        </a:rPr>
                        <a:t>[COLUMN 3]</a:t>
                      </a:r>
                      <a:endParaRPr sz="1000" u="none" cap="none" strike="noStrike">
                        <a:latin typeface="Kanit"/>
                        <a:ea typeface="Kanit"/>
                        <a:cs typeface="Kanit"/>
                        <a:sym typeface="Kanit"/>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1B0442"/>
                    </a:solidFill>
                  </a:tcPr>
                </a:tc>
                <a:tc>
                  <a:txBody>
                    <a:bodyPr/>
                    <a:lstStyle/>
                    <a:p>
                      <a:pPr indent="0" lvl="0" marL="0" marR="0" rtl="0" algn="l">
                        <a:spcBef>
                          <a:spcPts val="0"/>
                        </a:spcBef>
                        <a:spcAft>
                          <a:spcPts val="0"/>
                        </a:spcAft>
                        <a:buClr>
                          <a:srgbClr val="FFFFFF"/>
                        </a:buClr>
                        <a:buSzPts val="1000"/>
                        <a:buFont typeface="Kanit"/>
                        <a:buNone/>
                      </a:pPr>
                      <a:r>
                        <a:rPr b="1" lang="en-US" sz="1000" u="none" cap="none" strike="noStrike">
                          <a:solidFill>
                            <a:srgbClr val="FFFFFF"/>
                          </a:solidFill>
                          <a:latin typeface="Kanit"/>
                          <a:ea typeface="Kanit"/>
                          <a:cs typeface="Kanit"/>
                          <a:sym typeface="Kanit"/>
                        </a:rPr>
                        <a:t>[COLUMN 4]</a:t>
                      </a:r>
                      <a:endParaRPr sz="1000" u="none" cap="none" strike="noStrike">
                        <a:latin typeface="Kanit"/>
                        <a:ea typeface="Kanit"/>
                        <a:cs typeface="Kanit"/>
                        <a:sym typeface="Kanit"/>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1B0442"/>
                    </a:solidFill>
                  </a:tcPr>
                </a:tc>
              </a:tr>
              <a:tr h="475500">
                <a:tc>
                  <a:txBody>
                    <a:bodyPr/>
                    <a:lstStyle/>
                    <a:p>
                      <a:pPr indent="0" lvl="0" marL="0" marR="0" rtl="0" algn="l">
                        <a:spcBef>
                          <a:spcPts val="0"/>
                        </a:spcBef>
                        <a:spcAft>
                          <a:spcPts val="0"/>
                        </a:spcAft>
                        <a:buClr>
                          <a:srgbClr val="1B0442"/>
                        </a:buClr>
                        <a:buSzPts val="1000"/>
                        <a:buFont typeface="Kanit"/>
                        <a:buNone/>
                      </a:pPr>
                      <a:r>
                        <a:rPr b="1" lang="en-US" sz="1000" u="none" cap="none" strike="noStrike">
                          <a:solidFill>
                            <a:srgbClr val="1B0442"/>
                          </a:solidFill>
                          <a:latin typeface="Kanit"/>
                          <a:ea typeface="Kanit"/>
                          <a:cs typeface="Kanit"/>
                          <a:sym typeface="Kanit"/>
                        </a:rPr>
                        <a:t>[your example]</a:t>
                      </a:r>
                      <a:endParaRPr sz="1000" u="none" cap="none" strike="noStrike">
                        <a:latin typeface="Kanit"/>
                        <a:ea typeface="Kanit"/>
                        <a:cs typeface="Kanit"/>
                        <a:sym typeface="Kanit"/>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0442"/>
                        </a:buClr>
                        <a:buSzPts val="1000"/>
                        <a:buFont typeface="Inter"/>
                        <a:buNone/>
                      </a:pPr>
                      <a:r>
                        <a:rPr lang="en-US" sz="1000" u="none" cap="none" strike="noStrike">
                          <a:solidFill>
                            <a:srgbClr val="1B0442"/>
                          </a:solidFill>
                          <a:latin typeface="Inter"/>
                          <a:ea typeface="Inter"/>
                          <a:cs typeface="Inter"/>
                          <a:sym typeface="Inter"/>
                        </a:rPr>
                        <a:t>[your example]</a:t>
                      </a:r>
                      <a:endParaRPr sz="1000" u="none" cap="none" strike="noStrike">
                        <a:latin typeface="Inter"/>
                        <a:ea typeface="Inter"/>
                        <a:cs typeface="Inter"/>
                        <a:sym typeface="Inter"/>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0442"/>
                        </a:buClr>
                        <a:buSzPts val="1000"/>
                        <a:buFont typeface="Inter"/>
                        <a:buNone/>
                      </a:pPr>
                      <a:r>
                        <a:rPr lang="en-US" sz="1000" u="none" cap="none" strike="noStrike">
                          <a:solidFill>
                            <a:srgbClr val="1B0442"/>
                          </a:solidFill>
                          <a:latin typeface="Inter"/>
                          <a:ea typeface="Inter"/>
                          <a:cs typeface="Inter"/>
                          <a:sym typeface="Inter"/>
                        </a:rPr>
                        <a:t>[your example]</a:t>
                      </a:r>
                      <a:endParaRPr sz="1000" u="none" cap="none" strike="noStrike">
                        <a:latin typeface="Inter"/>
                        <a:ea typeface="Inter"/>
                        <a:cs typeface="Inter"/>
                        <a:sym typeface="Inter"/>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0442"/>
                        </a:buClr>
                        <a:buSzPts val="1000"/>
                        <a:buFont typeface="Inter"/>
                        <a:buNone/>
                      </a:pPr>
                      <a:r>
                        <a:rPr lang="en-US" sz="1000" u="none" cap="none" strike="noStrike">
                          <a:solidFill>
                            <a:srgbClr val="1B0442"/>
                          </a:solidFill>
                          <a:latin typeface="Inter"/>
                          <a:ea typeface="Inter"/>
                          <a:cs typeface="Inter"/>
                          <a:sym typeface="Inter"/>
                        </a:rPr>
                        <a:t>[your example]</a:t>
                      </a:r>
                      <a:endParaRPr sz="1000" u="none" cap="none" strike="noStrike">
                        <a:latin typeface="Inter"/>
                        <a:ea typeface="Inter"/>
                        <a:cs typeface="Inter"/>
                        <a:sym typeface="Inter"/>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FFFFFF"/>
                    </a:solidFill>
                  </a:tcPr>
                </a:tc>
              </a:tr>
              <a:tr h="475500">
                <a:tc>
                  <a:txBody>
                    <a:bodyPr/>
                    <a:lstStyle/>
                    <a:p>
                      <a:pPr indent="0" lvl="0" marL="0" marR="0" rtl="0" algn="l">
                        <a:spcBef>
                          <a:spcPts val="0"/>
                        </a:spcBef>
                        <a:spcAft>
                          <a:spcPts val="0"/>
                        </a:spcAft>
                        <a:buClr>
                          <a:schemeClr val="dk1"/>
                        </a:buClr>
                        <a:buSzPts val="1000"/>
                        <a:buFont typeface="Calibri"/>
                        <a:buNone/>
                      </a:pPr>
                      <a:r>
                        <a:t/>
                      </a:r>
                      <a:endParaRPr sz="1000" u="none" cap="none" strike="noStrike">
                        <a:latin typeface="Kanit"/>
                        <a:ea typeface="Kanit"/>
                        <a:cs typeface="Kanit"/>
                        <a:sym typeface="Kanit"/>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000"/>
                        <a:buFont typeface="Calibri"/>
                        <a:buNone/>
                      </a:pPr>
                      <a:r>
                        <a:t/>
                      </a:r>
                      <a:endParaRPr sz="1000" u="none" cap="none" strike="noStrike">
                        <a:latin typeface="Inter"/>
                        <a:ea typeface="Inter"/>
                        <a:cs typeface="Inter"/>
                        <a:sym typeface="Inter"/>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000"/>
                        <a:buFont typeface="Calibri"/>
                        <a:buNone/>
                      </a:pPr>
                      <a:r>
                        <a:t/>
                      </a:r>
                      <a:endParaRPr sz="1000" u="none" cap="none" strike="noStrike">
                        <a:latin typeface="Inter"/>
                        <a:ea typeface="Inter"/>
                        <a:cs typeface="Inter"/>
                        <a:sym typeface="Inter"/>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000"/>
                        <a:buFont typeface="Calibri"/>
                        <a:buNone/>
                      </a:pPr>
                      <a:r>
                        <a:t/>
                      </a:r>
                      <a:endParaRPr sz="1000" u="none" cap="none" strike="noStrike">
                        <a:latin typeface="Inter"/>
                        <a:ea typeface="Inter"/>
                        <a:cs typeface="Inter"/>
                        <a:sym typeface="Inter"/>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FFFFFF"/>
                    </a:solidFill>
                  </a:tcPr>
                </a:tc>
              </a:tr>
              <a:tr h="475500">
                <a:tc>
                  <a:txBody>
                    <a:bodyPr/>
                    <a:lstStyle/>
                    <a:p>
                      <a:pPr indent="0" lvl="0" marL="0" marR="0" rtl="0" algn="l">
                        <a:spcBef>
                          <a:spcPts val="0"/>
                        </a:spcBef>
                        <a:spcAft>
                          <a:spcPts val="0"/>
                        </a:spcAft>
                        <a:buClr>
                          <a:schemeClr val="dk1"/>
                        </a:buClr>
                        <a:buSzPts val="1000"/>
                        <a:buFont typeface="Calibri"/>
                        <a:buNone/>
                      </a:pPr>
                      <a:r>
                        <a:t/>
                      </a:r>
                      <a:endParaRPr sz="1000" u="none" cap="none" strike="noStrike">
                        <a:latin typeface="Kanit"/>
                        <a:ea typeface="Kanit"/>
                        <a:cs typeface="Kanit"/>
                        <a:sym typeface="Kanit"/>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000"/>
                        <a:buFont typeface="Calibri"/>
                        <a:buNone/>
                      </a:pPr>
                      <a:r>
                        <a:t/>
                      </a:r>
                      <a:endParaRPr sz="1000" u="none" cap="none" strike="noStrike">
                        <a:latin typeface="Inter"/>
                        <a:ea typeface="Inter"/>
                        <a:cs typeface="Inter"/>
                        <a:sym typeface="Inter"/>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000"/>
                        <a:buFont typeface="Calibri"/>
                        <a:buNone/>
                      </a:pPr>
                      <a:r>
                        <a:t/>
                      </a:r>
                      <a:endParaRPr sz="1000" u="none" cap="none" strike="noStrike">
                        <a:latin typeface="Inter"/>
                        <a:ea typeface="Inter"/>
                        <a:cs typeface="Inter"/>
                        <a:sym typeface="Inter"/>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000"/>
                        <a:buFont typeface="Calibri"/>
                        <a:buNone/>
                      </a:pPr>
                      <a:r>
                        <a:t/>
                      </a:r>
                      <a:endParaRPr sz="1000" u="none" cap="none" strike="noStrike">
                        <a:latin typeface="Inter"/>
                        <a:ea typeface="Inter"/>
                        <a:cs typeface="Inter"/>
                        <a:sym typeface="Inter"/>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FFFFFF"/>
                    </a:solidFill>
                  </a:tcPr>
                </a:tc>
              </a:tr>
            </a:tbl>
          </a:graphicData>
        </a:graphic>
      </p:graphicFrame>
      <p:sp>
        <p:nvSpPr>
          <p:cNvPr id="108" name="Google Shape;108;p9"/>
          <p:cNvSpPr/>
          <p:nvPr/>
        </p:nvSpPr>
        <p:spPr>
          <a:xfrm>
            <a:off x="502920" y="4224528"/>
            <a:ext cx="8138160" cy="530352"/>
          </a:xfrm>
          <a:prstGeom prst="roundRect">
            <a:avLst>
              <a:gd fmla="val 6897" name="adj"/>
            </a:avLst>
          </a:prstGeom>
          <a:solidFill>
            <a:srgbClr val="FFF0F2"/>
          </a:solidFill>
          <a:ln cap="flat" cmpd="sng" w="12700">
            <a:solidFill>
              <a:srgbClr val="FFF0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9"/>
          <p:cNvSpPr/>
          <p:nvPr/>
        </p:nvSpPr>
        <p:spPr>
          <a:xfrm>
            <a:off x="630936" y="4224528"/>
            <a:ext cx="7882128"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818FF"/>
              </a:buClr>
              <a:buSzPts val="900"/>
              <a:buFont typeface="Kanit"/>
              <a:buNone/>
            </a:pPr>
            <a:r>
              <a:rPr b="1" i="0" lang="en-US" sz="900" u="none" cap="none" strike="noStrike">
                <a:solidFill>
                  <a:srgbClr val="C50041"/>
                </a:solidFill>
                <a:latin typeface="Kanit"/>
                <a:ea typeface="Kanit"/>
                <a:cs typeface="Kanit"/>
                <a:sym typeface="Kanit"/>
              </a:rPr>
              <a:t>TIP</a:t>
            </a:r>
            <a:r>
              <a:rPr b="1" i="0" lang="en-US" sz="900" u="none" cap="none" strike="noStrike">
                <a:solidFill>
                  <a:srgbClr val="5818FF"/>
                </a:solidFill>
                <a:latin typeface="Kanit"/>
                <a:ea typeface="Kanit"/>
                <a:cs typeface="Kanit"/>
                <a:sym typeface="Kanit"/>
              </a:rPr>
              <a:t>  </a:t>
            </a:r>
            <a:r>
              <a:rPr b="0" i="0" lang="en-US" sz="900" u="none" cap="none" strike="noStrike">
                <a:solidFill>
                  <a:srgbClr val="1B0442"/>
                </a:solidFill>
                <a:latin typeface="Inter"/>
                <a:ea typeface="Inter"/>
                <a:cs typeface="Inter"/>
                <a:sym typeface="Inter"/>
              </a:rPr>
              <a:t>The highest-leverage slide of the kit: one row filled in by you. It cuts the "what do you mean exactly?" phase from six minutes to nothing. Make your example deliberately average so nobody feels they have to match it.</a:t>
            </a:r>
            <a:endParaRPr b="0" i="0" sz="900" u="none" cap="none" strike="noStrike">
              <a:solidFill>
                <a:schemeClr val="dk1"/>
              </a:solidFill>
              <a:latin typeface="Calibri"/>
              <a:ea typeface="Calibri"/>
              <a:cs typeface="Calibri"/>
              <a:sym typeface="Calibri"/>
            </a:endParaRPr>
          </a:p>
        </p:txBody>
      </p:sp>
      <p:sp>
        <p:nvSpPr>
          <p:cNvPr id="110" name="Google Shape;110;p9"/>
          <p:cNvSpPr/>
          <p:nvPr/>
        </p:nvSpPr>
        <p:spPr>
          <a:xfrm>
            <a:off x="502920" y="4846320"/>
            <a:ext cx="18288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0442"/>
              </a:buClr>
              <a:buSzPts val="750"/>
              <a:buFont typeface="Inter"/>
              <a:buNone/>
            </a:pPr>
            <a:r>
              <a:rPr b="0" i="0" lang="en-US" sz="750" u="none" cap="none" strike="noStrike">
                <a:solidFill>
                  <a:srgbClr val="1B0442"/>
                </a:solidFill>
                <a:latin typeface="Inter"/>
                <a:ea typeface="Inter"/>
                <a:cs typeface="Inter"/>
                <a:sym typeface="Inter"/>
              </a:rPr>
              <a:t>WWW.THIGA.CO</a:t>
            </a:r>
            <a:endParaRPr b="0" i="0" sz="750" u="none" cap="none" strike="noStrike">
              <a:solidFill>
                <a:schemeClr val="dk1"/>
              </a:solidFill>
              <a:latin typeface="Calibri"/>
              <a:ea typeface="Calibri"/>
              <a:cs typeface="Calibri"/>
              <a:sym typeface="Calibri"/>
            </a:endParaRPr>
          </a:p>
        </p:txBody>
      </p:sp>
      <p:pic>
        <p:nvPicPr>
          <p:cNvPr descr="preencoded.png" id="111" name="Google Shape;111;p9"/>
          <p:cNvPicPr preferRelativeResize="0"/>
          <p:nvPr/>
        </p:nvPicPr>
        <p:blipFill rotWithShape="1">
          <a:blip r:embed="rId3">
            <a:alphaModFix/>
          </a:blip>
          <a:srcRect b="0" l="0" r="0" t="0"/>
          <a:stretch/>
        </p:blipFill>
        <p:spPr>
          <a:xfrm>
            <a:off x="7635240" y="4846320"/>
            <a:ext cx="1005840" cy="122142"/>
          </a:xfrm>
          <a:prstGeom prst="rect">
            <a:avLst/>
          </a:prstGeom>
          <a:noFill/>
          <a:ln>
            <a:noFill/>
          </a:ln>
        </p:spPr>
      </p:pic>
      <p:sp>
        <p:nvSpPr>
          <p:cNvPr id="112" name="Google Shape;112;p9"/>
          <p:cNvSpPr/>
          <p:nvPr/>
        </p:nvSpPr>
        <p:spPr>
          <a:xfrm>
            <a:off x="7178040" y="4846320"/>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818FF"/>
              </a:buClr>
              <a:buSzPts val="1000"/>
              <a:buFont typeface="Kanit"/>
              <a:buNone/>
            </a:pPr>
            <a:r>
              <a:rPr b="1" i="0" lang="en-US" sz="1000" u="none" cap="none" strike="noStrike">
                <a:solidFill>
                  <a:srgbClr val="5818FF"/>
                </a:solidFill>
                <a:latin typeface="Kanit"/>
                <a:ea typeface="Kanit"/>
                <a:cs typeface="Kanit"/>
                <a:sym typeface="Kanit"/>
              </a:rPr>
              <a:t>6</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0FF"/>
        </a:solidFill>
      </p:bgPr>
    </p:bg>
    <p:spTree>
      <p:nvGrpSpPr>
        <p:cNvPr id="117" name="Shape 117"/>
        <p:cNvGrpSpPr/>
        <p:nvPr/>
      </p:nvGrpSpPr>
      <p:grpSpPr>
        <a:xfrm>
          <a:off x="0" y="0"/>
          <a:ext cx="0" cy="0"/>
          <a:chOff x="0" y="0"/>
          <a:chExt cx="0" cy="0"/>
        </a:xfrm>
      </p:grpSpPr>
      <p:sp>
        <p:nvSpPr>
          <p:cNvPr id="118" name="Google Shape;118;p10"/>
          <p:cNvSpPr/>
          <p:nvPr/>
        </p:nvSpPr>
        <p:spPr>
          <a:xfrm>
            <a:off x="502920" y="256032"/>
            <a:ext cx="59436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818FF"/>
              </a:buClr>
              <a:buSzPts val="850"/>
              <a:buFont typeface="Inter"/>
              <a:buNone/>
            </a:pPr>
            <a:r>
              <a:rPr b="1" i="0" lang="en-US" sz="850" u="none" cap="none" strike="noStrike">
                <a:solidFill>
                  <a:srgbClr val="5818FF"/>
                </a:solidFill>
                <a:latin typeface="Inter"/>
                <a:ea typeface="Inter"/>
                <a:cs typeface="Inter"/>
                <a:sym typeface="Inter"/>
              </a:rPr>
              <a:t>LET'S WORK(SHOP) · CO-ANIMATED WORKSHOP</a:t>
            </a:r>
            <a:endParaRPr b="0" i="0" sz="850" u="none" cap="none" strike="noStrike">
              <a:solidFill>
                <a:schemeClr val="dk1"/>
              </a:solidFill>
              <a:latin typeface="Calibri"/>
              <a:ea typeface="Calibri"/>
              <a:cs typeface="Calibri"/>
              <a:sym typeface="Calibri"/>
            </a:endParaRPr>
          </a:p>
        </p:txBody>
      </p:sp>
      <p:sp>
        <p:nvSpPr>
          <p:cNvPr id="119" name="Google Shape;119;p10"/>
          <p:cNvSpPr/>
          <p:nvPr/>
        </p:nvSpPr>
        <p:spPr>
          <a:xfrm>
            <a:off x="502920" y="475488"/>
            <a:ext cx="6766560" cy="420624"/>
          </a:xfrm>
          <a:prstGeom prst="rect">
            <a:avLst/>
          </a:prstGeom>
          <a:noFill/>
          <a:ln>
            <a:noFill/>
          </a:ln>
        </p:spPr>
        <p:txBody>
          <a:bodyPr anchorCtr="0" anchor="t" bIns="0" lIns="0" spcFirstLastPara="1" rIns="0" wrap="square" tIns="0">
            <a:noAutofit/>
          </a:bodyPr>
          <a:lstStyle/>
          <a:p>
            <a:pPr indent="0" lvl="0" marL="0" marR="0" rtl="0" algn="l">
              <a:lnSpc>
                <a:spcPct val="115789"/>
              </a:lnSpc>
              <a:spcBef>
                <a:spcPts val="0"/>
              </a:spcBef>
              <a:spcAft>
                <a:spcPts val="0"/>
              </a:spcAft>
              <a:buClr>
                <a:srgbClr val="1B0442"/>
              </a:buClr>
              <a:buSzPts val="1900"/>
              <a:buFont typeface="Kanit"/>
              <a:buNone/>
            </a:pPr>
            <a:r>
              <a:rPr b="1" i="0" lang="en-US" sz="1900" u="none" cap="none" strike="noStrike">
                <a:solidFill>
                  <a:srgbClr val="1B0442"/>
                </a:solidFill>
                <a:latin typeface="Kanit"/>
                <a:ea typeface="Kanit"/>
                <a:cs typeface="Kanit"/>
                <a:sym typeface="Kanit"/>
              </a:rPr>
              <a:t>SHARE-BACK RULES</a:t>
            </a:r>
            <a:endParaRPr b="0" i="0" sz="1900" u="none" cap="none" strike="noStrike">
              <a:solidFill>
                <a:schemeClr val="dk1"/>
              </a:solidFill>
              <a:latin typeface="Calibri"/>
              <a:ea typeface="Calibri"/>
              <a:cs typeface="Calibri"/>
              <a:sym typeface="Calibri"/>
            </a:endParaRPr>
          </a:p>
        </p:txBody>
      </p:sp>
      <p:sp>
        <p:nvSpPr>
          <p:cNvPr id="120" name="Google Shape;120;p10"/>
          <p:cNvSpPr/>
          <p:nvPr/>
        </p:nvSpPr>
        <p:spPr>
          <a:xfrm>
            <a:off x="502920" y="941832"/>
            <a:ext cx="1097280" cy="41148"/>
          </a:xfrm>
          <a:prstGeom prst="rect">
            <a:avLst/>
          </a:prstGeom>
          <a:solidFill>
            <a:srgbClr val="5818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0"/>
          <p:cNvSpPr/>
          <p:nvPr/>
        </p:nvSpPr>
        <p:spPr>
          <a:xfrm>
            <a:off x="502920" y="1179576"/>
            <a:ext cx="8138160" cy="2103120"/>
          </a:xfrm>
          <a:prstGeom prst="rect">
            <a:avLst/>
          </a:prstGeom>
          <a:noFill/>
          <a:ln>
            <a:noFill/>
          </a:ln>
        </p:spPr>
        <p:txBody>
          <a:bodyPr anchorCtr="0" anchor="t" bIns="0" lIns="0" spcFirstLastPara="1" rIns="0" wrap="square" tIns="0">
            <a:noAutofit/>
          </a:bodyPr>
          <a:lstStyle/>
          <a:p>
            <a:pPr indent="-177800" lvl="0" marL="177800" marR="0" rtl="0" algn="l">
              <a:lnSpc>
                <a:spcPct val="121428"/>
              </a:lnSpc>
              <a:spcBef>
                <a:spcPts val="0"/>
              </a:spcBef>
              <a:spcAft>
                <a:spcPts val="0"/>
              </a:spcAft>
              <a:buClr>
                <a:srgbClr val="1B0442"/>
              </a:buClr>
              <a:buSzPts val="1400"/>
              <a:buFont typeface="Inter"/>
              <a:buChar char="•"/>
            </a:pPr>
            <a:r>
              <a:rPr b="0" i="0" lang="en-US" sz="1400" u="none" cap="none" strike="noStrike">
                <a:solidFill>
                  <a:srgbClr val="1B0442"/>
                </a:solidFill>
                <a:latin typeface="Inter"/>
                <a:ea typeface="Inter"/>
                <a:cs typeface="Inter"/>
                <a:sym typeface="Inter"/>
              </a:rPr>
              <a:t>90 seconds per table. Timer visible, no exceptions.</a:t>
            </a:r>
            <a:endParaRPr b="0" i="0" sz="1400" u="none" cap="none" strike="noStrike">
              <a:solidFill>
                <a:schemeClr val="dk1"/>
              </a:solidFill>
              <a:latin typeface="Calibri"/>
              <a:ea typeface="Calibri"/>
              <a:cs typeface="Calibri"/>
              <a:sym typeface="Calibri"/>
            </a:endParaRPr>
          </a:p>
          <a:p>
            <a:pPr indent="-177800" lvl="0" marL="177800" marR="0" rtl="0" algn="l">
              <a:lnSpc>
                <a:spcPct val="121428"/>
              </a:lnSpc>
              <a:spcBef>
                <a:spcPts val="800"/>
              </a:spcBef>
              <a:spcAft>
                <a:spcPts val="0"/>
              </a:spcAft>
              <a:buClr>
                <a:srgbClr val="1B0442"/>
              </a:buClr>
              <a:buSzPts val="1400"/>
              <a:buFont typeface="Inter"/>
              <a:buChar char="•"/>
            </a:pPr>
            <a:r>
              <a:rPr b="0" i="0" lang="en-US" sz="1400" u="none" cap="none" strike="noStrike">
                <a:solidFill>
                  <a:srgbClr val="1B0442"/>
                </a:solidFill>
                <a:latin typeface="Inter"/>
                <a:ea typeface="Inter"/>
                <a:cs typeface="Inter"/>
                <a:sym typeface="Inter"/>
              </a:rPr>
              <a:t>Your three outputs, nothing else.</a:t>
            </a:r>
            <a:endParaRPr b="0" i="0" sz="1400" u="none" cap="none" strike="noStrike">
              <a:solidFill>
                <a:schemeClr val="dk1"/>
              </a:solidFill>
              <a:latin typeface="Calibri"/>
              <a:ea typeface="Calibri"/>
              <a:cs typeface="Calibri"/>
              <a:sym typeface="Calibri"/>
            </a:endParaRPr>
          </a:p>
          <a:p>
            <a:pPr indent="-177800" lvl="0" marL="177800" marR="0" rtl="0" algn="l">
              <a:lnSpc>
                <a:spcPct val="121428"/>
              </a:lnSpc>
              <a:spcBef>
                <a:spcPts val="800"/>
              </a:spcBef>
              <a:spcAft>
                <a:spcPts val="0"/>
              </a:spcAft>
              <a:buClr>
                <a:srgbClr val="1B0442"/>
              </a:buClr>
              <a:buSzPts val="1400"/>
              <a:buFont typeface="Inter"/>
              <a:buChar char="•"/>
            </a:pPr>
            <a:r>
              <a:rPr b="0" i="0" lang="en-US" sz="1400" u="none" cap="none" strike="noStrike">
                <a:solidFill>
                  <a:srgbClr val="1B0442"/>
                </a:solidFill>
                <a:latin typeface="Inter"/>
                <a:ea typeface="Inter"/>
                <a:cs typeface="Inter"/>
                <a:sym typeface="Inter"/>
              </a:rPr>
              <a:t>No re-explaining the context.</a:t>
            </a:r>
            <a:endParaRPr b="0" i="0" sz="1400" u="none" cap="none" strike="noStrike">
              <a:solidFill>
                <a:schemeClr val="dk1"/>
              </a:solidFill>
              <a:latin typeface="Calibri"/>
              <a:ea typeface="Calibri"/>
              <a:cs typeface="Calibri"/>
              <a:sym typeface="Calibri"/>
            </a:endParaRPr>
          </a:p>
        </p:txBody>
      </p:sp>
      <p:sp>
        <p:nvSpPr>
          <p:cNvPr id="122" name="Google Shape;122;p10"/>
          <p:cNvSpPr/>
          <p:nvPr/>
        </p:nvSpPr>
        <p:spPr>
          <a:xfrm>
            <a:off x="502920" y="3392424"/>
            <a:ext cx="8138160" cy="548640"/>
          </a:xfrm>
          <a:prstGeom prst="rect">
            <a:avLst/>
          </a:prstGeom>
          <a:noFill/>
          <a:ln>
            <a:noFill/>
          </a:ln>
        </p:spPr>
        <p:txBody>
          <a:bodyPr anchorCtr="0" anchor="ctr" bIns="0" lIns="0" spcFirstLastPara="1" rIns="0" wrap="square" tIns="0">
            <a:noAutofit/>
          </a:bodyPr>
          <a:lstStyle/>
          <a:p>
            <a:pPr indent="0" lvl="0" marL="0" marR="0" rtl="0" algn="l">
              <a:lnSpc>
                <a:spcPct val="146666"/>
              </a:lnSpc>
              <a:spcBef>
                <a:spcPts val="0"/>
              </a:spcBef>
              <a:spcAft>
                <a:spcPts val="0"/>
              </a:spcAft>
              <a:buClr>
                <a:srgbClr val="5818FF"/>
              </a:buClr>
              <a:buSzPts val="1500"/>
              <a:buFont typeface="Kanit"/>
              <a:buNone/>
            </a:pPr>
            <a:r>
              <a:rPr b="0" i="0" lang="en-US" sz="1500" u="none" cap="none" strike="noStrike">
                <a:solidFill>
                  <a:srgbClr val="5818FF"/>
                </a:solidFill>
                <a:latin typeface="Kanit"/>
                <a:ea typeface="Kanit"/>
                <a:cs typeface="Kanit"/>
                <a:sym typeface="Kanit"/>
              </a:rPr>
              <a:t>Scribe: [name], consolidates everything by end of day</a:t>
            </a:r>
            <a:endParaRPr b="0" i="0" sz="1500" u="none" cap="none" strike="noStrike">
              <a:solidFill>
                <a:schemeClr val="dk1"/>
              </a:solidFill>
              <a:latin typeface="Calibri"/>
              <a:ea typeface="Calibri"/>
              <a:cs typeface="Calibri"/>
              <a:sym typeface="Calibri"/>
            </a:endParaRPr>
          </a:p>
        </p:txBody>
      </p:sp>
      <p:sp>
        <p:nvSpPr>
          <p:cNvPr id="123" name="Google Shape;123;p10"/>
          <p:cNvSpPr/>
          <p:nvPr/>
        </p:nvSpPr>
        <p:spPr>
          <a:xfrm>
            <a:off x="502920" y="4224528"/>
            <a:ext cx="8138160" cy="530352"/>
          </a:xfrm>
          <a:prstGeom prst="roundRect">
            <a:avLst>
              <a:gd fmla="val 6897" name="adj"/>
            </a:avLst>
          </a:prstGeom>
          <a:solidFill>
            <a:srgbClr val="FFF0F2"/>
          </a:solidFill>
          <a:ln cap="flat" cmpd="sng" w="12700">
            <a:solidFill>
              <a:srgbClr val="FFF0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0"/>
          <p:cNvSpPr/>
          <p:nvPr/>
        </p:nvSpPr>
        <p:spPr>
          <a:xfrm>
            <a:off x="630936" y="4224528"/>
            <a:ext cx="7882128"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818FF"/>
              </a:buClr>
              <a:buSzPts val="900"/>
              <a:buFont typeface="Kanit"/>
              <a:buNone/>
            </a:pPr>
            <a:r>
              <a:rPr b="1" i="0" lang="en-US" sz="900" u="none" cap="none" strike="noStrike">
                <a:solidFill>
                  <a:srgbClr val="C50041"/>
                </a:solidFill>
                <a:latin typeface="Kanit"/>
                <a:ea typeface="Kanit"/>
                <a:cs typeface="Kanit"/>
                <a:sym typeface="Kanit"/>
              </a:rPr>
              <a:t>TIP</a:t>
            </a:r>
            <a:r>
              <a:rPr b="1" i="0" lang="en-US" sz="900" u="none" cap="none" strike="noStrike">
                <a:solidFill>
                  <a:srgbClr val="5818FF"/>
                </a:solidFill>
                <a:latin typeface="Kanit"/>
                <a:ea typeface="Kanit"/>
                <a:cs typeface="Kanit"/>
                <a:sym typeface="Kanit"/>
              </a:rPr>
              <a:t>  </a:t>
            </a:r>
            <a:r>
              <a:rPr b="0" i="0" lang="en-US" sz="900" u="none" cap="none" strike="noStrike">
                <a:solidFill>
                  <a:srgbClr val="1B0442"/>
                </a:solidFill>
                <a:latin typeface="Inter"/>
                <a:ea typeface="Inter"/>
                <a:cs typeface="Inter"/>
                <a:sym typeface="Inter"/>
              </a:rPr>
              <a:t>Eight tables at ninety seconds is twelve minutes with zero slack. Warn them you'll cut them off, then do it on the first table. The rest will behave.</a:t>
            </a:r>
            <a:endParaRPr b="0" i="0" sz="900" u="none" cap="none" strike="noStrike">
              <a:solidFill>
                <a:schemeClr val="dk1"/>
              </a:solidFill>
              <a:latin typeface="Calibri"/>
              <a:ea typeface="Calibri"/>
              <a:cs typeface="Calibri"/>
              <a:sym typeface="Calibri"/>
            </a:endParaRPr>
          </a:p>
        </p:txBody>
      </p:sp>
      <p:sp>
        <p:nvSpPr>
          <p:cNvPr id="125" name="Google Shape;125;p10"/>
          <p:cNvSpPr/>
          <p:nvPr/>
        </p:nvSpPr>
        <p:spPr>
          <a:xfrm>
            <a:off x="502920" y="4846320"/>
            <a:ext cx="18288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0442"/>
              </a:buClr>
              <a:buSzPts val="750"/>
              <a:buFont typeface="Inter"/>
              <a:buNone/>
            </a:pPr>
            <a:r>
              <a:rPr b="0" i="0" lang="en-US" sz="750" u="none" cap="none" strike="noStrike">
                <a:solidFill>
                  <a:srgbClr val="1B0442"/>
                </a:solidFill>
                <a:latin typeface="Inter"/>
                <a:ea typeface="Inter"/>
                <a:cs typeface="Inter"/>
                <a:sym typeface="Inter"/>
              </a:rPr>
              <a:t>WWW.THIGA.CO</a:t>
            </a:r>
            <a:endParaRPr b="0" i="0" sz="750" u="none" cap="none" strike="noStrike">
              <a:solidFill>
                <a:schemeClr val="dk1"/>
              </a:solidFill>
              <a:latin typeface="Calibri"/>
              <a:ea typeface="Calibri"/>
              <a:cs typeface="Calibri"/>
              <a:sym typeface="Calibri"/>
            </a:endParaRPr>
          </a:p>
        </p:txBody>
      </p:sp>
      <p:pic>
        <p:nvPicPr>
          <p:cNvPr descr="preencoded.png" id="126" name="Google Shape;126;p10"/>
          <p:cNvPicPr preferRelativeResize="0"/>
          <p:nvPr/>
        </p:nvPicPr>
        <p:blipFill rotWithShape="1">
          <a:blip r:embed="rId3">
            <a:alphaModFix/>
          </a:blip>
          <a:srcRect b="0" l="0" r="0" t="0"/>
          <a:stretch/>
        </p:blipFill>
        <p:spPr>
          <a:xfrm>
            <a:off x="7635240" y="4846320"/>
            <a:ext cx="1005840" cy="122142"/>
          </a:xfrm>
          <a:prstGeom prst="rect">
            <a:avLst/>
          </a:prstGeom>
          <a:noFill/>
          <a:ln>
            <a:noFill/>
          </a:ln>
        </p:spPr>
      </p:pic>
      <p:sp>
        <p:nvSpPr>
          <p:cNvPr id="127" name="Google Shape;127;p10"/>
          <p:cNvSpPr/>
          <p:nvPr/>
        </p:nvSpPr>
        <p:spPr>
          <a:xfrm>
            <a:off x="7178040" y="4846320"/>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818FF"/>
              </a:buClr>
              <a:buSzPts val="1000"/>
              <a:buFont typeface="Kanit"/>
              <a:buNone/>
            </a:pPr>
            <a:r>
              <a:rPr b="1" i="0" lang="en-US" sz="1000" u="none" cap="none" strike="noStrike">
                <a:solidFill>
                  <a:srgbClr val="5818FF"/>
                </a:solidFill>
                <a:latin typeface="Kanit"/>
                <a:ea typeface="Kanit"/>
                <a:cs typeface="Kanit"/>
                <a:sym typeface="Kanit"/>
              </a:rPr>
              <a:t>7</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0442"/>
        </a:solidFill>
      </p:bgPr>
    </p:bg>
    <p:spTree>
      <p:nvGrpSpPr>
        <p:cNvPr id="132" name="Shape 132"/>
        <p:cNvGrpSpPr/>
        <p:nvPr/>
      </p:nvGrpSpPr>
      <p:grpSpPr>
        <a:xfrm>
          <a:off x="0" y="0"/>
          <a:ext cx="0" cy="0"/>
          <a:chOff x="0" y="0"/>
          <a:chExt cx="0" cy="0"/>
        </a:xfrm>
      </p:grpSpPr>
      <p:sp>
        <p:nvSpPr>
          <p:cNvPr id="133" name="Google Shape;133;p11"/>
          <p:cNvSpPr/>
          <p:nvPr/>
        </p:nvSpPr>
        <p:spPr>
          <a:xfrm>
            <a:off x="0" y="0"/>
            <a:ext cx="201168" cy="5143500"/>
          </a:xfrm>
          <a:prstGeom prst="rect">
            <a:avLst/>
          </a:prstGeom>
          <a:solidFill>
            <a:srgbClr val="5818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1"/>
          <p:cNvSpPr/>
          <p:nvPr/>
        </p:nvSpPr>
        <p:spPr>
          <a:xfrm>
            <a:off x="502920" y="256032"/>
            <a:ext cx="59436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ACFF"/>
              </a:buClr>
              <a:buSzPts val="850"/>
              <a:buFont typeface="Inter"/>
              <a:buNone/>
            </a:pPr>
            <a:r>
              <a:rPr b="1" i="0" lang="en-US" sz="850" u="none" cap="none" strike="noStrike">
                <a:solidFill>
                  <a:srgbClr val="C4ACFF"/>
                </a:solidFill>
                <a:latin typeface="Inter"/>
                <a:ea typeface="Inter"/>
                <a:cs typeface="Inter"/>
                <a:sym typeface="Inter"/>
              </a:rPr>
              <a:t>LET'S WORK(SHOP) · CO-ANIMATED WORKSHOP</a:t>
            </a:r>
            <a:endParaRPr b="0" i="0" sz="850" u="none" cap="none" strike="noStrike">
              <a:solidFill>
                <a:schemeClr val="dk1"/>
              </a:solidFill>
              <a:latin typeface="Calibri"/>
              <a:ea typeface="Calibri"/>
              <a:cs typeface="Calibri"/>
              <a:sym typeface="Calibri"/>
            </a:endParaRPr>
          </a:p>
        </p:txBody>
      </p:sp>
      <p:sp>
        <p:nvSpPr>
          <p:cNvPr id="135" name="Google Shape;135;p11"/>
          <p:cNvSpPr/>
          <p:nvPr/>
        </p:nvSpPr>
        <p:spPr>
          <a:xfrm>
            <a:off x="502920" y="475488"/>
            <a:ext cx="6766560" cy="420624"/>
          </a:xfrm>
          <a:prstGeom prst="rect">
            <a:avLst/>
          </a:prstGeom>
          <a:noFill/>
          <a:ln>
            <a:noFill/>
          </a:ln>
        </p:spPr>
        <p:txBody>
          <a:bodyPr anchorCtr="0" anchor="t" bIns="0" lIns="0" spcFirstLastPara="1" rIns="0" wrap="square" tIns="0">
            <a:noAutofit/>
          </a:bodyPr>
          <a:lstStyle/>
          <a:p>
            <a:pPr indent="0" lvl="0" marL="0" marR="0" rtl="0" algn="l">
              <a:lnSpc>
                <a:spcPct val="115789"/>
              </a:lnSpc>
              <a:spcBef>
                <a:spcPts val="0"/>
              </a:spcBef>
              <a:spcAft>
                <a:spcPts val="0"/>
              </a:spcAft>
              <a:buClr>
                <a:srgbClr val="FFFFFF"/>
              </a:buClr>
              <a:buSzPts val="1900"/>
              <a:buFont typeface="Kanit"/>
              <a:buNone/>
            </a:pPr>
            <a:r>
              <a:rPr b="1" i="0" lang="en-US" sz="1900" u="none" cap="none" strike="noStrike">
                <a:solidFill>
                  <a:srgbClr val="FFFFFF"/>
                </a:solidFill>
                <a:latin typeface="Kanit"/>
                <a:ea typeface="Kanit"/>
                <a:cs typeface="Kanit"/>
                <a:sym typeface="Kanit"/>
              </a:rPr>
              <a:t>SO WHAT HAPPENS NEXT</a:t>
            </a:r>
            <a:endParaRPr b="0" i="0" sz="1900" u="none" cap="none" strike="noStrike">
              <a:solidFill>
                <a:schemeClr val="dk1"/>
              </a:solidFill>
              <a:latin typeface="Calibri"/>
              <a:ea typeface="Calibri"/>
              <a:cs typeface="Calibri"/>
              <a:sym typeface="Calibri"/>
            </a:endParaRPr>
          </a:p>
        </p:txBody>
      </p:sp>
      <p:sp>
        <p:nvSpPr>
          <p:cNvPr id="136" name="Google Shape;136;p11"/>
          <p:cNvSpPr/>
          <p:nvPr/>
        </p:nvSpPr>
        <p:spPr>
          <a:xfrm>
            <a:off x="502920" y="941832"/>
            <a:ext cx="1097280" cy="41148"/>
          </a:xfrm>
          <a:prstGeom prst="rect">
            <a:avLst/>
          </a:prstGeom>
          <a:solidFill>
            <a:srgbClr val="5818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137" name="Google Shape;137;p11"/>
          <p:cNvGraphicFramePr/>
          <p:nvPr/>
        </p:nvGraphicFramePr>
        <p:xfrm>
          <a:off x="502920" y="1179576"/>
          <a:ext cx="3000000" cy="3000000"/>
        </p:xfrm>
        <a:graphic>
          <a:graphicData uri="http://schemas.openxmlformats.org/drawingml/2006/table">
            <a:tbl>
              <a:tblPr>
                <a:noFill/>
                <a:tableStyleId>{170FA030-2093-4A06-A46F-41E9CF246CDF}</a:tableStyleId>
              </a:tblPr>
              <a:tblGrid>
                <a:gridCol w="3108950"/>
                <a:gridCol w="2011675"/>
                <a:gridCol w="1188725"/>
                <a:gridCol w="1828800"/>
              </a:tblGrid>
              <a:tr h="475500">
                <a:tc>
                  <a:txBody>
                    <a:bodyPr/>
                    <a:lstStyle/>
                    <a:p>
                      <a:pPr indent="0" lvl="0" marL="0" marR="0" rtl="0" algn="l">
                        <a:spcBef>
                          <a:spcPts val="0"/>
                        </a:spcBef>
                        <a:spcAft>
                          <a:spcPts val="0"/>
                        </a:spcAft>
                        <a:buClr>
                          <a:srgbClr val="FFFFFF"/>
                        </a:buClr>
                        <a:buSzPts val="1000"/>
                        <a:buFont typeface="Kanit"/>
                        <a:buNone/>
                      </a:pPr>
                      <a:r>
                        <a:rPr b="1" lang="en-US" sz="1000" u="none" cap="none" strike="noStrike">
                          <a:solidFill>
                            <a:srgbClr val="FFFFFF"/>
                          </a:solidFill>
                          <a:latin typeface="Kanit"/>
                          <a:ea typeface="Kanit"/>
                          <a:cs typeface="Kanit"/>
                          <a:sym typeface="Kanit"/>
                        </a:rPr>
                        <a:t>DECISION</a:t>
                      </a:r>
                      <a:endParaRPr sz="1000" u="none" cap="none" strike="noStrike">
                        <a:latin typeface="Kanit"/>
                        <a:ea typeface="Kanit"/>
                        <a:cs typeface="Kanit"/>
                        <a:sym typeface="Kanit"/>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1B0442"/>
                    </a:solidFill>
                  </a:tcPr>
                </a:tc>
                <a:tc>
                  <a:txBody>
                    <a:bodyPr/>
                    <a:lstStyle/>
                    <a:p>
                      <a:pPr indent="0" lvl="0" marL="0" marR="0" rtl="0" algn="l">
                        <a:spcBef>
                          <a:spcPts val="0"/>
                        </a:spcBef>
                        <a:spcAft>
                          <a:spcPts val="0"/>
                        </a:spcAft>
                        <a:buClr>
                          <a:srgbClr val="FFFFFF"/>
                        </a:buClr>
                        <a:buSzPts val="1000"/>
                        <a:buFont typeface="Kanit"/>
                        <a:buNone/>
                      </a:pPr>
                      <a:r>
                        <a:rPr b="1" lang="en-US" sz="1000" u="none" cap="none" strike="noStrike">
                          <a:solidFill>
                            <a:srgbClr val="FFFFFF"/>
                          </a:solidFill>
                          <a:latin typeface="Kanit"/>
                          <a:ea typeface="Kanit"/>
                          <a:cs typeface="Kanit"/>
                          <a:sym typeface="Kanit"/>
                        </a:rPr>
                        <a:t>OWNER</a:t>
                      </a:r>
                      <a:endParaRPr sz="1000" u="none" cap="none" strike="noStrike">
                        <a:latin typeface="Kanit"/>
                        <a:ea typeface="Kanit"/>
                        <a:cs typeface="Kanit"/>
                        <a:sym typeface="Kanit"/>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1B0442"/>
                    </a:solidFill>
                  </a:tcPr>
                </a:tc>
                <a:tc>
                  <a:txBody>
                    <a:bodyPr/>
                    <a:lstStyle/>
                    <a:p>
                      <a:pPr indent="0" lvl="0" marL="0" marR="0" rtl="0" algn="l">
                        <a:spcBef>
                          <a:spcPts val="0"/>
                        </a:spcBef>
                        <a:spcAft>
                          <a:spcPts val="0"/>
                        </a:spcAft>
                        <a:buClr>
                          <a:srgbClr val="FFFFFF"/>
                        </a:buClr>
                        <a:buSzPts val="1000"/>
                        <a:buFont typeface="Kanit"/>
                        <a:buNone/>
                      </a:pPr>
                      <a:r>
                        <a:rPr b="1" lang="en-US" sz="1000" u="none" cap="none" strike="noStrike">
                          <a:solidFill>
                            <a:srgbClr val="FFFFFF"/>
                          </a:solidFill>
                          <a:latin typeface="Kanit"/>
                          <a:ea typeface="Kanit"/>
                          <a:cs typeface="Kanit"/>
                          <a:sym typeface="Kanit"/>
                        </a:rPr>
                        <a:t>BY WHEN</a:t>
                      </a:r>
                      <a:endParaRPr sz="1000" u="none" cap="none" strike="noStrike">
                        <a:latin typeface="Kanit"/>
                        <a:ea typeface="Kanit"/>
                        <a:cs typeface="Kanit"/>
                        <a:sym typeface="Kanit"/>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1B0442"/>
                    </a:solidFill>
                  </a:tcPr>
                </a:tc>
                <a:tc>
                  <a:txBody>
                    <a:bodyPr/>
                    <a:lstStyle/>
                    <a:p>
                      <a:pPr indent="0" lvl="0" marL="0" marR="0" rtl="0" algn="l">
                        <a:spcBef>
                          <a:spcPts val="0"/>
                        </a:spcBef>
                        <a:spcAft>
                          <a:spcPts val="0"/>
                        </a:spcAft>
                        <a:buClr>
                          <a:srgbClr val="FFFFFF"/>
                        </a:buClr>
                        <a:buSzPts val="1000"/>
                        <a:buFont typeface="Kanit"/>
                        <a:buNone/>
                      </a:pPr>
                      <a:r>
                        <a:rPr b="1" lang="en-US" sz="1000" u="none" cap="none" strike="noStrike">
                          <a:solidFill>
                            <a:srgbClr val="FFFFFF"/>
                          </a:solidFill>
                          <a:latin typeface="Kanit"/>
                          <a:ea typeface="Kanit"/>
                          <a:cs typeface="Kanit"/>
                          <a:sym typeface="Kanit"/>
                        </a:rPr>
                        <a:t>WHERE IT LANDS</a:t>
                      </a:r>
                      <a:endParaRPr sz="1000" u="none" cap="none" strike="noStrike">
                        <a:latin typeface="Kanit"/>
                        <a:ea typeface="Kanit"/>
                        <a:cs typeface="Kanit"/>
                        <a:sym typeface="Kanit"/>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1B0442"/>
                    </a:solidFill>
                  </a:tcPr>
                </a:tc>
              </a:tr>
              <a:tr h="475500">
                <a:tc>
                  <a:txBody>
                    <a:bodyPr/>
                    <a:lstStyle/>
                    <a:p>
                      <a:pPr indent="0" lvl="0" marL="0" marR="0" rtl="0" algn="l">
                        <a:spcBef>
                          <a:spcPts val="0"/>
                        </a:spcBef>
                        <a:spcAft>
                          <a:spcPts val="0"/>
                        </a:spcAft>
                        <a:buClr>
                          <a:srgbClr val="1B0442"/>
                        </a:buClr>
                        <a:buSzPts val="1000"/>
                        <a:buFont typeface="Kanit"/>
                        <a:buNone/>
                      </a:pPr>
                      <a:r>
                        <a:rPr b="1" lang="en-US" sz="1000" u="none" cap="none" strike="noStrike">
                          <a:solidFill>
                            <a:srgbClr val="1B0442"/>
                          </a:solidFill>
                          <a:latin typeface="Kanit"/>
                          <a:ea typeface="Kanit"/>
                          <a:cs typeface="Kanit"/>
                          <a:sym typeface="Kanit"/>
                        </a:rPr>
                        <a:t>[…]</a:t>
                      </a:r>
                      <a:endParaRPr sz="1000" u="none" cap="none" strike="noStrike">
                        <a:latin typeface="Kanit"/>
                        <a:ea typeface="Kanit"/>
                        <a:cs typeface="Kanit"/>
                        <a:sym typeface="Kanit"/>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0442"/>
                        </a:buClr>
                        <a:buSzPts val="1000"/>
                        <a:buFont typeface="Inter"/>
                        <a:buNone/>
                      </a:pPr>
                      <a:r>
                        <a:rPr lang="en-US" sz="1000" u="none" cap="none" strike="noStrike">
                          <a:solidFill>
                            <a:srgbClr val="1B0442"/>
                          </a:solidFill>
                          <a:latin typeface="Inter"/>
                          <a:ea typeface="Inter"/>
                          <a:cs typeface="Inter"/>
                          <a:sym typeface="Inter"/>
                        </a:rPr>
                        <a:t>[name]</a:t>
                      </a:r>
                      <a:endParaRPr sz="1000" u="none" cap="none" strike="noStrike">
                        <a:latin typeface="Inter"/>
                        <a:ea typeface="Inter"/>
                        <a:cs typeface="Inter"/>
                        <a:sym typeface="Inter"/>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0442"/>
                        </a:buClr>
                        <a:buSzPts val="1000"/>
                        <a:buFont typeface="Inter"/>
                        <a:buNone/>
                      </a:pPr>
                      <a:r>
                        <a:rPr lang="en-US" sz="1000" u="none" cap="none" strike="noStrike">
                          <a:solidFill>
                            <a:srgbClr val="1B0442"/>
                          </a:solidFill>
                          <a:latin typeface="Inter"/>
                          <a:ea typeface="Inter"/>
                          <a:cs typeface="Inter"/>
                          <a:sym typeface="Inter"/>
                        </a:rPr>
                        <a:t>[date]</a:t>
                      </a:r>
                      <a:endParaRPr sz="1000" u="none" cap="none" strike="noStrike">
                        <a:latin typeface="Inter"/>
                        <a:ea typeface="Inter"/>
                        <a:cs typeface="Inter"/>
                        <a:sym typeface="Inter"/>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0442"/>
                        </a:buClr>
                        <a:buSzPts val="1000"/>
                        <a:buFont typeface="Inter"/>
                        <a:buNone/>
                      </a:pPr>
                      <a:r>
                        <a:rPr lang="en-US" sz="1000" u="none" cap="none" strike="noStrike">
                          <a:solidFill>
                            <a:srgbClr val="1B0442"/>
                          </a:solidFill>
                          <a:latin typeface="Inter"/>
                          <a:ea typeface="Inter"/>
                          <a:cs typeface="Inter"/>
                          <a:sym typeface="Inter"/>
                        </a:rPr>
                        <a:t>[link]</a:t>
                      </a:r>
                      <a:endParaRPr sz="1000" u="none" cap="none" strike="noStrike">
                        <a:latin typeface="Inter"/>
                        <a:ea typeface="Inter"/>
                        <a:cs typeface="Inter"/>
                        <a:sym typeface="Inter"/>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FFFFFF"/>
                    </a:solidFill>
                  </a:tcPr>
                </a:tc>
              </a:tr>
              <a:tr h="475500">
                <a:tc>
                  <a:txBody>
                    <a:bodyPr/>
                    <a:lstStyle/>
                    <a:p>
                      <a:pPr indent="0" lvl="0" marL="0" marR="0" rtl="0" algn="l">
                        <a:spcBef>
                          <a:spcPts val="0"/>
                        </a:spcBef>
                        <a:spcAft>
                          <a:spcPts val="0"/>
                        </a:spcAft>
                        <a:buClr>
                          <a:srgbClr val="1B0442"/>
                        </a:buClr>
                        <a:buSzPts val="1000"/>
                        <a:buFont typeface="Kanit"/>
                        <a:buNone/>
                      </a:pPr>
                      <a:r>
                        <a:rPr b="1" lang="en-US" sz="1000" u="none" cap="none" strike="noStrike">
                          <a:solidFill>
                            <a:srgbClr val="1B0442"/>
                          </a:solidFill>
                          <a:latin typeface="Kanit"/>
                          <a:ea typeface="Kanit"/>
                          <a:cs typeface="Kanit"/>
                          <a:sym typeface="Kanit"/>
                        </a:rPr>
                        <a:t>[…]</a:t>
                      </a:r>
                      <a:endParaRPr sz="1000" u="none" cap="none" strike="noStrike">
                        <a:latin typeface="Kanit"/>
                        <a:ea typeface="Kanit"/>
                        <a:cs typeface="Kanit"/>
                        <a:sym typeface="Kanit"/>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0442"/>
                        </a:buClr>
                        <a:buSzPts val="1000"/>
                        <a:buFont typeface="Inter"/>
                        <a:buNone/>
                      </a:pPr>
                      <a:r>
                        <a:rPr lang="en-US" sz="1000" u="none" cap="none" strike="noStrike">
                          <a:solidFill>
                            <a:srgbClr val="1B0442"/>
                          </a:solidFill>
                          <a:latin typeface="Inter"/>
                          <a:ea typeface="Inter"/>
                          <a:cs typeface="Inter"/>
                          <a:sym typeface="Inter"/>
                        </a:rPr>
                        <a:t>[name]</a:t>
                      </a:r>
                      <a:endParaRPr sz="1000" u="none" cap="none" strike="noStrike">
                        <a:latin typeface="Inter"/>
                        <a:ea typeface="Inter"/>
                        <a:cs typeface="Inter"/>
                        <a:sym typeface="Inter"/>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0442"/>
                        </a:buClr>
                        <a:buSzPts val="1000"/>
                        <a:buFont typeface="Inter"/>
                        <a:buNone/>
                      </a:pPr>
                      <a:r>
                        <a:rPr lang="en-US" sz="1000" u="none" cap="none" strike="noStrike">
                          <a:solidFill>
                            <a:srgbClr val="1B0442"/>
                          </a:solidFill>
                          <a:latin typeface="Inter"/>
                          <a:ea typeface="Inter"/>
                          <a:cs typeface="Inter"/>
                          <a:sym typeface="Inter"/>
                        </a:rPr>
                        <a:t>[date]</a:t>
                      </a:r>
                      <a:endParaRPr sz="1000" u="none" cap="none" strike="noStrike">
                        <a:latin typeface="Inter"/>
                        <a:ea typeface="Inter"/>
                        <a:cs typeface="Inter"/>
                        <a:sym typeface="Inter"/>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0442"/>
                        </a:buClr>
                        <a:buSzPts val="1000"/>
                        <a:buFont typeface="Inter"/>
                        <a:buNone/>
                      </a:pPr>
                      <a:r>
                        <a:rPr lang="en-US" sz="1000" u="none" cap="none" strike="noStrike">
                          <a:solidFill>
                            <a:srgbClr val="1B0442"/>
                          </a:solidFill>
                          <a:latin typeface="Inter"/>
                          <a:ea typeface="Inter"/>
                          <a:cs typeface="Inter"/>
                          <a:sym typeface="Inter"/>
                        </a:rPr>
                        <a:t>[link]</a:t>
                      </a:r>
                      <a:endParaRPr sz="1000" u="none" cap="none" strike="noStrike">
                        <a:latin typeface="Inter"/>
                        <a:ea typeface="Inter"/>
                        <a:cs typeface="Inter"/>
                        <a:sym typeface="Inter"/>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FFFFFF"/>
                    </a:solidFill>
                  </a:tcPr>
                </a:tc>
              </a:tr>
            </a:tbl>
          </a:graphicData>
        </a:graphic>
      </p:graphicFrame>
      <p:sp>
        <p:nvSpPr>
          <p:cNvPr id="138" name="Google Shape;138;p11"/>
          <p:cNvSpPr/>
          <p:nvPr/>
        </p:nvSpPr>
        <p:spPr>
          <a:xfrm>
            <a:off x="502920" y="2734056"/>
            <a:ext cx="8138160" cy="594360"/>
          </a:xfrm>
          <a:prstGeom prst="rect">
            <a:avLst/>
          </a:prstGeom>
          <a:noFill/>
          <a:ln>
            <a:noFill/>
          </a:ln>
        </p:spPr>
        <p:txBody>
          <a:bodyPr anchorCtr="0" anchor="ctr" bIns="0" lIns="0" spcFirstLastPara="1" rIns="0" wrap="square" tIns="0">
            <a:noAutofit/>
          </a:bodyPr>
          <a:lstStyle/>
          <a:p>
            <a:pPr indent="0" lvl="0" marL="0" marR="0" rtl="0" algn="l">
              <a:lnSpc>
                <a:spcPct val="137500"/>
              </a:lnSpc>
              <a:spcBef>
                <a:spcPts val="0"/>
              </a:spcBef>
              <a:spcAft>
                <a:spcPts val="0"/>
              </a:spcAft>
              <a:buClr>
                <a:srgbClr val="C4ACFF"/>
              </a:buClr>
              <a:buSzPts val="1600"/>
              <a:buFont typeface="Kanit"/>
              <a:buNone/>
            </a:pPr>
            <a:r>
              <a:rPr b="0" i="0" lang="en-US" sz="1600" u="none" cap="none" strike="noStrike">
                <a:solidFill>
                  <a:srgbClr val="C4ACFF"/>
                </a:solidFill>
                <a:latin typeface="Kanit"/>
                <a:ea typeface="Kanit"/>
                <a:cs typeface="Kanit"/>
                <a:sym typeface="Kanit"/>
              </a:rPr>
              <a:t>Filled in live, in front of the room.</a:t>
            </a:r>
            <a:endParaRPr b="0" i="0" sz="1600" u="none" cap="none" strike="noStrike">
              <a:solidFill>
                <a:schemeClr val="dk1"/>
              </a:solidFill>
              <a:latin typeface="Calibri"/>
              <a:ea typeface="Calibri"/>
              <a:cs typeface="Calibri"/>
              <a:sym typeface="Calibri"/>
            </a:endParaRPr>
          </a:p>
        </p:txBody>
      </p:sp>
      <p:sp>
        <p:nvSpPr>
          <p:cNvPr id="139" name="Google Shape;139;p11"/>
          <p:cNvSpPr/>
          <p:nvPr/>
        </p:nvSpPr>
        <p:spPr>
          <a:xfrm>
            <a:off x="502920" y="4261104"/>
            <a:ext cx="81381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ACFF"/>
              </a:buClr>
              <a:buSzPts val="900"/>
              <a:buFont typeface="Kanit"/>
              <a:buNone/>
            </a:pPr>
            <a:r>
              <a:rPr b="1" i="0" lang="en-US" sz="900" u="none" cap="none" strike="noStrike">
                <a:solidFill>
                  <a:srgbClr val="C4ACFF"/>
                </a:solidFill>
                <a:latin typeface="Kanit"/>
                <a:ea typeface="Kanit"/>
                <a:cs typeface="Kanit"/>
                <a:sym typeface="Kanit"/>
              </a:rPr>
              <a:t>TIP  </a:t>
            </a:r>
            <a:r>
              <a:rPr b="0" i="0" lang="en-US" sz="900" u="none" cap="none" strike="noStrike">
                <a:solidFill>
                  <a:srgbClr val="E6DEFA"/>
                </a:solidFill>
                <a:latin typeface="Inter"/>
                <a:ea typeface="Inter"/>
                <a:cs typeface="Inter"/>
                <a:sym typeface="Inter"/>
              </a:rPr>
              <a:t>Names on a screen stick. An empty owner column is how a good workshop quietly turns into nothing, so fill it before anyone stands up.</a:t>
            </a:r>
            <a:endParaRPr b="0" i="0" sz="900" u="none" cap="none" strike="noStrike">
              <a:solidFill>
                <a:schemeClr val="dk1"/>
              </a:solidFill>
              <a:latin typeface="Calibri"/>
              <a:ea typeface="Calibri"/>
              <a:cs typeface="Calibri"/>
              <a:sym typeface="Calibri"/>
            </a:endParaRPr>
          </a:p>
        </p:txBody>
      </p:sp>
      <p:sp>
        <p:nvSpPr>
          <p:cNvPr id="140" name="Google Shape;140;p11"/>
          <p:cNvSpPr/>
          <p:nvPr/>
        </p:nvSpPr>
        <p:spPr>
          <a:xfrm>
            <a:off x="502920" y="4846320"/>
            <a:ext cx="18288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DEFA"/>
              </a:buClr>
              <a:buSzPts val="750"/>
              <a:buFont typeface="Inter"/>
              <a:buNone/>
            </a:pPr>
            <a:r>
              <a:rPr b="0" i="0" lang="en-US" sz="750" u="none" cap="none" strike="noStrike">
                <a:solidFill>
                  <a:srgbClr val="E6DEFA"/>
                </a:solidFill>
                <a:latin typeface="Inter"/>
                <a:ea typeface="Inter"/>
                <a:cs typeface="Inter"/>
                <a:sym typeface="Inter"/>
              </a:rPr>
              <a:t>WWW.THIGA.CO</a:t>
            </a:r>
            <a:endParaRPr b="0" i="0" sz="750" u="none" cap="none" strike="noStrike">
              <a:solidFill>
                <a:schemeClr val="dk1"/>
              </a:solidFill>
              <a:latin typeface="Calibri"/>
              <a:ea typeface="Calibri"/>
              <a:cs typeface="Calibri"/>
              <a:sym typeface="Calibri"/>
            </a:endParaRPr>
          </a:p>
        </p:txBody>
      </p:sp>
      <p:pic>
        <p:nvPicPr>
          <p:cNvPr descr="preencoded.png" id="141" name="Google Shape;141;p11"/>
          <p:cNvPicPr preferRelativeResize="0"/>
          <p:nvPr/>
        </p:nvPicPr>
        <p:blipFill rotWithShape="1">
          <a:blip r:embed="rId3">
            <a:alphaModFix/>
          </a:blip>
          <a:srcRect b="0" l="0" r="0" t="0"/>
          <a:stretch/>
        </p:blipFill>
        <p:spPr>
          <a:xfrm>
            <a:off x="7635240" y="4846320"/>
            <a:ext cx="1005840" cy="122142"/>
          </a:xfrm>
          <a:prstGeom prst="rect">
            <a:avLst/>
          </a:prstGeom>
          <a:noFill/>
          <a:ln>
            <a:noFill/>
          </a:ln>
        </p:spPr>
      </p:pic>
      <p:sp>
        <p:nvSpPr>
          <p:cNvPr id="142" name="Google Shape;142;p11"/>
          <p:cNvSpPr/>
          <p:nvPr/>
        </p:nvSpPr>
        <p:spPr>
          <a:xfrm>
            <a:off x="7178040" y="4846320"/>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C4ACFF"/>
              </a:buClr>
              <a:buSzPts val="1000"/>
              <a:buFont typeface="Kanit"/>
              <a:buNone/>
            </a:pPr>
            <a:r>
              <a:rPr b="1" i="0" lang="en-US" sz="1000" u="none" cap="none" strike="noStrike">
                <a:solidFill>
                  <a:srgbClr val="C4ACFF"/>
                </a:solidFill>
                <a:latin typeface="Kanit"/>
                <a:ea typeface="Kanit"/>
                <a:cs typeface="Kanit"/>
                <a:sym typeface="Kanit"/>
              </a:rPr>
              <a:t>8</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