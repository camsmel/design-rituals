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5143500" cy="9144000"/>
  <p:embeddedFontLst>
    <p:embeddedFont>
      <p:font typeface="Inter"/>
      <p:regular r:id="rId13"/>
      <p:bold r:id="rId14"/>
      <p:italic r:id="rId15"/>
      <p:boldItalic r:id="rId16"/>
    </p:embeddedFont>
    <p:embeddedFont>
      <p:font typeface="Kanit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15D00B4-A357-4FB6-9AA1-9F2A910B1247}">
  <a:tblStyle styleId="{E15D00B4-A357-4FB6-9AA1-9F2A910B1247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Kanit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Inter-regular.fnt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Inter-italic.fntdata"/><Relationship Id="rId14" Type="http://schemas.openxmlformats.org/officeDocument/2006/relationships/font" Target="fonts/Inter-bold.fntdata"/><Relationship Id="rId17" Type="http://schemas.openxmlformats.org/officeDocument/2006/relationships/font" Target="fonts/Kanit-regular.fntdata"/><Relationship Id="rId16" Type="http://schemas.openxmlformats.org/officeDocument/2006/relationships/font" Target="fonts/Inter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Kanit-italic.fntdata"/><Relationship Id="rId6" Type="http://schemas.openxmlformats.org/officeDocument/2006/relationships/slide" Target="slides/slide1.xml"/><Relationship Id="rId18" Type="http://schemas.openxmlformats.org/officeDocument/2006/relationships/font" Target="fonts/Kanit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slide is for the speaker, not the audience. Delete it before presenting.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" name="Google Shape;2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Describe the job, not the category. "Turns eight interview recordings into a tagged verbatim bank" beats "an AI research tool".</a:t>
            </a:r>
            <a:br>
              <a:rPr lang="en-US"/>
            </a:br>
            <a:r>
              <a:rPr lang="en-US"/>
              <a:t>⏱ 30 sec</a:t>
            </a:r>
            <a:endParaRPr/>
          </a:p>
        </p:txBody>
      </p:sp>
      <p:sp>
        <p:nvSpPr>
          <p:cNvPr id="30" name="Google Shape;3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" name="Google Shape;4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If the honest answer to "after" is "about the same, but less boring", say that. Still a useful finding.</a:t>
            </a:r>
            <a:br>
              <a:rPr lang="en-US"/>
            </a:br>
            <a:r>
              <a:rPr lang="en-US"/>
              <a:t>⏱ 2 min</a:t>
            </a:r>
            <a:endParaRPr/>
          </a:p>
        </p:txBody>
      </p:sp>
      <p:sp>
        <p:nvSpPr>
          <p:cNvPr id="45" name="Google Shape;4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"I have no idea what they do with the data" is a fine answer and a useful warning. Guessing is not.</a:t>
            </a:r>
            <a:br>
              <a:rPr lang="en-US"/>
            </a:br>
            <a:r>
              <a:rPr lang="en-US"/>
              <a:t>⏱ 2 min</a:t>
            </a:r>
            <a:endParaRPr/>
          </a:p>
        </p:txBody>
      </p:sp>
      <p:sp>
        <p:nvSpPr>
          <p:cNvPr id="60" name="Google Shape;6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Narrate what you're doing while you do it. Remote viewers lose the thread in silence.</a:t>
            </a:r>
            <a:br>
              <a:rPr lang="en-US"/>
            </a:br>
            <a:br>
              <a:rPr lang="en-US"/>
            </a:br>
            <a:r>
              <a:rPr lang="en-US"/>
              <a:t>If something breaks, switch to the fallback within 20 seconds. Debugging live eats the whole slot.</a:t>
            </a:r>
            <a:br>
              <a:rPr lang="en-US"/>
            </a:br>
            <a:r>
              <a:rPr lang="en-US"/>
              <a:t>⏱ 12 min</a:t>
            </a:r>
            <a:endParaRPr/>
          </a:p>
        </p:txBody>
      </p:sp>
      <p:sp>
        <p:nvSpPr>
          <p:cNvPr id="74" name="Google Shape;7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⏱ 3 min</a:t>
            </a:r>
            <a:endParaRPr/>
          </a:p>
        </p:txBody>
      </p:sp>
      <p:sp>
        <p:nvSpPr>
          <p:cNvPr id="90" name="Google Shape;9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⏱ 2 min, then 8 min of questions</a:t>
            </a:r>
            <a:endParaRPr/>
          </a:p>
        </p:txBody>
      </p:sp>
      <p:sp>
        <p:nvSpPr>
          <p:cNvPr id="110" name="Google Shape;11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0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502925" y="475502"/>
            <a:ext cx="594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0442"/>
              </a:buClr>
              <a:buSzPts val="2000"/>
              <a:buFont typeface="Kanit"/>
              <a:buNone/>
            </a:pPr>
            <a:r>
              <a:rPr b="1" i="0" lang="en-US" sz="2000" u="none" cap="none" strike="noStrike">
                <a:solidFill>
                  <a:srgbClr val="1B0442"/>
                </a:solidFill>
                <a:latin typeface="Kanit"/>
                <a:ea typeface="Kanit"/>
                <a:cs typeface="Kanit"/>
                <a:sym typeface="Kanit"/>
              </a:rPr>
              <a:t>HOW TO USE THIS TEMPLATE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502920" y="932688"/>
            <a:ext cx="1097280" cy="41148"/>
          </a:xfrm>
          <a:prstGeom prst="rect">
            <a:avLst/>
          </a:prstGeom>
          <a:solidFill>
            <a:srgbClr val="581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502920" y="1133856"/>
            <a:ext cx="8138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1B0442"/>
              </a:buClr>
              <a:buSzPts val="1400"/>
              <a:buFont typeface="Kanit"/>
              <a:buNone/>
            </a:pPr>
            <a:r>
              <a:rPr b="0" i="0" lang="en-US" sz="1400" u="none" cap="none" strike="noStrike">
                <a:solidFill>
                  <a:srgbClr val="1B0442"/>
                </a:solidFill>
                <a:latin typeface="Kanit"/>
                <a:ea typeface="Kanit"/>
                <a:cs typeface="Kanit"/>
                <a:sym typeface="Kanit"/>
              </a:rPr>
              <a:t>AI tooling, craft, a tool you found </a:t>
            </a:r>
            <a:r>
              <a:rPr lang="en-US">
                <a:solidFill>
                  <a:srgbClr val="1B0442"/>
                </a:solidFill>
                <a:latin typeface="Kanit"/>
                <a:ea typeface="Kanit"/>
                <a:cs typeface="Kanit"/>
                <a:sym typeface="Kanit"/>
              </a:rPr>
              <a:t>recently</a:t>
            </a:r>
            <a:r>
              <a:rPr b="0" i="0" lang="en-US" sz="1400" u="none" cap="none" strike="noStrike">
                <a:solidFill>
                  <a:srgbClr val="1B0442"/>
                </a:solidFill>
                <a:latin typeface="Kanit"/>
                <a:ea typeface="Kanit"/>
                <a:cs typeface="Kanit"/>
                <a:sym typeface="Kanit"/>
              </a:rPr>
              <a:t>. </a:t>
            </a:r>
            <a:r>
              <a:rPr lang="en-US">
                <a:solidFill>
                  <a:srgbClr val="1B0442"/>
                </a:solidFill>
                <a:latin typeface="Kanit"/>
                <a:ea typeface="Kanit"/>
                <a:cs typeface="Kanit"/>
                <a:sym typeface="Kanit"/>
              </a:rPr>
              <a:t>Make it hands-on enough that we can try it ourselves!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" name="Google Shape;19;p3"/>
          <p:cNvGraphicFramePr/>
          <p:nvPr/>
        </p:nvGraphicFramePr>
        <p:xfrm>
          <a:off x="502920" y="170078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{E15D00B4-A357-4FB6-9AA1-9F2A910B1247}</a:tableStyleId>
              </a:tblPr>
              <a:tblGrid>
                <a:gridCol w="4069075"/>
                <a:gridCol w="4069075"/>
              </a:tblGrid>
              <a:tr h="290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Kanit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Kanit"/>
                          <a:ea typeface="Kanit"/>
                          <a:cs typeface="Kanit"/>
                          <a:sym typeface="Kanit"/>
                        </a:rPr>
                        <a:t>THE RULES</a:t>
                      </a:r>
                      <a:endParaRPr sz="1000" u="none" cap="none" strike="noStrike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T="82300" marB="82300" marR="82300" marL="82300">
                    <a:lnL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04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Kanit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Kanit"/>
                          <a:ea typeface="Kanit"/>
                          <a:cs typeface="Kanit"/>
                          <a:sym typeface="Kanit"/>
                        </a:rPr>
                        <a:t>THE TRAP TO AVOID</a:t>
                      </a:r>
                      <a:endParaRPr sz="1000" u="none" cap="none" strike="noStrike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T="82300" marB="82300" marR="82300" marL="82300">
                    <a:lnL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0442"/>
                    </a:solidFill>
                  </a:tcPr>
                </a:tc>
              </a:tr>
              <a:tr h="11866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>
                          <a:solidFill>
                            <a:srgbClr val="1B044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· Tutorial? Leave every resource we'd need to redo it</a:t>
                      </a:r>
                      <a:endParaRPr sz="1000">
                        <a:solidFill>
                          <a:srgbClr val="1B0442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0442"/>
                        </a:buClr>
                        <a:buSzPts val="1000"/>
                        <a:buFont typeface="Inter"/>
                        <a:buNone/>
                      </a:pPr>
                      <a:r>
                        <a:rPr lang="en-US" sz="1000">
                          <a:solidFill>
                            <a:srgbClr val="1B044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· Benchmark? Links plus a feature comparison table</a:t>
                      </a:r>
                      <a:endParaRPr sz="1000">
                        <a:solidFill>
                          <a:srgbClr val="1B0442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0442"/>
                        </a:buClr>
                        <a:buSzPts val="1000"/>
                        <a:buFont typeface="Inter"/>
                        <a:buNone/>
                      </a:pPr>
                      <a:r>
                        <a:rPr lang="en-US" sz="1000">
                          <a:solidFill>
                            <a:srgbClr val="1B044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· Run the tool on something you actually had to deliver: a discovery synthesis, a component audit, an anonymised client deck. That's where the value is.</a:t>
                      </a:r>
                      <a:endParaRPr sz="1000">
                        <a:solidFill>
                          <a:srgbClr val="1B0442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82300" marB="82300" marR="82300" marL="82300">
                    <a:lnL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0442"/>
                        </a:buClr>
                        <a:buSzPts val="1000"/>
                        <a:buFont typeface="Inter"/>
                        <a:buNone/>
                      </a:pPr>
                      <a:r>
                        <a:rPr lang="en-US" sz="1000" u="none" cap="none" strike="noStrike">
                          <a:solidFill>
                            <a:srgbClr val="1B044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Replaying the vendor demo. We can all watch the marketing video on our own time.</a:t>
                      </a:r>
                      <a:endParaRPr sz="10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82300" marB="82300" marR="82300" marL="82300">
                    <a:lnL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Google Shape;20;p3"/>
          <p:cNvSpPr/>
          <p:nvPr/>
        </p:nvSpPr>
        <p:spPr>
          <a:xfrm>
            <a:off x="502920" y="3383280"/>
            <a:ext cx="8138160" cy="841248"/>
          </a:xfrm>
          <a:prstGeom prst="roundRect">
            <a:avLst>
              <a:gd fmla="val 4348" name="adj"/>
            </a:avLst>
          </a:prstGeom>
          <a:solidFill>
            <a:srgbClr val="E6DEFA"/>
          </a:solidFill>
          <a:ln cap="flat" cmpd="sng" w="12700">
            <a:solidFill>
              <a:srgbClr val="E6DE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630936" y="3383280"/>
            <a:ext cx="7882128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5818FF"/>
              </a:buClr>
              <a:buSzPts val="1100"/>
              <a:buFont typeface="Kanit"/>
              <a:buNone/>
            </a:pPr>
            <a:r>
              <a:rPr b="1" i="0" lang="en-US" sz="1100" u="none" cap="none" strike="noStrike">
                <a:solidFill>
                  <a:srgbClr val="5818FF"/>
                </a:solidFill>
                <a:latin typeface="Kanit"/>
                <a:ea typeface="Kanit"/>
                <a:cs typeface="Kanit"/>
                <a:sym typeface="Kanit"/>
              </a:rPr>
              <a:t>HOW TO FILL THIS IN.   </a:t>
            </a:r>
            <a:r>
              <a:rPr b="0" i="0" lang="en-US" sz="950" u="none" cap="none" strike="noStrike">
                <a:solidFill>
                  <a:srgbClr val="1B0442"/>
                </a:solidFill>
                <a:latin typeface="Inter"/>
                <a:ea typeface="Inter"/>
                <a:cs typeface="Inter"/>
                <a:sym typeface="Inter"/>
              </a:rPr>
              <a:t>Read the speaker notes on each slide first: they hold the questions to answer and what to actually say out loud. Fill the [bracketed] bits, drop your visuals in the dashed zones, then delete the TIP boxes and this slide.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7368"/>
              </a:lnSpc>
              <a:spcBef>
                <a:spcPts val="0"/>
              </a:spcBef>
              <a:spcAft>
                <a:spcPts val="0"/>
              </a:spcAft>
              <a:buClr>
                <a:srgbClr val="1B0442"/>
              </a:buClr>
              <a:buSzPts val="950"/>
              <a:buFont typeface="Inter"/>
              <a:buNone/>
            </a:pPr>
            <a:r>
              <a:rPr b="0" i="0" lang="en-US" sz="950" u="none" cap="none" strike="noStrike">
                <a:solidFill>
                  <a:srgbClr val="1B0442"/>
                </a:solidFill>
                <a:latin typeface="Inter"/>
                <a:ea typeface="Inter"/>
                <a:cs typeface="Inter"/>
                <a:sym typeface="Inter"/>
              </a:rPr>
              <a:t>Quicker route: paste your notes into Claude and ask it to fill this template for you. Then correct what it got wrong, which is the part only you can do.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502920" y="4315968"/>
            <a:ext cx="8138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176"/>
              </a:lnSpc>
              <a:spcBef>
                <a:spcPts val="0"/>
              </a:spcBef>
              <a:spcAft>
                <a:spcPts val="0"/>
              </a:spcAft>
              <a:buClr>
                <a:srgbClr val="1B0442"/>
              </a:buClr>
              <a:buSzPts val="850"/>
              <a:buFont typeface="Inter"/>
              <a:buNone/>
            </a:pPr>
            <a:r>
              <a:rPr b="0" i="1" lang="en-US" sz="850" u="none" cap="none" strike="noStrike">
                <a:solidFill>
                  <a:srgbClr val="1B0442"/>
                </a:solidFill>
                <a:latin typeface="Inter"/>
                <a:ea typeface="Inter"/>
                <a:cs typeface="Inter"/>
                <a:sym typeface="Inter"/>
              </a:rPr>
              <a:t>Confidentiality: anonymise the client unless the mission is public · blur user data, names and figures in screenshots · prefer relative metrics · never share a client Figma or Miro link, screenshot it instead.</a:t>
            </a:r>
            <a:endParaRPr b="0" i="1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502920" y="4846320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0442"/>
              </a:buClr>
              <a:buSzPts val="750"/>
              <a:buFont typeface="Inter"/>
              <a:buNone/>
            </a:pPr>
            <a:r>
              <a:rPr b="0" i="0" lang="en-US" sz="750" u="none" cap="none" strike="noStrike">
                <a:solidFill>
                  <a:srgbClr val="1B0442"/>
                </a:solidFill>
                <a:latin typeface="Inter"/>
                <a:ea typeface="Inter"/>
                <a:cs typeface="Inter"/>
                <a:sym typeface="Inter"/>
              </a:rPr>
              <a:t>WWW.THIGA.CO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" name="Google Shape;2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35240" y="4846320"/>
            <a:ext cx="1005840" cy="122142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3"/>
          <p:cNvSpPr/>
          <p:nvPr/>
        </p:nvSpPr>
        <p:spPr>
          <a:xfrm>
            <a:off x="502920" y="256032"/>
            <a:ext cx="5943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18FF"/>
              </a:buClr>
              <a:buSzPts val="850"/>
              <a:buFont typeface="Inter"/>
              <a:buNone/>
            </a:pPr>
            <a:r>
              <a:rPr b="1" lang="en-US" sz="1700">
                <a:solidFill>
                  <a:srgbClr val="5818FF"/>
                </a:solidFill>
                <a:highlight>
                  <a:srgbClr val="5818FF"/>
                </a:highlight>
                <a:latin typeface="Kanit"/>
                <a:ea typeface="Kanit"/>
                <a:cs typeface="Kanit"/>
                <a:sym typeface="Kanit"/>
              </a:rPr>
              <a:t>.</a:t>
            </a:r>
            <a:r>
              <a:rPr b="1" i="0" lang="en-US" sz="1600" u="none" cap="none" strike="noStrike">
                <a:solidFill>
                  <a:srgbClr val="FFFFFF"/>
                </a:solidFill>
                <a:highlight>
                  <a:srgbClr val="5818FF"/>
                </a:highlight>
                <a:latin typeface="Inter"/>
                <a:ea typeface="Inter"/>
                <a:cs typeface="Inter"/>
                <a:sym typeface="Inter"/>
              </a:rPr>
              <a:t> READ ME FIRST</a:t>
            </a:r>
            <a:r>
              <a:rPr b="1" i="0" lang="en-US" sz="1600" u="none" cap="none" strike="noStrike">
                <a:solidFill>
                  <a:srgbClr val="5818FF"/>
                </a:solidFill>
                <a:highlight>
                  <a:srgbClr val="5818FF"/>
                </a:highlight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1600" u="none" cap="none" strike="noStrike">
              <a:solidFill>
                <a:srgbClr val="5818FF"/>
              </a:solidFill>
              <a:highlight>
                <a:srgbClr val="5818FF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6035040" y="420624"/>
            <a:ext cx="2606100" cy="502800"/>
          </a:xfrm>
          <a:prstGeom prst="rect">
            <a:avLst/>
          </a:prstGeom>
          <a:solidFill>
            <a:srgbClr val="C5004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Kanit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Kanit"/>
                <a:ea typeface="Kanit"/>
                <a:cs typeface="Kanit"/>
                <a:sym typeface="Kanit"/>
              </a:rPr>
              <a:t>DELETE THIS SLIDE</a:t>
            </a:r>
            <a:br>
              <a:rPr b="1" i="0" lang="en-US" sz="1000" u="none" cap="none" strike="noStrike">
                <a:solidFill>
                  <a:srgbClr val="FFFFFF"/>
                </a:solidFill>
                <a:latin typeface="Kanit"/>
                <a:ea typeface="Kanit"/>
                <a:cs typeface="Kanit"/>
                <a:sym typeface="Kanit"/>
              </a:rPr>
            </a:br>
            <a:r>
              <a:rPr b="0" i="0" lang="en-US" sz="900" u="none" cap="none" strike="noStrike">
                <a:solidFill>
                  <a:srgbClr val="FFF0F2"/>
                </a:solidFill>
                <a:latin typeface="Inter"/>
                <a:ea typeface="Inter"/>
                <a:cs typeface="Inter"/>
                <a:sym typeface="Inter"/>
              </a:rPr>
              <a:t>before you present</a:t>
            </a:r>
            <a:endParaRPr b="0" i="0" sz="1000" u="none" cap="none" strike="noStrike">
              <a:solidFill>
                <a:srgbClr val="FFF0F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0442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581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502920" y="822960"/>
            <a:ext cx="5029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ACFF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C4ACFF"/>
                </a:solidFill>
                <a:latin typeface="Inter"/>
                <a:ea typeface="Inter"/>
                <a:cs typeface="Inter"/>
                <a:sym typeface="Inter"/>
              </a:rPr>
              <a:t>TRIBE DESIGN · [DATE]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502920" y="1143000"/>
            <a:ext cx="51206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Kanit"/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Kanit"/>
                <a:ea typeface="Kanit"/>
                <a:cs typeface="Kanit"/>
                <a:sym typeface="Kanit"/>
              </a:rPr>
              <a:t>T'LAB 🔬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502920" y="1920240"/>
            <a:ext cx="512064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842"/>
              </a:lnSpc>
              <a:spcBef>
                <a:spcPts val="0"/>
              </a:spcBef>
              <a:spcAft>
                <a:spcPts val="0"/>
              </a:spcAft>
              <a:buClr>
                <a:srgbClr val="C4ACFF"/>
              </a:buClr>
              <a:buSzPts val="1900"/>
              <a:buFont typeface="Kanit"/>
              <a:buNone/>
            </a:pPr>
            <a:r>
              <a:rPr b="0" i="0" lang="en-US" sz="1900" u="none" cap="none" strike="noStrike">
                <a:solidFill>
                  <a:srgbClr val="C4ACFF"/>
                </a:solidFill>
                <a:latin typeface="Kanit"/>
                <a:ea typeface="Kanit"/>
                <a:cs typeface="Kanit"/>
                <a:sym typeface="Kanit"/>
              </a:rPr>
              <a:t>[Tool name]: [the job it does, in one sentence]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502920" y="3108960"/>
            <a:ext cx="1097280" cy="41148"/>
          </a:xfrm>
          <a:prstGeom prst="rect">
            <a:avLst/>
          </a:prstGeom>
          <a:solidFill>
            <a:srgbClr val="581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502920" y="3310128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DEFA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E6DEFA"/>
                </a:solidFill>
                <a:latin typeface="Inter"/>
                <a:ea typeface="Inter"/>
                <a:cs typeface="Inter"/>
                <a:sym typeface="Inter"/>
              </a:rPr>
              <a:t>[Your name] · [Client or anonymised descriptor]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5897880" y="822960"/>
            <a:ext cx="2743200" cy="2743200"/>
          </a:xfrm>
          <a:prstGeom prst="roundRect">
            <a:avLst>
              <a:gd fmla="val 1333" name="adj"/>
            </a:avLst>
          </a:prstGeom>
          <a:solidFill>
            <a:srgbClr val="5818FF"/>
          </a:solidFill>
          <a:ln cap="flat" cmpd="sng" w="12700">
            <a:solidFill>
              <a:srgbClr val="5818F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5897880" y="822960"/>
            <a:ext cx="27432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5454"/>
              </a:lnSpc>
              <a:spcBef>
                <a:spcPts val="0"/>
              </a:spcBef>
              <a:spcAft>
                <a:spcPts val="0"/>
              </a:spcAft>
              <a:buClr>
                <a:srgbClr val="C4ACFF"/>
              </a:buClr>
              <a:buSzPts val="1100"/>
              <a:buFont typeface="Kanit"/>
              <a:buNone/>
            </a:pPr>
            <a:r>
              <a:rPr b="0" i="0" lang="en-US" sz="1100" u="none" cap="none" strike="noStrike">
                <a:solidFill>
                  <a:srgbClr val="C4ACFF"/>
                </a:solidFill>
                <a:latin typeface="Kanit"/>
                <a:ea typeface="Kanit"/>
                <a:cs typeface="Kanit"/>
                <a:sym typeface="Kanit"/>
              </a:rPr>
              <a:t>IMAGE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45454"/>
              </a:lnSpc>
              <a:spcBef>
                <a:spcPts val="0"/>
              </a:spcBef>
              <a:spcAft>
                <a:spcPts val="0"/>
              </a:spcAft>
              <a:buClr>
                <a:srgbClr val="C4ACFF"/>
              </a:buClr>
              <a:buSzPts val="1100"/>
              <a:buFont typeface="Kanit"/>
              <a:buNone/>
            </a:pPr>
            <a:r>
              <a:rPr b="0" i="0" lang="en-US" sz="1100" u="none" cap="none" strike="noStrike">
                <a:solidFill>
                  <a:srgbClr val="C4ACFF"/>
                </a:solidFill>
                <a:latin typeface="Kanit"/>
                <a:ea typeface="Kanit"/>
                <a:cs typeface="Kanit"/>
                <a:sym typeface="Kanit"/>
              </a:rPr>
              <a:t>(optional)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502920" y="4846320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DEFA"/>
              </a:buClr>
              <a:buSzPts val="750"/>
              <a:buFont typeface="Inter"/>
              <a:buNone/>
            </a:pPr>
            <a:r>
              <a:rPr b="0" i="0" lang="en-US" sz="750" u="none" cap="none" strike="noStrike">
                <a:solidFill>
                  <a:srgbClr val="E6DEFA"/>
                </a:solidFill>
                <a:latin typeface="Inter"/>
                <a:ea typeface="Inter"/>
                <a:cs typeface="Inter"/>
                <a:sym typeface="Inter"/>
              </a:rPr>
              <a:t>WWW.THIGA.CO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1" name="Google Shape;4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35240" y="4846320"/>
            <a:ext cx="1005840" cy="1221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0FF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5"/>
          <p:cNvSpPr/>
          <p:nvPr/>
        </p:nvSpPr>
        <p:spPr>
          <a:xfrm>
            <a:off x="502920" y="256032"/>
            <a:ext cx="5943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18FF"/>
              </a:buClr>
              <a:buSzPts val="850"/>
              <a:buFont typeface="Inter"/>
              <a:buNone/>
            </a:pPr>
            <a:r>
              <a:rPr b="1" i="0" lang="en-US" sz="850" u="none" cap="none" strike="noStrike">
                <a:solidFill>
                  <a:srgbClr val="5818FF"/>
                </a:solidFill>
                <a:latin typeface="Inter"/>
                <a:ea typeface="Inter"/>
                <a:cs typeface="Inter"/>
                <a:sym typeface="Inter"/>
              </a:rPr>
              <a:t>T'LAB · TOOL DEMO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5"/>
          <p:cNvSpPr/>
          <p:nvPr/>
        </p:nvSpPr>
        <p:spPr>
          <a:xfrm>
            <a:off x="502920" y="475488"/>
            <a:ext cx="67665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789"/>
              </a:lnSpc>
              <a:spcBef>
                <a:spcPts val="0"/>
              </a:spcBef>
              <a:spcAft>
                <a:spcPts val="0"/>
              </a:spcAft>
              <a:buClr>
                <a:srgbClr val="1B0442"/>
              </a:buClr>
              <a:buSzPts val="1900"/>
              <a:buFont typeface="Kanit"/>
              <a:buNone/>
            </a:pPr>
            <a:r>
              <a:rPr b="1" i="0" lang="en-US" sz="1900" u="none" cap="none" strike="noStrike">
                <a:solidFill>
                  <a:srgbClr val="1B0442"/>
                </a:solidFill>
                <a:latin typeface="Kanit"/>
                <a:ea typeface="Kanit"/>
                <a:cs typeface="Kanit"/>
                <a:sym typeface="Kanit"/>
              </a:rPr>
              <a:t>THE PAIN IT TAKES AWAY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5"/>
          <p:cNvSpPr/>
          <p:nvPr/>
        </p:nvSpPr>
        <p:spPr>
          <a:xfrm>
            <a:off x="502920" y="941832"/>
            <a:ext cx="1097280" cy="41148"/>
          </a:xfrm>
          <a:prstGeom prst="rect">
            <a:avLst/>
          </a:prstGeom>
          <a:solidFill>
            <a:srgbClr val="581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50" name="Google Shape;50;p5"/>
          <p:cNvGraphicFramePr/>
          <p:nvPr/>
        </p:nvGraphicFramePr>
        <p:xfrm>
          <a:off x="502920" y="117957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{E15D00B4-A357-4FB6-9AA1-9F2A910B1247}</a:tableStyleId>
              </a:tblPr>
              <a:tblGrid>
                <a:gridCol w="2743200"/>
                <a:gridCol w="5394950"/>
              </a:tblGrid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T="73150" marB="73150" marR="73150" marL="73150" anchor="ctr">
                    <a:lnL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04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Kanit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Kanit"/>
                          <a:ea typeface="Kanit"/>
                          <a:cs typeface="Kanit"/>
                          <a:sym typeface="Kanit"/>
                        </a:rPr>
                        <a:t>YOURS</a:t>
                      </a:r>
                      <a:endParaRPr sz="1000" u="none" cap="none" strike="noStrike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T="73150" marB="73150" marR="73150" marL="73150" anchor="ctr">
                    <a:lnL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0442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0442"/>
                        </a:buClr>
                        <a:buSzPts val="1000"/>
                        <a:buFont typeface="Kanit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B0442"/>
                          </a:solidFill>
                          <a:latin typeface="Kanit"/>
                          <a:ea typeface="Kanit"/>
                          <a:cs typeface="Kanit"/>
                          <a:sym typeface="Kanit"/>
                        </a:rPr>
                        <a:t>The task</a:t>
                      </a:r>
                      <a:endParaRPr sz="1000" u="none" cap="none" strike="noStrike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T="73150" marB="73150" marR="73150" marL="73150" anchor="ctr">
                    <a:lnL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0442"/>
                        </a:buClr>
                        <a:buSzPts val="1000"/>
                        <a:buFont typeface="Inter"/>
                        <a:buNone/>
                      </a:pPr>
                      <a:r>
                        <a:rPr lang="en-US" sz="1000" u="none" cap="none" strike="noStrike">
                          <a:solidFill>
                            <a:srgbClr val="1B044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[the thing you used to do by hand]</a:t>
                      </a:r>
                      <a:endParaRPr sz="10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73150" marB="73150" marR="73150" marL="73150" anchor="ctr">
                    <a:lnL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0442"/>
                        </a:buClr>
                        <a:buSzPts val="1000"/>
                        <a:buFont typeface="Kanit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B0442"/>
                          </a:solidFill>
                          <a:latin typeface="Kanit"/>
                          <a:ea typeface="Kanit"/>
                          <a:cs typeface="Kanit"/>
                          <a:sym typeface="Kanit"/>
                        </a:rPr>
                        <a:t>Before</a:t>
                      </a:r>
                      <a:endParaRPr sz="1000" u="none" cap="none" strike="noStrike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T="73150" marB="73150" marR="73150" marL="73150" anchor="ctr">
                    <a:lnL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0442"/>
                        </a:buClr>
                        <a:buSzPts val="1000"/>
                        <a:buFont typeface="Inter"/>
                        <a:buNone/>
                      </a:pPr>
                      <a:r>
                        <a:rPr lang="en-US" sz="1000" u="none" cap="none" strike="noStrike">
                          <a:solidFill>
                            <a:srgbClr val="1B044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[how long it took, how much it hurt]</a:t>
                      </a:r>
                      <a:endParaRPr sz="10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73150" marB="73150" marR="73150" marL="73150" anchor="ctr">
                    <a:lnL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0442"/>
                        </a:buClr>
                        <a:buSzPts val="1000"/>
                        <a:buFont typeface="Kanit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B0442"/>
                          </a:solidFill>
                          <a:latin typeface="Kanit"/>
                          <a:ea typeface="Kanit"/>
                          <a:cs typeface="Kanit"/>
                          <a:sym typeface="Kanit"/>
                        </a:rPr>
                        <a:t>After</a:t>
                      </a:r>
                      <a:endParaRPr sz="1000" u="none" cap="none" strike="noStrike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T="73150" marB="73150" marR="73150" marL="73150" anchor="ctr">
                    <a:lnL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0442"/>
                        </a:buClr>
                        <a:buSzPts val="1000"/>
                        <a:buFont typeface="Inter"/>
                        <a:buNone/>
                      </a:pPr>
                      <a:r>
                        <a:rPr lang="en-US" sz="1000" u="none" cap="none" strike="noStrike">
                          <a:solidFill>
                            <a:srgbClr val="1B044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[how long it takes now, honestly]</a:t>
                      </a:r>
                      <a:endParaRPr sz="10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73150" marB="73150" marR="73150" marL="73150" anchor="ctr">
                    <a:lnL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1" name="Google Shape;51;p5"/>
          <p:cNvSpPr/>
          <p:nvPr/>
        </p:nvSpPr>
        <p:spPr>
          <a:xfrm>
            <a:off x="502920" y="3319272"/>
            <a:ext cx="8138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5818FF"/>
              </a:buClr>
              <a:buSzPts val="1500"/>
              <a:buFont typeface="Kanit"/>
              <a:buNone/>
            </a:pPr>
            <a:r>
              <a:rPr b="0" i="0" lang="en-US" sz="1500" u="none" cap="none" strike="noStrike">
                <a:solidFill>
                  <a:srgbClr val="5818FF"/>
                </a:solidFill>
                <a:latin typeface="Kanit"/>
                <a:ea typeface="Kanit"/>
                <a:cs typeface="Kanit"/>
                <a:sym typeface="Kanit"/>
              </a:rPr>
              <a:t>Who in this room has this problem: [be specific]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502920" y="4224528"/>
            <a:ext cx="8138160" cy="530352"/>
          </a:xfrm>
          <a:prstGeom prst="roundRect">
            <a:avLst>
              <a:gd fmla="val 6897" name="adj"/>
            </a:avLst>
          </a:prstGeom>
          <a:solidFill>
            <a:srgbClr val="FFF0F2"/>
          </a:solidFill>
          <a:ln cap="flat" cmpd="sng" w="12700">
            <a:solidFill>
              <a:srgbClr val="FFF0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5"/>
          <p:cNvSpPr/>
          <p:nvPr/>
        </p:nvSpPr>
        <p:spPr>
          <a:xfrm>
            <a:off x="630936" y="4224528"/>
            <a:ext cx="7882128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18FF"/>
              </a:buClr>
              <a:buSzPts val="900"/>
              <a:buFont typeface="Kanit"/>
              <a:buNone/>
            </a:pPr>
            <a:r>
              <a:rPr b="1" i="0" lang="en-US" sz="900" u="none" cap="none" strike="noStrike">
                <a:solidFill>
                  <a:srgbClr val="C50041"/>
                </a:solidFill>
                <a:latin typeface="Kanit"/>
                <a:ea typeface="Kanit"/>
                <a:cs typeface="Kanit"/>
                <a:sym typeface="Kanit"/>
              </a:rPr>
              <a:t>TIP</a:t>
            </a:r>
            <a:r>
              <a:rPr b="1" i="0" lang="en-US" sz="900" u="none" cap="none" strike="noStrike">
                <a:solidFill>
                  <a:srgbClr val="5818FF"/>
                </a:solidFill>
                <a:latin typeface="Kanit"/>
                <a:ea typeface="Kanit"/>
                <a:cs typeface="Kanit"/>
                <a:sym typeface="Kanit"/>
              </a:rPr>
              <a:t>  </a:t>
            </a:r>
            <a:r>
              <a:rPr b="0" i="0" lang="en-US" sz="900" u="none" cap="none" strike="noStrike">
                <a:solidFill>
                  <a:srgbClr val="1B0442"/>
                </a:solidFill>
                <a:latin typeface="Inter"/>
                <a:ea typeface="Inter"/>
                <a:cs typeface="Inter"/>
                <a:sym typeface="Inter"/>
              </a:rPr>
              <a:t>Name a task we genuinely do. If you can't, the tool might be interesting but it isn't a T'LAB.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502920" y="4846320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0442"/>
              </a:buClr>
              <a:buSzPts val="750"/>
              <a:buFont typeface="Inter"/>
              <a:buNone/>
            </a:pPr>
            <a:r>
              <a:rPr b="0" i="0" lang="en-US" sz="750" u="none" cap="none" strike="noStrike">
                <a:solidFill>
                  <a:srgbClr val="1B0442"/>
                </a:solidFill>
                <a:latin typeface="Inter"/>
                <a:ea typeface="Inter"/>
                <a:cs typeface="Inter"/>
                <a:sym typeface="Inter"/>
              </a:rPr>
              <a:t>WWW.THIGA.CO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5" name="Google Shape;5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35240" y="4846320"/>
            <a:ext cx="1005840" cy="122142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5"/>
          <p:cNvSpPr/>
          <p:nvPr/>
        </p:nvSpPr>
        <p:spPr>
          <a:xfrm>
            <a:off x="7178040" y="4846320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818FF"/>
              </a:buClr>
              <a:buSzPts val="1000"/>
              <a:buFont typeface="Kanit"/>
              <a:buNone/>
            </a:pPr>
            <a:r>
              <a:rPr b="1" i="0" lang="en-US" sz="1000" u="none" cap="none" strike="noStrike">
                <a:solidFill>
                  <a:srgbClr val="5818FF"/>
                </a:solidFill>
                <a:latin typeface="Kanit"/>
                <a:ea typeface="Kanit"/>
                <a:cs typeface="Kanit"/>
                <a:sym typeface="Kanit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0FF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6"/>
          <p:cNvSpPr/>
          <p:nvPr/>
        </p:nvSpPr>
        <p:spPr>
          <a:xfrm>
            <a:off x="502920" y="256032"/>
            <a:ext cx="5943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18FF"/>
              </a:buClr>
              <a:buSzPts val="850"/>
              <a:buFont typeface="Inter"/>
              <a:buNone/>
            </a:pPr>
            <a:r>
              <a:rPr b="1" i="0" lang="en-US" sz="850" u="none" cap="none" strike="noStrike">
                <a:solidFill>
                  <a:srgbClr val="5818FF"/>
                </a:solidFill>
                <a:latin typeface="Inter"/>
                <a:ea typeface="Inter"/>
                <a:cs typeface="Inter"/>
                <a:sym typeface="Inter"/>
              </a:rPr>
              <a:t>T'LAB · TOOL DEMO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6"/>
          <p:cNvSpPr/>
          <p:nvPr/>
        </p:nvSpPr>
        <p:spPr>
          <a:xfrm>
            <a:off x="502920" y="475488"/>
            <a:ext cx="67665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789"/>
              </a:lnSpc>
              <a:spcBef>
                <a:spcPts val="0"/>
              </a:spcBef>
              <a:spcAft>
                <a:spcPts val="0"/>
              </a:spcAft>
              <a:buClr>
                <a:srgbClr val="1B0442"/>
              </a:buClr>
              <a:buSzPts val="1900"/>
              <a:buFont typeface="Kanit"/>
              <a:buNone/>
            </a:pPr>
            <a:r>
              <a:rPr b="1" i="0" lang="en-US" sz="1900" u="none" cap="none" strike="noStrike">
                <a:solidFill>
                  <a:srgbClr val="1B0442"/>
                </a:solidFill>
                <a:latin typeface="Kanit"/>
                <a:ea typeface="Kanit"/>
                <a:cs typeface="Kanit"/>
                <a:sym typeface="Kanit"/>
              </a:rPr>
              <a:t>GETTING SET UP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6"/>
          <p:cNvSpPr/>
          <p:nvPr/>
        </p:nvSpPr>
        <p:spPr>
          <a:xfrm>
            <a:off x="502920" y="941832"/>
            <a:ext cx="1097280" cy="41148"/>
          </a:xfrm>
          <a:prstGeom prst="rect">
            <a:avLst/>
          </a:prstGeom>
          <a:solidFill>
            <a:srgbClr val="581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65" name="Google Shape;65;p6"/>
          <p:cNvGraphicFramePr/>
          <p:nvPr/>
        </p:nvGraphicFramePr>
        <p:xfrm>
          <a:off x="502920" y="117957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{E15D00B4-A357-4FB6-9AA1-9F2A910B1247}</a:tableStyleId>
              </a:tblPr>
              <a:tblGrid>
                <a:gridCol w="2377450"/>
                <a:gridCol w="5760725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T="73150" marB="73150" marR="73150" marL="73150" anchor="ctr">
                    <a:lnL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04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Kanit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Kanit"/>
                          <a:ea typeface="Kanit"/>
                          <a:cs typeface="Kanit"/>
                          <a:sym typeface="Kanit"/>
                        </a:rPr>
                        <a:t>ANSWER</a:t>
                      </a:r>
                      <a:endParaRPr sz="1000" u="none" cap="none" strike="noStrike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T="73150" marB="73150" marR="73150" marL="73150" anchor="ctr">
                    <a:lnL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044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0442"/>
                        </a:buClr>
                        <a:buSzPts val="1000"/>
                        <a:buFont typeface="Kanit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B0442"/>
                          </a:solidFill>
                          <a:latin typeface="Kanit"/>
                          <a:ea typeface="Kanit"/>
                          <a:cs typeface="Kanit"/>
                          <a:sym typeface="Kanit"/>
                        </a:rPr>
                        <a:t>Price</a:t>
                      </a:r>
                      <a:endParaRPr sz="1000" u="none" cap="none" strike="noStrike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T="73150" marB="73150" marR="73150" marL="73150" anchor="ctr">
                    <a:lnL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0442"/>
                        </a:buClr>
                        <a:buSzPts val="1000"/>
                        <a:buFont typeface="Inter"/>
                        <a:buNone/>
                      </a:pPr>
                      <a:r>
                        <a:rPr lang="en-US" sz="1000" u="none" cap="none" strike="noStrike">
                          <a:solidFill>
                            <a:srgbClr val="1B044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[free tier? per seat? per month?]</a:t>
                      </a:r>
                      <a:endParaRPr sz="10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73150" marB="73150" marR="73150" marL="73150" anchor="ctr">
                    <a:lnL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0442"/>
                        </a:buClr>
                        <a:buSzPts val="1000"/>
                        <a:buFont typeface="Kanit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B0442"/>
                          </a:solidFill>
                          <a:latin typeface="Kanit"/>
                          <a:ea typeface="Kanit"/>
                          <a:cs typeface="Kanit"/>
                          <a:sym typeface="Kanit"/>
                        </a:rPr>
                        <a:t>Access</a:t>
                      </a:r>
                      <a:endParaRPr sz="1000" u="none" cap="none" strike="noStrike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T="73150" marB="73150" marR="73150" marL="73150" anchor="ctr">
                    <a:lnL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0442"/>
                        </a:buClr>
                        <a:buSzPts val="1000"/>
                        <a:buFont typeface="Inter"/>
                        <a:buNone/>
                      </a:pPr>
                      <a:r>
                        <a:rPr lang="en-US" sz="1000" u="none" cap="none" strike="noStrike">
                          <a:solidFill>
                            <a:srgbClr val="1B044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[account needed? SSO? already paid for at Thiga?]</a:t>
                      </a:r>
                      <a:endParaRPr sz="10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73150" marB="73150" marR="73150" marL="73150" anchor="ctr">
                    <a:lnL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0442"/>
                        </a:buClr>
                        <a:buSzPts val="1000"/>
                        <a:buFont typeface="Kanit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B0442"/>
                          </a:solidFill>
                          <a:latin typeface="Kanit"/>
                          <a:ea typeface="Kanit"/>
                          <a:cs typeface="Kanit"/>
                          <a:sym typeface="Kanit"/>
                        </a:rPr>
                        <a:t>Client data</a:t>
                      </a:r>
                      <a:endParaRPr sz="1000" u="none" cap="none" strike="noStrike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T="73150" marB="73150" marR="73150" marL="73150" anchor="ctr">
                    <a:lnL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0442"/>
                        </a:buClr>
                        <a:buSzPts val="1000"/>
                        <a:buFont typeface="Inter"/>
                        <a:buNone/>
                      </a:pPr>
                      <a:r>
                        <a:rPr lang="en-US" sz="1000" u="none" cap="none" strike="noStrike">
                          <a:solidFill>
                            <a:srgbClr val="1B044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[what it does with what you feed it, and what you don't know]</a:t>
                      </a:r>
                      <a:endParaRPr sz="10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73150" marB="73150" marR="73150" marL="73150" anchor="ctr">
                    <a:lnL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0442"/>
                        </a:buClr>
                        <a:buSzPts val="1000"/>
                        <a:buFont typeface="Kanit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B0442"/>
                          </a:solidFill>
                          <a:latin typeface="Kanit"/>
                          <a:ea typeface="Kanit"/>
                          <a:cs typeface="Kanit"/>
                          <a:sym typeface="Kanit"/>
                        </a:rPr>
                        <a:t>Alternatives</a:t>
                      </a:r>
                      <a:endParaRPr sz="1000" u="none" cap="none" strike="noStrike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T="73150" marB="73150" marR="73150" marL="73150" anchor="ctr">
                    <a:lnL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0442"/>
                        </a:buClr>
                        <a:buSzPts val="1000"/>
                        <a:buFont typeface="Inter"/>
                        <a:buNone/>
                      </a:pPr>
                      <a:r>
                        <a:rPr lang="en-US" sz="1000" u="none" cap="none" strike="noStrike">
                          <a:solidFill>
                            <a:srgbClr val="1B044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[the two others you looked at]</a:t>
                      </a:r>
                      <a:endParaRPr sz="10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73150" marB="73150" marR="73150" marL="73150" anchor="ctr">
                    <a:lnL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6" name="Google Shape;66;p6"/>
          <p:cNvSpPr/>
          <p:nvPr/>
        </p:nvSpPr>
        <p:spPr>
          <a:xfrm>
            <a:off x="502920" y="4224528"/>
            <a:ext cx="8138160" cy="530352"/>
          </a:xfrm>
          <a:prstGeom prst="roundRect">
            <a:avLst>
              <a:gd fmla="val 6897" name="adj"/>
            </a:avLst>
          </a:prstGeom>
          <a:solidFill>
            <a:srgbClr val="FFF0F2"/>
          </a:solidFill>
          <a:ln cap="flat" cmpd="sng" w="12700">
            <a:solidFill>
              <a:srgbClr val="FFF0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630936" y="4224528"/>
            <a:ext cx="7882128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18FF"/>
              </a:buClr>
              <a:buSzPts val="900"/>
              <a:buFont typeface="Kanit"/>
              <a:buNone/>
            </a:pPr>
            <a:r>
              <a:rPr b="1" i="0" lang="en-US" sz="900" u="none" cap="none" strike="noStrike">
                <a:solidFill>
                  <a:srgbClr val="C50041"/>
                </a:solidFill>
                <a:latin typeface="Kanit"/>
                <a:ea typeface="Kanit"/>
                <a:cs typeface="Kanit"/>
                <a:sym typeface="Kanit"/>
              </a:rPr>
              <a:t>TIP</a:t>
            </a:r>
            <a:r>
              <a:rPr b="1" i="0" lang="en-US" sz="900" u="none" cap="none" strike="noStrike">
                <a:solidFill>
                  <a:srgbClr val="5818FF"/>
                </a:solidFill>
                <a:latin typeface="Kanit"/>
                <a:ea typeface="Kanit"/>
                <a:cs typeface="Kanit"/>
                <a:sym typeface="Kanit"/>
              </a:rPr>
              <a:t>  </a:t>
            </a:r>
            <a:r>
              <a:rPr b="0" i="0" lang="en-US" sz="900" u="none" cap="none" strike="noStrike">
                <a:solidFill>
                  <a:srgbClr val="1B0442"/>
                </a:solidFill>
                <a:latin typeface="Inter"/>
                <a:ea typeface="Inter"/>
                <a:cs typeface="Inter"/>
                <a:sym typeface="Inter"/>
              </a:rPr>
              <a:t>Never skip the data line. Half the room is quietly wondering whether they can point this at a client's files. Say what you know, and say what you don't.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6"/>
          <p:cNvSpPr/>
          <p:nvPr/>
        </p:nvSpPr>
        <p:spPr>
          <a:xfrm>
            <a:off x="502920" y="4846320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0442"/>
              </a:buClr>
              <a:buSzPts val="750"/>
              <a:buFont typeface="Inter"/>
              <a:buNone/>
            </a:pPr>
            <a:r>
              <a:rPr b="0" i="0" lang="en-US" sz="750" u="none" cap="none" strike="noStrike">
                <a:solidFill>
                  <a:srgbClr val="1B0442"/>
                </a:solidFill>
                <a:latin typeface="Inter"/>
                <a:ea typeface="Inter"/>
                <a:cs typeface="Inter"/>
                <a:sym typeface="Inter"/>
              </a:rPr>
              <a:t>WWW.THIGA.CO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9" name="Google Shape;6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35240" y="4846320"/>
            <a:ext cx="1005840" cy="122142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6"/>
          <p:cNvSpPr/>
          <p:nvPr/>
        </p:nvSpPr>
        <p:spPr>
          <a:xfrm>
            <a:off x="7178040" y="4846320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818FF"/>
              </a:buClr>
              <a:buSzPts val="1000"/>
              <a:buFont typeface="Kanit"/>
              <a:buNone/>
            </a:pPr>
            <a:r>
              <a:rPr b="1" i="0" lang="en-US" sz="1000" u="none" cap="none" strike="noStrike">
                <a:solidFill>
                  <a:srgbClr val="5818FF"/>
                </a:solidFill>
                <a:latin typeface="Kanit"/>
                <a:ea typeface="Kanit"/>
                <a:cs typeface="Kanit"/>
                <a:sym typeface="Kanit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0FF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7"/>
          <p:cNvSpPr/>
          <p:nvPr/>
        </p:nvSpPr>
        <p:spPr>
          <a:xfrm>
            <a:off x="502920" y="256032"/>
            <a:ext cx="5943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18FF"/>
              </a:buClr>
              <a:buSzPts val="850"/>
              <a:buFont typeface="Inter"/>
              <a:buNone/>
            </a:pPr>
            <a:r>
              <a:rPr b="1" i="0" lang="en-US" sz="850" u="none" cap="none" strike="noStrike">
                <a:solidFill>
                  <a:srgbClr val="5818FF"/>
                </a:solidFill>
                <a:latin typeface="Inter"/>
                <a:ea typeface="Inter"/>
                <a:cs typeface="Inter"/>
                <a:sym typeface="Inter"/>
              </a:rPr>
              <a:t>T'LAB · TOOL DEMO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7"/>
          <p:cNvSpPr/>
          <p:nvPr/>
        </p:nvSpPr>
        <p:spPr>
          <a:xfrm>
            <a:off x="502920" y="475488"/>
            <a:ext cx="67665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789"/>
              </a:lnSpc>
              <a:spcBef>
                <a:spcPts val="0"/>
              </a:spcBef>
              <a:spcAft>
                <a:spcPts val="0"/>
              </a:spcAft>
              <a:buClr>
                <a:srgbClr val="1B0442"/>
              </a:buClr>
              <a:buSzPts val="1900"/>
              <a:buFont typeface="Kanit"/>
              <a:buNone/>
            </a:pPr>
            <a:r>
              <a:rPr b="1" i="0" lang="en-US" sz="1900" u="none" cap="none" strike="noStrike">
                <a:solidFill>
                  <a:srgbClr val="1B0442"/>
                </a:solidFill>
                <a:latin typeface="Kanit"/>
                <a:ea typeface="Kanit"/>
                <a:cs typeface="Kanit"/>
                <a:sym typeface="Kanit"/>
              </a:rPr>
              <a:t>LIVE DEMO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7"/>
          <p:cNvSpPr/>
          <p:nvPr/>
        </p:nvSpPr>
        <p:spPr>
          <a:xfrm>
            <a:off x="502920" y="941832"/>
            <a:ext cx="1097280" cy="41148"/>
          </a:xfrm>
          <a:prstGeom prst="rect">
            <a:avLst/>
          </a:prstGeom>
          <a:solidFill>
            <a:srgbClr val="581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7"/>
          <p:cNvSpPr/>
          <p:nvPr/>
        </p:nvSpPr>
        <p:spPr>
          <a:xfrm>
            <a:off x="502920" y="1179576"/>
            <a:ext cx="81381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Clr>
                <a:srgbClr val="1B0442"/>
              </a:buClr>
              <a:buSzPts val="1200"/>
              <a:buFont typeface="Inter"/>
              <a:buChar char="•"/>
            </a:pPr>
            <a:r>
              <a:rPr b="0" i="0" lang="en-US" sz="1200" u="none" cap="none" strike="noStrike">
                <a:solidFill>
                  <a:srgbClr val="1B0442"/>
                </a:solidFill>
                <a:latin typeface="Inter"/>
                <a:ea typeface="Inter"/>
                <a:cs typeface="Inter"/>
                <a:sym typeface="Inter"/>
              </a:rPr>
              <a:t>[Step 1, what you'll show]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41666"/>
              </a:lnSpc>
              <a:spcBef>
                <a:spcPts val="800"/>
              </a:spcBef>
              <a:spcAft>
                <a:spcPts val="0"/>
              </a:spcAft>
              <a:buClr>
                <a:srgbClr val="1B0442"/>
              </a:buClr>
              <a:buSzPts val="1200"/>
              <a:buFont typeface="Inter"/>
              <a:buChar char="•"/>
            </a:pPr>
            <a:r>
              <a:rPr b="0" i="0" lang="en-US" sz="1200" u="none" cap="none" strike="noStrike">
                <a:solidFill>
                  <a:srgbClr val="1B0442"/>
                </a:solidFill>
                <a:latin typeface="Inter"/>
                <a:ea typeface="Inter"/>
                <a:cs typeface="Inter"/>
                <a:sym typeface="Inter"/>
              </a:rPr>
              <a:t>[Step 2, where it gets interesting]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41666"/>
              </a:lnSpc>
              <a:spcBef>
                <a:spcPts val="800"/>
              </a:spcBef>
              <a:spcAft>
                <a:spcPts val="0"/>
              </a:spcAft>
              <a:buClr>
                <a:srgbClr val="1B0442"/>
              </a:buClr>
              <a:buSzPts val="1200"/>
              <a:buFont typeface="Inter"/>
              <a:buChar char="•"/>
            </a:pPr>
            <a:r>
              <a:rPr b="0" i="0" lang="en-US" sz="1200" u="none" cap="none" strike="noStrike">
                <a:solidFill>
                  <a:srgbClr val="1B0442"/>
                </a:solidFill>
                <a:latin typeface="Inter"/>
                <a:ea typeface="Inter"/>
                <a:cs typeface="Inter"/>
                <a:sym typeface="Inter"/>
              </a:rPr>
              <a:t>[Step 3, the output]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7"/>
          <p:cNvSpPr/>
          <p:nvPr/>
        </p:nvSpPr>
        <p:spPr>
          <a:xfrm>
            <a:off x="502920" y="2295144"/>
            <a:ext cx="8138160" cy="1737360"/>
          </a:xfrm>
          <a:prstGeom prst="roundRect">
            <a:avLst>
              <a:gd fmla="val 2105" name="adj"/>
            </a:avLst>
          </a:prstGeom>
          <a:solidFill>
            <a:srgbClr val="E6DEFA"/>
          </a:solidFill>
          <a:ln cap="flat" cmpd="sng" w="12700">
            <a:solidFill>
              <a:srgbClr val="5818F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7"/>
          <p:cNvSpPr/>
          <p:nvPr/>
        </p:nvSpPr>
        <p:spPr>
          <a:xfrm>
            <a:off x="502920" y="2295144"/>
            <a:ext cx="813816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818FF"/>
              </a:buClr>
              <a:buSzPts val="1200"/>
              <a:buFont typeface="Kanit"/>
              <a:buNone/>
            </a:pPr>
            <a:r>
              <a:rPr b="0" i="0" lang="en-US" sz="1200" u="none" cap="none" strike="noStrike">
                <a:solidFill>
                  <a:srgbClr val="5818FF"/>
                </a:solidFill>
                <a:latin typeface="Kanit"/>
                <a:ea typeface="Kanit"/>
                <a:cs typeface="Kanit"/>
                <a:sym typeface="Kanit"/>
              </a:rPr>
              <a:t>SCREENSHOT OF THE END RESULT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818FF"/>
              </a:buClr>
              <a:buSzPts val="1200"/>
              <a:buFont typeface="Kanit"/>
              <a:buNone/>
            </a:pPr>
            <a:r>
              <a:rPr b="0" i="0" lang="en-US" sz="1200" u="none" cap="none" strike="noStrike">
                <a:solidFill>
                  <a:srgbClr val="5818FF"/>
                </a:solidFill>
                <a:latin typeface="Kanit"/>
                <a:ea typeface="Kanit"/>
                <a:cs typeface="Kanit"/>
                <a:sym typeface="Kanit"/>
              </a:rPr>
              <a:t>your parachute for the day the demo dies live, and one day it will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7"/>
          <p:cNvSpPr/>
          <p:nvPr/>
        </p:nvSpPr>
        <p:spPr>
          <a:xfrm>
            <a:off x="502920" y="4224528"/>
            <a:ext cx="8138160" cy="530352"/>
          </a:xfrm>
          <a:prstGeom prst="roundRect">
            <a:avLst>
              <a:gd fmla="val 6897" name="adj"/>
            </a:avLst>
          </a:prstGeom>
          <a:solidFill>
            <a:srgbClr val="FFF0F2"/>
          </a:solidFill>
          <a:ln cap="flat" cmpd="sng" w="12700">
            <a:solidFill>
              <a:srgbClr val="FFF0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7"/>
          <p:cNvSpPr/>
          <p:nvPr/>
        </p:nvSpPr>
        <p:spPr>
          <a:xfrm>
            <a:off x="630936" y="4224528"/>
            <a:ext cx="7882128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18FF"/>
              </a:buClr>
              <a:buSzPts val="900"/>
              <a:buFont typeface="Kanit"/>
              <a:buNone/>
            </a:pPr>
            <a:r>
              <a:rPr b="1" i="0" lang="en-US" sz="900" u="none" cap="none" strike="noStrike">
                <a:solidFill>
                  <a:srgbClr val="C50041"/>
                </a:solidFill>
                <a:latin typeface="Kanit"/>
                <a:ea typeface="Kanit"/>
                <a:cs typeface="Kanit"/>
                <a:sym typeface="Kanit"/>
              </a:rPr>
              <a:t>TIP</a:t>
            </a:r>
            <a:r>
              <a:rPr b="1" i="0" lang="en-US" sz="900" u="none" cap="none" strike="noStrike">
                <a:solidFill>
                  <a:srgbClr val="5818FF"/>
                </a:solidFill>
                <a:latin typeface="Kanit"/>
                <a:ea typeface="Kanit"/>
                <a:cs typeface="Kanit"/>
                <a:sym typeface="Kanit"/>
              </a:rPr>
              <a:t>  </a:t>
            </a:r>
            <a:r>
              <a:rPr b="0" i="0" lang="en-US" sz="900" u="none" cap="none" strike="noStrike">
                <a:solidFill>
                  <a:srgbClr val="1B0442"/>
                </a:solidFill>
                <a:latin typeface="Inter"/>
                <a:ea typeface="Inter"/>
                <a:cs typeface="Inter"/>
                <a:sym typeface="Inter"/>
              </a:rPr>
              <a:t>Walk the demo path once beforehand and record a 2-min screen capture as backup. Close your other tabs, mute your notifications, and spare us your inbox.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7"/>
          <p:cNvSpPr/>
          <p:nvPr/>
        </p:nvSpPr>
        <p:spPr>
          <a:xfrm>
            <a:off x="502920" y="4846320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0442"/>
              </a:buClr>
              <a:buSzPts val="750"/>
              <a:buFont typeface="Inter"/>
              <a:buNone/>
            </a:pPr>
            <a:r>
              <a:rPr b="0" i="0" lang="en-US" sz="750" u="none" cap="none" strike="noStrike">
                <a:solidFill>
                  <a:srgbClr val="1B0442"/>
                </a:solidFill>
                <a:latin typeface="Inter"/>
                <a:ea typeface="Inter"/>
                <a:cs typeface="Inter"/>
                <a:sym typeface="Inter"/>
              </a:rPr>
              <a:t>WWW.THIGA.CO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5" name="Google Shape;8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35240" y="4846320"/>
            <a:ext cx="1005840" cy="122142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7"/>
          <p:cNvSpPr/>
          <p:nvPr/>
        </p:nvSpPr>
        <p:spPr>
          <a:xfrm>
            <a:off x="7178040" y="4846320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818FF"/>
              </a:buClr>
              <a:buSzPts val="1000"/>
              <a:buFont typeface="Kanit"/>
              <a:buNone/>
            </a:pPr>
            <a:r>
              <a:rPr b="1" i="0" lang="en-US" sz="1000" u="none" cap="none" strike="noStrike">
                <a:solidFill>
                  <a:srgbClr val="5818FF"/>
                </a:solidFill>
                <a:latin typeface="Kanit"/>
                <a:ea typeface="Kanit"/>
                <a:cs typeface="Kanit"/>
                <a:sym typeface="Kanit"/>
              </a:rPr>
              <a:t>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0F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8"/>
          <p:cNvSpPr/>
          <p:nvPr/>
        </p:nvSpPr>
        <p:spPr>
          <a:xfrm>
            <a:off x="502920" y="256032"/>
            <a:ext cx="5943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18FF"/>
              </a:buClr>
              <a:buSzPts val="850"/>
              <a:buFont typeface="Inter"/>
              <a:buNone/>
            </a:pPr>
            <a:r>
              <a:rPr b="1" i="0" lang="en-US" sz="850" u="none" cap="none" strike="noStrike">
                <a:solidFill>
                  <a:srgbClr val="5818FF"/>
                </a:solidFill>
                <a:latin typeface="Inter"/>
                <a:ea typeface="Inter"/>
                <a:cs typeface="Inter"/>
                <a:sym typeface="Inter"/>
              </a:rPr>
              <a:t>T'LAB · TOOL DEMO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8"/>
          <p:cNvSpPr/>
          <p:nvPr/>
        </p:nvSpPr>
        <p:spPr>
          <a:xfrm>
            <a:off x="502920" y="475488"/>
            <a:ext cx="67665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789"/>
              </a:lnSpc>
              <a:spcBef>
                <a:spcPts val="0"/>
              </a:spcBef>
              <a:spcAft>
                <a:spcPts val="0"/>
              </a:spcAft>
              <a:buClr>
                <a:srgbClr val="1B0442"/>
              </a:buClr>
              <a:buSzPts val="1900"/>
              <a:buFont typeface="Kanit"/>
              <a:buNone/>
            </a:pPr>
            <a:r>
              <a:rPr b="1" i="0" lang="en-US" sz="1900" u="none" cap="none" strike="noStrike">
                <a:solidFill>
                  <a:srgbClr val="1B0442"/>
                </a:solidFill>
                <a:latin typeface="Kanit"/>
                <a:ea typeface="Kanit"/>
                <a:cs typeface="Kanit"/>
                <a:sym typeface="Kanit"/>
              </a:rPr>
              <a:t>VERDICT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8"/>
          <p:cNvSpPr/>
          <p:nvPr/>
        </p:nvSpPr>
        <p:spPr>
          <a:xfrm>
            <a:off x="502920" y="941832"/>
            <a:ext cx="1097280" cy="41148"/>
          </a:xfrm>
          <a:prstGeom prst="rect">
            <a:avLst/>
          </a:prstGeom>
          <a:solidFill>
            <a:srgbClr val="581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8"/>
          <p:cNvSpPr/>
          <p:nvPr/>
        </p:nvSpPr>
        <p:spPr>
          <a:xfrm>
            <a:off x="502920" y="1179576"/>
            <a:ext cx="3977640" cy="1920240"/>
          </a:xfrm>
          <a:prstGeom prst="roundRect">
            <a:avLst>
              <a:gd fmla="val 1905" name="adj"/>
            </a:avLst>
          </a:prstGeom>
          <a:solidFill>
            <a:srgbClr val="FFFFFF"/>
          </a:solidFill>
          <a:ln cap="flat" cmpd="sng" w="12700">
            <a:solidFill>
              <a:srgbClr val="E6DE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8"/>
          <p:cNvSpPr/>
          <p:nvPr/>
        </p:nvSpPr>
        <p:spPr>
          <a:xfrm>
            <a:off x="649224" y="1289304"/>
            <a:ext cx="3685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18FF"/>
              </a:buClr>
              <a:buSzPts val="1050"/>
              <a:buFont typeface="Kanit"/>
              <a:buNone/>
            </a:pPr>
            <a:r>
              <a:rPr b="1" i="0" lang="en-US" sz="1050" u="none" cap="none" strike="noStrike">
                <a:solidFill>
                  <a:srgbClr val="5818FF"/>
                </a:solidFill>
                <a:latin typeface="Kanit"/>
                <a:ea typeface="Kanit"/>
                <a:cs typeface="Kanit"/>
                <a:sym typeface="Kanit"/>
              </a:rPr>
              <a:t>WHERE IT SHINES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8"/>
          <p:cNvSpPr/>
          <p:nvPr/>
        </p:nvSpPr>
        <p:spPr>
          <a:xfrm>
            <a:off x="649224" y="1600200"/>
            <a:ext cx="3685032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52400" lvl="0" marL="152400" marR="0" rtl="0" algn="l">
              <a:lnSpc>
                <a:spcPct val="136363"/>
              </a:lnSpc>
              <a:spcBef>
                <a:spcPts val="0"/>
              </a:spcBef>
              <a:spcAft>
                <a:spcPts val="0"/>
              </a:spcAft>
              <a:buClr>
                <a:srgbClr val="1B0442"/>
              </a:buClr>
              <a:buSzPts val="1100"/>
              <a:buFont typeface="Inter"/>
              <a:buChar char="•"/>
            </a:pPr>
            <a:r>
              <a:rPr b="0" i="0" lang="en-US" sz="1100" u="none" cap="none" strike="noStrike">
                <a:solidFill>
                  <a:srgbClr val="1B0442"/>
                </a:solidFill>
                <a:latin typeface="Inter"/>
                <a:ea typeface="Inter"/>
                <a:cs typeface="Inter"/>
                <a:sym typeface="Inter"/>
              </a:rPr>
              <a:t>[…]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36363"/>
              </a:lnSpc>
              <a:spcBef>
                <a:spcPts val="700"/>
              </a:spcBef>
              <a:spcAft>
                <a:spcPts val="0"/>
              </a:spcAft>
              <a:buClr>
                <a:srgbClr val="1B0442"/>
              </a:buClr>
              <a:buSzPts val="1100"/>
              <a:buFont typeface="Inter"/>
              <a:buChar char="•"/>
            </a:pPr>
            <a:r>
              <a:rPr b="0" i="0" lang="en-US" sz="1100" u="none" cap="none" strike="noStrike">
                <a:solidFill>
                  <a:srgbClr val="1B0442"/>
                </a:solidFill>
                <a:latin typeface="Inter"/>
                <a:ea typeface="Inter"/>
                <a:cs typeface="Inter"/>
                <a:sym typeface="Inter"/>
              </a:rPr>
              <a:t>[…]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8"/>
          <p:cNvSpPr/>
          <p:nvPr/>
        </p:nvSpPr>
        <p:spPr>
          <a:xfrm>
            <a:off x="4663440" y="1179576"/>
            <a:ext cx="3977640" cy="1920240"/>
          </a:xfrm>
          <a:prstGeom prst="roundRect">
            <a:avLst>
              <a:gd fmla="val 1905" name="adj"/>
            </a:avLst>
          </a:prstGeom>
          <a:solidFill>
            <a:srgbClr val="FFFFFF"/>
          </a:solidFill>
          <a:ln cap="flat" cmpd="sng" w="12700">
            <a:solidFill>
              <a:srgbClr val="E6DE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8"/>
          <p:cNvSpPr/>
          <p:nvPr/>
        </p:nvSpPr>
        <p:spPr>
          <a:xfrm>
            <a:off x="4809744" y="1289304"/>
            <a:ext cx="3685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18FF"/>
              </a:buClr>
              <a:buSzPts val="1050"/>
              <a:buFont typeface="Kanit"/>
              <a:buNone/>
            </a:pPr>
            <a:r>
              <a:rPr b="1" i="0" lang="en-US" sz="1050" u="none" cap="none" strike="noStrike">
                <a:solidFill>
                  <a:srgbClr val="5818FF"/>
                </a:solidFill>
                <a:latin typeface="Kanit"/>
                <a:ea typeface="Kanit"/>
                <a:cs typeface="Kanit"/>
                <a:sym typeface="Kanit"/>
              </a:rPr>
              <a:t>WHERE IT FALLS APART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8"/>
          <p:cNvSpPr/>
          <p:nvPr/>
        </p:nvSpPr>
        <p:spPr>
          <a:xfrm>
            <a:off x="4809744" y="1600200"/>
            <a:ext cx="3685032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52400" lvl="0" marL="152400" marR="0" rtl="0" algn="l">
              <a:lnSpc>
                <a:spcPct val="136363"/>
              </a:lnSpc>
              <a:spcBef>
                <a:spcPts val="0"/>
              </a:spcBef>
              <a:spcAft>
                <a:spcPts val="0"/>
              </a:spcAft>
              <a:buClr>
                <a:srgbClr val="1B0442"/>
              </a:buClr>
              <a:buSzPts val="1100"/>
              <a:buFont typeface="Inter"/>
              <a:buChar char="•"/>
            </a:pPr>
            <a:r>
              <a:rPr b="0" i="0" lang="en-US" sz="1100" u="none" cap="none" strike="noStrike">
                <a:solidFill>
                  <a:srgbClr val="1B0442"/>
                </a:solidFill>
                <a:latin typeface="Inter"/>
                <a:ea typeface="Inter"/>
                <a:cs typeface="Inter"/>
                <a:sym typeface="Inter"/>
              </a:rPr>
              <a:t>[…]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36363"/>
              </a:lnSpc>
              <a:spcBef>
                <a:spcPts val="700"/>
              </a:spcBef>
              <a:spcAft>
                <a:spcPts val="0"/>
              </a:spcAft>
              <a:buClr>
                <a:srgbClr val="1B0442"/>
              </a:buClr>
              <a:buSzPts val="1100"/>
              <a:buFont typeface="Inter"/>
              <a:buChar char="•"/>
            </a:pPr>
            <a:r>
              <a:rPr b="0" i="0" lang="en-US" sz="1100" u="none" cap="none" strike="noStrike">
                <a:solidFill>
                  <a:srgbClr val="1B0442"/>
                </a:solidFill>
                <a:latin typeface="Inter"/>
                <a:ea typeface="Inter"/>
                <a:cs typeface="Inter"/>
                <a:sym typeface="Inter"/>
              </a:rPr>
              <a:t>[…]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8"/>
          <p:cNvSpPr/>
          <p:nvPr/>
        </p:nvSpPr>
        <p:spPr>
          <a:xfrm>
            <a:off x="502920" y="3209544"/>
            <a:ext cx="8138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5818FF"/>
              </a:buClr>
              <a:buSzPts val="1500"/>
              <a:buFont typeface="Kanit"/>
              <a:buNone/>
            </a:pPr>
            <a:r>
              <a:rPr b="0" i="0" lang="en-US" sz="1500" u="none" cap="none" strike="noStrike">
                <a:solidFill>
                  <a:srgbClr val="5818FF"/>
                </a:solidFill>
                <a:latin typeface="Kanit"/>
                <a:ea typeface="Kanit"/>
                <a:cs typeface="Kanit"/>
                <a:sym typeface="Kanit"/>
              </a:rPr>
              <a:t>What it does not replace: [be blunt]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8"/>
          <p:cNvSpPr/>
          <p:nvPr/>
        </p:nvSpPr>
        <p:spPr>
          <a:xfrm>
            <a:off x="502920" y="4224528"/>
            <a:ext cx="8138160" cy="530352"/>
          </a:xfrm>
          <a:prstGeom prst="roundRect">
            <a:avLst>
              <a:gd fmla="val 6897" name="adj"/>
            </a:avLst>
          </a:prstGeom>
          <a:solidFill>
            <a:srgbClr val="FFF0F2"/>
          </a:solidFill>
          <a:ln cap="flat" cmpd="sng" w="12700">
            <a:solidFill>
              <a:srgbClr val="FFF0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8"/>
          <p:cNvSpPr/>
          <p:nvPr/>
        </p:nvSpPr>
        <p:spPr>
          <a:xfrm>
            <a:off x="630936" y="4224528"/>
            <a:ext cx="7882128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18FF"/>
              </a:buClr>
              <a:buSzPts val="900"/>
              <a:buFont typeface="Kanit"/>
              <a:buNone/>
            </a:pPr>
            <a:r>
              <a:rPr b="1" i="0" lang="en-US" sz="900" u="none" cap="none" strike="noStrike">
                <a:solidFill>
                  <a:srgbClr val="C50041"/>
                </a:solidFill>
                <a:latin typeface="Kanit"/>
                <a:ea typeface="Kanit"/>
                <a:cs typeface="Kanit"/>
                <a:sym typeface="Kanit"/>
              </a:rPr>
              <a:t>TIP</a:t>
            </a:r>
            <a:r>
              <a:rPr b="1" i="0" lang="en-US" sz="900" u="none" cap="none" strike="noStrike">
                <a:solidFill>
                  <a:srgbClr val="5818FF"/>
                </a:solidFill>
                <a:latin typeface="Kanit"/>
                <a:ea typeface="Kanit"/>
                <a:cs typeface="Kanit"/>
                <a:sym typeface="Kanit"/>
              </a:rPr>
              <a:t>  </a:t>
            </a:r>
            <a:r>
              <a:rPr b="0" i="0" lang="en-US" sz="900" u="none" cap="none" strike="noStrike">
                <a:solidFill>
                  <a:srgbClr val="1B0442"/>
                </a:solidFill>
                <a:latin typeface="Inter"/>
                <a:ea typeface="Inter"/>
                <a:cs typeface="Inter"/>
                <a:sym typeface="Inter"/>
              </a:rPr>
              <a:t>The right-hand column is what earns trust. A tool with no listed limits reads like an ad, and the room will quietly discount everything else you said.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8"/>
          <p:cNvSpPr/>
          <p:nvPr/>
        </p:nvSpPr>
        <p:spPr>
          <a:xfrm>
            <a:off x="502920" y="4846320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0442"/>
              </a:buClr>
              <a:buSzPts val="750"/>
              <a:buFont typeface="Inter"/>
              <a:buNone/>
            </a:pPr>
            <a:r>
              <a:rPr b="0" i="0" lang="en-US" sz="750" u="none" cap="none" strike="noStrike">
                <a:solidFill>
                  <a:srgbClr val="1B0442"/>
                </a:solidFill>
                <a:latin typeface="Inter"/>
                <a:ea typeface="Inter"/>
                <a:cs typeface="Inter"/>
                <a:sym typeface="Inter"/>
              </a:rPr>
              <a:t>WWW.THIGA.CO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5" name="Google Shape;10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35240" y="4846320"/>
            <a:ext cx="1005840" cy="122142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8"/>
          <p:cNvSpPr/>
          <p:nvPr/>
        </p:nvSpPr>
        <p:spPr>
          <a:xfrm>
            <a:off x="7178040" y="4846320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818FF"/>
              </a:buClr>
              <a:buSzPts val="1000"/>
              <a:buFont typeface="Kanit"/>
              <a:buNone/>
            </a:pPr>
            <a:r>
              <a:rPr b="1" i="0" lang="en-US" sz="1000" u="none" cap="none" strike="noStrike">
                <a:solidFill>
                  <a:srgbClr val="5818FF"/>
                </a:solidFill>
                <a:latin typeface="Kanit"/>
                <a:ea typeface="Kanit"/>
                <a:cs typeface="Kanit"/>
                <a:sym typeface="Kanit"/>
              </a:rPr>
              <a:t>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0442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9"/>
          <p:cNvSpPr/>
          <p:nvPr/>
        </p:nvSpPr>
        <p:spPr>
          <a:xfrm>
            <a:off x="502920" y="4224528"/>
            <a:ext cx="8138100" cy="530400"/>
          </a:xfrm>
          <a:prstGeom prst="roundRect">
            <a:avLst>
              <a:gd fmla="val 6897" name="adj"/>
            </a:avLst>
          </a:prstGeom>
          <a:solidFill>
            <a:srgbClr val="E6DEFA"/>
          </a:solidFill>
          <a:ln cap="flat" cmpd="sng" w="12700">
            <a:solidFill>
              <a:srgbClr val="E6DE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9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581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9"/>
          <p:cNvSpPr/>
          <p:nvPr/>
        </p:nvSpPr>
        <p:spPr>
          <a:xfrm>
            <a:off x="502920" y="256032"/>
            <a:ext cx="5943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ACFF"/>
              </a:buClr>
              <a:buSzPts val="850"/>
              <a:buFont typeface="Inter"/>
              <a:buNone/>
            </a:pPr>
            <a:r>
              <a:rPr b="1" i="0" lang="en-US" sz="850" u="none" cap="none" strike="noStrike">
                <a:solidFill>
                  <a:srgbClr val="C4ACFF"/>
                </a:solidFill>
                <a:latin typeface="Inter"/>
                <a:ea typeface="Inter"/>
                <a:cs typeface="Inter"/>
                <a:sym typeface="Inter"/>
              </a:rPr>
              <a:t>T'LAB · TOOL DEMO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9"/>
          <p:cNvSpPr/>
          <p:nvPr/>
        </p:nvSpPr>
        <p:spPr>
          <a:xfrm>
            <a:off x="502920" y="475488"/>
            <a:ext cx="67665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78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Kanit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Kanit"/>
                <a:ea typeface="Kanit"/>
                <a:cs typeface="Kanit"/>
                <a:sym typeface="Kanit"/>
              </a:rPr>
              <a:t>STEAL THIS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9"/>
          <p:cNvSpPr/>
          <p:nvPr/>
        </p:nvSpPr>
        <p:spPr>
          <a:xfrm>
            <a:off x="502920" y="941832"/>
            <a:ext cx="1097280" cy="41148"/>
          </a:xfrm>
          <a:prstGeom prst="rect">
            <a:avLst/>
          </a:prstGeom>
          <a:solidFill>
            <a:srgbClr val="581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9"/>
          <p:cNvSpPr/>
          <p:nvPr/>
        </p:nvSpPr>
        <p:spPr>
          <a:xfrm>
            <a:off x="502920" y="1179576"/>
            <a:ext cx="813816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lnSpc>
                <a:spcPct val="13076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Inter"/>
              <a:buChar char="•"/>
            </a:pPr>
            <a:r>
              <a:rPr b="0" i="0" lang="en-US" sz="13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 prompt or config I used: [paste the real one, or the link]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30769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Inter"/>
              <a:buChar char="•"/>
            </a:pPr>
            <a:r>
              <a:rPr b="0" i="0" lang="en-US" sz="13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 template: [link]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30769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Inter"/>
              <a:buChar char="•"/>
            </a:pPr>
            <a:r>
              <a:rPr b="0" i="0" lang="en-US" sz="13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Where I'd start if I were you: [one step]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9"/>
          <p:cNvSpPr/>
          <p:nvPr/>
        </p:nvSpPr>
        <p:spPr>
          <a:xfrm>
            <a:off x="502920" y="2615184"/>
            <a:ext cx="81381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C4ACFF"/>
              </a:buClr>
              <a:buSzPts val="1800"/>
              <a:buFont typeface="Kanit"/>
              <a:buNone/>
            </a:pPr>
            <a:r>
              <a:rPr b="0" i="0" lang="en-US" sz="1800" u="none" cap="none" strike="noStrike">
                <a:solidFill>
                  <a:srgbClr val="C4ACFF"/>
                </a:solidFill>
                <a:latin typeface="Kanit"/>
                <a:ea typeface="Kanit"/>
                <a:cs typeface="Kanit"/>
                <a:sym typeface="Kanit"/>
              </a:rPr>
              <a:t>Over to you: [your question to the tribe]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9"/>
          <p:cNvSpPr/>
          <p:nvPr/>
        </p:nvSpPr>
        <p:spPr>
          <a:xfrm>
            <a:off x="565575" y="4261100"/>
            <a:ext cx="80754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ACFF"/>
              </a:buClr>
              <a:buSzPts val="900"/>
              <a:buFont typeface="Kanit"/>
              <a:buNone/>
            </a:pPr>
            <a:r>
              <a:rPr b="1" i="0" lang="en-US" sz="900" u="none" cap="none" strike="noStrike">
                <a:solidFill>
                  <a:srgbClr val="C50041"/>
                </a:solidFill>
                <a:latin typeface="Kanit"/>
                <a:ea typeface="Kanit"/>
                <a:cs typeface="Kanit"/>
                <a:sym typeface="Kanit"/>
              </a:rPr>
              <a:t>TIP</a:t>
            </a:r>
            <a:r>
              <a:rPr b="1" i="0" lang="en-US" sz="900" u="none" cap="none" strike="noStrike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rPr>
              <a:t>  </a:t>
            </a:r>
            <a:r>
              <a:rPr b="0" i="0" lang="en-US" sz="9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This is the slide people come back to weeks later. Put the actual prompt on it, not a polite summary, and drop the link in the chat while you talk.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9"/>
          <p:cNvSpPr/>
          <p:nvPr/>
        </p:nvSpPr>
        <p:spPr>
          <a:xfrm>
            <a:off x="502920" y="4846320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DEFA"/>
              </a:buClr>
              <a:buSzPts val="750"/>
              <a:buFont typeface="Inter"/>
              <a:buNone/>
            </a:pPr>
            <a:r>
              <a:rPr b="0" i="0" lang="en-US" sz="750" u="none" cap="none" strike="noStrike">
                <a:solidFill>
                  <a:srgbClr val="E6DEFA"/>
                </a:solidFill>
                <a:latin typeface="Inter"/>
                <a:ea typeface="Inter"/>
                <a:cs typeface="Inter"/>
                <a:sym typeface="Inter"/>
              </a:rPr>
              <a:t>WWW.THIGA.CO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1" name="Google Shape;12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35240" y="4846320"/>
            <a:ext cx="1005840" cy="12214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9"/>
          <p:cNvSpPr/>
          <p:nvPr/>
        </p:nvSpPr>
        <p:spPr>
          <a:xfrm>
            <a:off x="7178040" y="4846320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4ACFF"/>
              </a:buClr>
              <a:buSzPts val="1000"/>
              <a:buFont typeface="Kanit"/>
              <a:buNone/>
            </a:pPr>
            <a:r>
              <a:rPr b="1" i="0" lang="en-US" sz="1000" u="none" cap="none" strike="noStrike">
                <a:solidFill>
                  <a:srgbClr val="C4ACFF"/>
                </a:solidFill>
                <a:latin typeface="Kanit"/>
                <a:ea typeface="Kanit"/>
                <a:cs typeface="Kanit"/>
                <a:sym typeface="Kanit"/>
              </a:rPr>
              <a:t>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