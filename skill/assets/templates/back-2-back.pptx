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5143500" cy="9144000"/>
  <p:embeddedFontLst>
    <p:embeddedFont>
      <p:font typeface="Inter"/>
      <p:regular r:id="rId14"/>
      <p:bold r:id="rId15"/>
      <p:italic r:id="rId16"/>
      <p:boldItalic r:id="rId17"/>
    </p:embeddedFont>
    <p:embeddedFont>
      <p:font typeface="Kanit"/>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3CFA27E-07E6-42EA-90CC-C9E11EDF8C1E}">
  <a:tblStyle styleId="{53CFA27E-07E6-42EA-90CC-C9E11EDF8C1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Kanit-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Kanit-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font" Target="fonts/Inter-bold.fntdata"/><Relationship Id="rId14" Type="http://schemas.openxmlformats.org/officeDocument/2006/relationships/font" Target="fonts/Inter-regular.fntdata"/><Relationship Id="rId17" Type="http://schemas.openxmlformats.org/officeDocument/2006/relationships/font" Target="fonts/Inter-boldItalic.fntdata"/><Relationship Id="rId16" Type="http://schemas.openxmlformats.org/officeDocument/2006/relationships/font" Target="fonts/Inter-italic.fntdata"/><Relationship Id="rId5" Type="http://schemas.openxmlformats.org/officeDocument/2006/relationships/notesMaster" Target="notesMasters/notesMaster1.xml"/><Relationship Id="rId19" Type="http://schemas.openxmlformats.org/officeDocument/2006/relationships/font" Target="fonts/Kanit-bold.fntdata"/><Relationship Id="rId6" Type="http://schemas.openxmlformats.org/officeDocument/2006/relationships/slide" Target="slides/slide1.xml"/><Relationship Id="rId18" Type="http://schemas.openxmlformats.org/officeDocument/2006/relationships/font" Target="fonts/Kanit-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slide is for the speaker, not the audience. Delete it before presenting.</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 name="Shape 27"/>
        <p:cNvGrpSpPr/>
        <p:nvPr/>
      </p:nvGrpSpPr>
      <p:grpSpPr>
        <a:xfrm>
          <a:off x="0" y="0"/>
          <a:ext cx="0" cy="0"/>
          <a:chOff x="0" y="0"/>
          <a:chExt cx="0" cy="0"/>
        </a:xfrm>
      </p:grpSpPr>
      <p:sp>
        <p:nvSpPr>
          <p:cNvPr id="28" name="Google Shape;28;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 name="Google Shape;29;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Whoever opens reads the question out loud, then stops talking.</a:t>
            </a:r>
            <a:br>
              <a:rPr lang="en-US"/>
            </a:br>
            <a:br>
              <a:rPr lang="en-US"/>
            </a:br>
            <a:r>
              <a:rPr lang="en-US"/>
              <a:t>Write the question when you sign up, in the Notion form and in the calendar invite. Without it, you both default to "here's my mission and my pain points", which is a T'REX with two speakers.</a:t>
            </a:r>
            <a:br>
              <a:rPr lang="en-US"/>
            </a:br>
            <a:r>
              <a:rPr lang="en-US"/>
              <a:t>⏱ 1 min</a:t>
            </a:r>
            <a:endParaRPr/>
          </a:p>
        </p:txBody>
      </p:sp>
      <p:sp>
        <p:nvSpPr>
          <p:cNvPr id="30" name="Google Shape;30;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4" name="Google Shape;4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You share this slide. Read across the rows rather than down the columns, the contrast does the framing for you.</a:t>
            </a:r>
            <a:br>
              <a:rPr lang="en-US"/>
            </a:br>
            <a:r>
              <a:rPr lang="en-US"/>
              <a:t>⏱ 3 min</a:t>
            </a:r>
            <a:endParaRPr/>
          </a:p>
        </p:txBody>
      </p:sp>
      <p:sp>
        <p:nvSpPr>
          <p:cNvPr id="45" name="Google Shape;4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8" name="Google Shape;5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4 min</a:t>
            </a:r>
            <a:endParaRPr/>
          </a:p>
        </p:txBody>
      </p:sp>
      <p:sp>
        <p:nvSpPr>
          <p:cNvPr id="59" name="Google Shape;5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4 min</a:t>
            </a:r>
            <a:endParaRPr/>
          </a:p>
        </p:txBody>
      </p:sp>
      <p:sp>
        <p:nvSpPr>
          <p:cNvPr id="79" name="Google Shape;79;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8" name="Google Shape;98;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 min</a:t>
            </a:r>
            <a:endParaRPr/>
          </a:p>
        </p:txBody>
      </p:sp>
      <p:sp>
        <p:nvSpPr>
          <p:cNvPr id="99" name="Google Shape;99;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payoff slide. Can't find two real differences? Go back to the two answers and look harder: same job, different context, opposite strategy.</a:t>
            </a:r>
            <a:br>
              <a:rPr lang="en-US"/>
            </a:br>
            <a:r>
              <a:rPr lang="en-US"/>
              <a:t>⏱ 3 min</a:t>
            </a:r>
            <a:endParaRPr/>
          </a:p>
        </p:txBody>
      </p:sp>
      <p:sp>
        <p:nvSpPr>
          <p:cNvPr id="113" name="Google Shape;113;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6" name="Google Shape;126;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 2 min, then 10 min of questions</a:t>
            </a:r>
            <a:endParaRPr/>
          </a:p>
        </p:txBody>
      </p:sp>
      <p:sp>
        <p:nvSpPr>
          <p:cNvPr id="127" name="Google Shape;127;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5" name="Shape 15"/>
        <p:cNvGrpSpPr/>
        <p:nvPr/>
      </p:nvGrpSpPr>
      <p:grpSpPr>
        <a:xfrm>
          <a:off x="0" y="0"/>
          <a:ext cx="0" cy="0"/>
          <a:chOff x="0" y="0"/>
          <a:chExt cx="0" cy="0"/>
        </a:xfrm>
      </p:grpSpPr>
      <p:sp>
        <p:nvSpPr>
          <p:cNvPr id="16" name="Google Shape;16;p3"/>
          <p:cNvSpPr/>
          <p:nvPr/>
        </p:nvSpPr>
        <p:spPr>
          <a:xfrm>
            <a:off x="502925" y="475502"/>
            <a:ext cx="59436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2000"/>
              <a:buFont typeface="Kanit"/>
              <a:buNone/>
            </a:pPr>
            <a:r>
              <a:rPr b="1" i="0" lang="en-US" sz="2000" u="none" cap="none" strike="noStrike">
                <a:solidFill>
                  <a:srgbClr val="1B0442"/>
                </a:solidFill>
                <a:latin typeface="Kanit"/>
                <a:ea typeface="Kanit"/>
                <a:cs typeface="Kanit"/>
                <a:sym typeface="Kanit"/>
              </a:rPr>
              <a:t>HOW TO USE THIS TEMPLATE</a:t>
            </a:r>
            <a:endParaRPr b="0" i="0" sz="2000" u="none" cap="none" strike="noStrike">
              <a:solidFill>
                <a:schemeClr val="dk1"/>
              </a:solidFill>
              <a:latin typeface="Calibri"/>
              <a:ea typeface="Calibri"/>
              <a:cs typeface="Calibri"/>
              <a:sym typeface="Calibri"/>
            </a:endParaRPr>
          </a:p>
        </p:txBody>
      </p:sp>
      <p:sp>
        <p:nvSpPr>
          <p:cNvPr id="17" name="Google Shape;17;p3"/>
          <p:cNvSpPr/>
          <p:nvPr/>
        </p:nvSpPr>
        <p:spPr>
          <a:xfrm>
            <a:off x="502920" y="932688"/>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3"/>
          <p:cNvSpPr/>
          <p:nvPr/>
        </p:nvSpPr>
        <p:spPr>
          <a:xfrm>
            <a:off x="502920" y="1133856"/>
            <a:ext cx="8138160" cy="457200"/>
          </a:xfrm>
          <a:prstGeom prst="rect">
            <a:avLst/>
          </a:prstGeom>
          <a:noFill/>
          <a:ln>
            <a:noFill/>
          </a:ln>
        </p:spPr>
        <p:txBody>
          <a:bodyPr anchorCtr="0" anchor="ctr" bIns="0" lIns="0" spcFirstLastPara="1" rIns="0" wrap="square" tIns="0">
            <a:noAutofit/>
          </a:bodyPr>
          <a:lstStyle/>
          <a:p>
            <a:pPr indent="0" lvl="0" marL="0" marR="0" rtl="0" algn="l">
              <a:lnSpc>
                <a:spcPct val="115000"/>
              </a:lnSpc>
              <a:spcBef>
                <a:spcPts val="0"/>
              </a:spcBef>
              <a:spcAft>
                <a:spcPts val="0"/>
              </a:spcAft>
              <a:buClr>
                <a:srgbClr val="1B0442"/>
              </a:buClr>
              <a:buSzPts val="1400"/>
              <a:buFont typeface="Kanit"/>
              <a:buNone/>
            </a:pPr>
            <a:r>
              <a:rPr b="0" i="0" lang="en-US" sz="1400" u="none" cap="none" strike="noStrike">
                <a:solidFill>
                  <a:srgbClr val="1B0442"/>
                </a:solidFill>
                <a:latin typeface="Kanit"/>
                <a:ea typeface="Kanit"/>
                <a:cs typeface="Kanit"/>
                <a:sym typeface="Kanit"/>
              </a:rPr>
              <a:t>Two of us answer the same question about our missions, side by side, to see how much the context changes the answer.</a:t>
            </a:r>
            <a:endParaRPr b="0" i="0" sz="1400" u="none" cap="none" strike="noStrike">
              <a:solidFill>
                <a:schemeClr val="dk1"/>
              </a:solidFill>
              <a:latin typeface="Calibri"/>
              <a:ea typeface="Calibri"/>
              <a:cs typeface="Calibri"/>
              <a:sym typeface="Calibri"/>
            </a:endParaRPr>
          </a:p>
        </p:txBody>
      </p:sp>
      <p:graphicFrame>
        <p:nvGraphicFramePr>
          <p:cNvPr id="19" name="Google Shape;19;p3"/>
          <p:cNvGraphicFramePr/>
          <p:nvPr/>
        </p:nvGraphicFramePr>
        <p:xfrm>
          <a:off x="502920" y="1749308"/>
          <a:ext cx="3000000" cy="3000000"/>
        </p:xfrm>
        <a:graphic>
          <a:graphicData uri="http://schemas.openxmlformats.org/drawingml/2006/table">
            <a:tbl>
              <a:tblPr>
                <a:noFill/>
                <a:tableStyleId>{53CFA27E-07E6-42EA-90CC-C9E11EDF8C1E}</a:tableStyleId>
              </a:tblPr>
              <a:tblGrid>
                <a:gridCol w="4069075"/>
                <a:gridCol w="4069075"/>
              </a:tblGrid>
              <a:tr h="308850">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THE RULES</a:t>
                      </a:r>
                      <a:endParaRPr sz="1000" u="none" cap="none" strike="noStrike">
                        <a:latin typeface="Kanit"/>
                        <a:ea typeface="Kanit"/>
                        <a:cs typeface="Kanit"/>
                        <a:sym typeface="Kanit"/>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THE TRAP TO AVOID</a:t>
                      </a:r>
                      <a:endParaRPr sz="1000" u="none" cap="none" strike="noStrike">
                        <a:latin typeface="Kanit"/>
                        <a:ea typeface="Kanit"/>
                        <a:cs typeface="Kanit"/>
                        <a:sym typeface="Kanit"/>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1163725">
                <a:tc>
                  <a:txBody>
                    <a:bodyPr/>
                    <a:lstStyle/>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Fill your grid separately, compare afterwards</a:t>
                      </a:r>
                      <a:endParaRPr sz="1000" u="none" cap="none" strike="noStrike">
                        <a:latin typeface="Inter"/>
                        <a:ea typeface="Inter"/>
                        <a:cs typeface="Inter"/>
                        <a:sym typeface="Inter"/>
                      </a:endParaRPr>
                    </a:p>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Slides 3 and 4 share a layout on purpose</a:t>
                      </a:r>
                      <a:endParaRPr sz="1000" u="none" cap="none" strike="noStrike">
                        <a:latin typeface="Inter"/>
                        <a:ea typeface="Inter"/>
                        <a:cs typeface="Inter"/>
                        <a:sym typeface="Inter"/>
                      </a:endParaRPr>
                    </a:p>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 Don't merge into one voice</a:t>
                      </a:r>
                      <a:endParaRPr sz="1000" u="none" cap="none" strike="noStrike">
                        <a:latin typeface="Inter"/>
                        <a:ea typeface="Inter"/>
                        <a:cs typeface="Inter"/>
                        <a:sym typeface="Inter"/>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lnSpc>
                          <a:spcPct val="150000"/>
                        </a:lnSpc>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Smoothing both answers into a single tidy narrative. The friction is the interesting part, so where you disagree, put it on the slide.</a:t>
                      </a:r>
                      <a:endParaRPr sz="1000" u="none" cap="none" strike="noStrike">
                        <a:latin typeface="Inter"/>
                        <a:ea typeface="Inter"/>
                        <a:cs typeface="Inter"/>
                        <a:sym typeface="Inter"/>
                      </a:endParaRPr>
                    </a:p>
                  </a:txBody>
                  <a:tcPr marT="82300" marB="82300" marR="82300" marL="82300">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20" name="Google Shape;20;p3"/>
          <p:cNvSpPr/>
          <p:nvPr/>
        </p:nvSpPr>
        <p:spPr>
          <a:xfrm>
            <a:off x="502920" y="3383280"/>
            <a:ext cx="8138160" cy="841248"/>
          </a:xfrm>
          <a:prstGeom prst="roundRect">
            <a:avLst>
              <a:gd fmla="val 4348" name="adj"/>
            </a:avLst>
          </a:prstGeom>
          <a:solidFill>
            <a:srgbClr val="E6DEFA"/>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3"/>
          <p:cNvSpPr/>
          <p:nvPr/>
        </p:nvSpPr>
        <p:spPr>
          <a:xfrm>
            <a:off x="630936" y="3383280"/>
            <a:ext cx="7882128" cy="841248"/>
          </a:xfrm>
          <a:prstGeom prst="rect">
            <a:avLst/>
          </a:prstGeom>
          <a:noFill/>
          <a:ln>
            <a:noFill/>
          </a:ln>
        </p:spPr>
        <p:txBody>
          <a:bodyPr anchorCtr="0" anchor="ctr" bIns="0" lIns="0" spcFirstLastPara="1" rIns="0" wrap="square" tIns="0">
            <a:noAutofit/>
          </a:bodyPr>
          <a:lstStyle/>
          <a:p>
            <a:pPr indent="0" lvl="0" marL="0" marR="0" rtl="0" algn="l">
              <a:lnSpc>
                <a:spcPct val="127272"/>
              </a:lnSpc>
              <a:spcBef>
                <a:spcPts val="0"/>
              </a:spcBef>
              <a:spcAft>
                <a:spcPts val="0"/>
              </a:spcAft>
              <a:buClr>
                <a:srgbClr val="5818FF"/>
              </a:buClr>
              <a:buSzPts val="1100"/>
              <a:buFont typeface="Kanit"/>
              <a:buNone/>
            </a:pPr>
            <a:r>
              <a:rPr b="1" i="0" lang="en-US" sz="1100" u="none" cap="none" strike="noStrike">
                <a:solidFill>
                  <a:srgbClr val="5818FF"/>
                </a:solidFill>
                <a:latin typeface="Kanit"/>
                <a:ea typeface="Kanit"/>
                <a:cs typeface="Kanit"/>
                <a:sym typeface="Kanit"/>
              </a:rPr>
              <a:t>HOW TO FILL THIS IN.   </a:t>
            </a:r>
            <a:r>
              <a:rPr b="0" i="0" lang="en-US" sz="950" u="none" cap="none" strike="noStrike">
                <a:solidFill>
                  <a:srgbClr val="1B0442"/>
                </a:solidFill>
                <a:latin typeface="Inter"/>
                <a:ea typeface="Inter"/>
                <a:cs typeface="Inter"/>
                <a:sym typeface="Inter"/>
              </a:rPr>
              <a:t>Read the speaker notes on each slide first: they hold the questions to answer and what to actually say out loud. Fill the [bracketed] bits, drop your visuals in the dashed zones, then delete the TIP boxes and this slide.</a:t>
            </a:r>
            <a:endParaRPr b="0" i="0" sz="1100" u="none" cap="none" strike="noStrike">
              <a:solidFill>
                <a:schemeClr val="dk1"/>
              </a:solidFill>
              <a:latin typeface="Calibri"/>
              <a:ea typeface="Calibri"/>
              <a:cs typeface="Calibri"/>
              <a:sym typeface="Calibri"/>
            </a:endParaRPr>
          </a:p>
          <a:p>
            <a:pPr indent="0" lvl="0" marL="0" marR="0" rtl="0" algn="l">
              <a:lnSpc>
                <a:spcPct val="147368"/>
              </a:lnSpc>
              <a:spcBef>
                <a:spcPts val="0"/>
              </a:spcBef>
              <a:spcAft>
                <a:spcPts val="0"/>
              </a:spcAft>
              <a:buClr>
                <a:srgbClr val="1B0442"/>
              </a:buClr>
              <a:buSzPts val="950"/>
              <a:buFont typeface="Inter"/>
              <a:buNone/>
            </a:pPr>
            <a:r>
              <a:rPr b="0" i="0" lang="en-US" sz="950" u="none" cap="none" strike="noStrike">
                <a:solidFill>
                  <a:srgbClr val="1B0442"/>
                </a:solidFill>
                <a:latin typeface="Inter"/>
                <a:ea typeface="Inter"/>
                <a:cs typeface="Inter"/>
                <a:sym typeface="Inter"/>
              </a:rPr>
              <a:t>Quicker route: paste your notes into Claude and ask it to fill this template for you. Then correct what it got wrong, which is the part only you can do.</a:t>
            </a:r>
            <a:endParaRPr b="0" i="0" sz="1100" u="none" cap="none" strike="noStrike">
              <a:solidFill>
                <a:schemeClr val="dk1"/>
              </a:solidFill>
              <a:latin typeface="Calibri"/>
              <a:ea typeface="Calibri"/>
              <a:cs typeface="Calibri"/>
              <a:sym typeface="Calibri"/>
            </a:endParaRPr>
          </a:p>
        </p:txBody>
      </p:sp>
      <p:sp>
        <p:nvSpPr>
          <p:cNvPr id="22" name="Google Shape;22;p3"/>
          <p:cNvSpPr/>
          <p:nvPr/>
        </p:nvSpPr>
        <p:spPr>
          <a:xfrm>
            <a:off x="502920" y="4315968"/>
            <a:ext cx="8138160" cy="411480"/>
          </a:xfrm>
          <a:prstGeom prst="rect">
            <a:avLst/>
          </a:prstGeom>
          <a:noFill/>
          <a:ln>
            <a:noFill/>
          </a:ln>
        </p:spPr>
        <p:txBody>
          <a:bodyPr anchorCtr="0" anchor="ctr" bIns="0" lIns="0" spcFirstLastPara="1" rIns="0" wrap="square" tIns="0">
            <a:noAutofit/>
          </a:bodyPr>
          <a:lstStyle/>
          <a:p>
            <a:pPr indent="0" lvl="0" marL="0" marR="0" rtl="0" algn="l">
              <a:lnSpc>
                <a:spcPct val="141176"/>
              </a:lnSpc>
              <a:spcBef>
                <a:spcPts val="0"/>
              </a:spcBef>
              <a:spcAft>
                <a:spcPts val="0"/>
              </a:spcAft>
              <a:buClr>
                <a:srgbClr val="1B0442"/>
              </a:buClr>
              <a:buSzPts val="850"/>
              <a:buFont typeface="Inter"/>
              <a:buNone/>
            </a:pPr>
            <a:r>
              <a:rPr b="0" i="1" lang="en-US" sz="850" u="none" cap="none" strike="noStrike">
                <a:solidFill>
                  <a:srgbClr val="1B0442"/>
                </a:solidFill>
                <a:latin typeface="Inter"/>
                <a:ea typeface="Inter"/>
                <a:cs typeface="Inter"/>
                <a:sym typeface="Inter"/>
              </a:rPr>
              <a:t>Confidentiality: anonymise the client unless the mission is public · blur user data, names and figures in screenshots · prefer relative metrics · never share a client Figma or Miro link, screenshot it instead.</a:t>
            </a:r>
            <a:endParaRPr b="0" i="1" sz="850" u="none" cap="none" strike="noStrike">
              <a:solidFill>
                <a:schemeClr val="dk1"/>
              </a:solidFill>
              <a:latin typeface="Calibri"/>
              <a:ea typeface="Calibri"/>
              <a:cs typeface="Calibri"/>
              <a:sym typeface="Calibri"/>
            </a:endParaRPr>
          </a:p>
        </p:txBody>
      </p:sp>
      <p:sp>
        <p:nvSpPr>
          <p:cNvPr id="23" name="Google Shape;23;p3"/>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24" name="Google Shape;24;p3"/>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25" name="Google Shape;25;p3"/>
          <p:cNvSpPr/>
          <p:nvPr/>
        </p:nvSpPr>
        <p:spPr>
          <a:xfrm>
            <a:off x="502920" y="256032"/>
            <a:ext cx="5943600" cy="2013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lang="en-US" sz="1700">
                <a:solidFill>
                  <a:srgbClr val="5818FF"/>
                </a:solidFill>
                <a:highlight>
                  <a:srgbClr val="5818FF"/>
                </a:highlight>
                <a:latin typeface="Kanit"/>
                <a:ea typeface="Kanit"/>
                <a:cs typeface="Kanit"/>
                <a:sym typeface="Kanit"/>
              </a:rPr>
              <a:t>.</a:t>
            </a:r>
            <a:r>
              <a:rPr b="1" i="0" lang="en-US" sz="1600" u="none" cap="none" strike="noStrike">
                <a:solidFill>
                  <a:srgbClr val="FFFFFF"/>
                </a:solidFill>
                <a:highlight>
                  <a:srgbClr val="5818FF"/>
                </a:highlight>
                <a:latin typeface="Inter"/>
                <a:ea typeface="Inter"/>
                <a:cs typeface="Inter"/>
                <a:sym typeface="Inter"/>
              </a:rPr>
              <a:t> READ ME FIRST</a:t>
            </a:r>
            <a:r>
              <a:rPr b="1" i="0" lang="en-US" sz="1600" u="none" cap="none" strike="noStrike">
                <a:solidFill>
                  <a:srgbClr val="5818FF"/>
                </a:solidFill>
                <a:highlight>
                  <a:srgbClr val="5818FF"/>
                </a:highlight>
                <a:latin typeface="Inter"/>
                <a:ea typeface="Inter"/>
                <a:cs typeface="Inter"/>
                <a:sym typeface="Inter"/>
              </a:rPr>
              <a:t>.</a:t>
            </a:r>
            <a:endParaRPr b="0" i="0" sz="1600" u="none" cap="none" strike="noStrike">
              <a:solidFill>
                <a:srgbClr val="5818FF"/>
              </a:solidFill>
              <a:highlight>
                <a:srgbClr val="5818FF"/>
              </a:highlight>
              <a:latin typeface="Calibri"/>
              <a:ea typeface="Calibri"/>
              <a:cs typeface="Calibri"/>
              <a:sym typeface="Calibri"/>
            </a:endParaRPr>
          </a:p>
        </p:txBody>
      </p:sp>
      <p:sp>
        <p:nvSpPr>
          <p:cNvPr id="26" name="Google Shape;26;p3"/>
          <p:cNvSpPr/>
          <p:nvPr/>
        </p:nvSpPr>
        <p:spPr>
          <a:xfrm>
            <a:off x="6035040" y="420624"/>
            <a:ext cx="2606100" cy="502800"/>
          </a:xfrm>
          <a:prstGeom prst="rect">
            <a:avLst/>
          </a:prstGeom>
          <a:solidFill>
            <a:srgbClr val="C50041"/>
          </a:solid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Clr>
                <a:srgbClr val="FFFFFF"/>
              </a:buClr>
              <a:buSzPts val="1000"/>
              <a:buFont typeface="Kanit"/>
              <a:buNone/>
            </a:pPr>
            <a:r>
              <a:rPr b="1" i="0" lang="en-US" sz="1000" u="none" cap="none" strike="noStrike">
                <a:solidFill>
                  <a:srgbClr val="FFFFFF"/>
                </a:solidFill>
                <a:latin typeface="Kanit"/>
                <a:ea typeface="Kanit"/>
                <a:cs typeface="Kanit"/>
                <a:sym typeface="Kanit"/>
              </a:rPr>
              <a:t>DELETE THIS SLIDE</a:t>
            </a:r>
            <a:br>
              <a:rPr b="1" i="0" lang="en-US" sz="1000" u="none" cap="none" strike="noStrike">
                <a:solidFill>
                  <a:srgbClr val="FFFFFF"/>
                </a:solidFill>
                <a:latin typeface="Kanit"/>
                <a:ea typeface="Kanit"/>
                <a:cs typeface="Kanit"/>
                <a:sym typeface="Kanit"/>
              </a:rPr>
            </a:br>
            <a:r>
              <a:rPr b="0" i="0" lang="en-US" sz="900" u="none" cap="none" strike="noStrike">
                <a:solidFill>
                  <a:srgbClr val="FFF0F2"/>
                </a:solidFill>
                <a:latin typeface="Inter"/>
                <a:ea typeface="Inter"/>
                <a:cs typeface="Inter"/>
                <a:sym typeface="Inter"/>
              </a:rPr>
              <a:t>before you present</a:t>
            </a:r>
            <a:endParaRPr b="0" i="0" sz="1000" u="none" cap="none" strike="noStrike">
              <a:solidFill>
                <a:srgbClr val="FFF0F2"/>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0442"/>
        </a:solidFill>
      </p:bgPr>
    </p:bg>
    <p:spTree>
      <p:nvGrpSpPr>
        <p:cNvPr id="31" name="Shape 31"/>
        <p:cNvGrpSpPr/>
        <p:nvPr/>
      </p:nvGrpSpPr>
      <p:grpSpPr>
        <a:xfrm>
          <a:off x="0" y="0"/>
          <a:ext cx="0" cy="0"/>
          <a:chOff x="0" y="0"/>
          <a:chExt cx="0" cy="0"/>
        </a:xfrm>
      </p:grpSpPr>
      <p:sp>
        <p:nvSpPr>
          <p:cNvPr id="32" name="Google Shape;32;p4"/>
          <p:cNvSpPr/>
          <p:nvPr/>
        </p:nvSpPr>
        <p:spPr>
          <a:xfrm>
            <a:off x="0" y="0"/>
            <a:ext cx="201168" cy="5143500"/>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4"/>
          <p:cNvSpPr/>
          <p:nvPr/>
        </p:nvSpPr>
        <p:spPr>
          <a:xfrm>
            <a:off x="502920" y="822960"/>
            <a:ext cx="5029200" cy="219456"/>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ACFF"/>
              </a:buClr>
              <a:buSzPts val="900"/>
              <a:buFont typeface="Inter"/>
              <a:buNone/>
            </a:pPr>
            <a:r>
              <a:rPr b="1" i="0" lang="en-US" sz="900" u="none" cap="none" strike="noStrike">
                <a:solidFill>
                  <a:srgbClr val="C4ACFF"/>
                </a:solidFill>
                <a:latin typeface="Inter"/>
                <a:ea typeface="Inter"/>
                <a:cs typeface="Inter"/>
                <a:sym typeface="Inter"/>
              </a:rPr>
              <a:t>TRIBE DESIGN · [DATE]</a:t>
            </a:r>
            <a:endParaRPr b="0" i="0" sz="900" u="none" cap="none" strike="noStrike">
              <a:solidFill>
                <a:schemeClr val="dk1"/>
              </a:solidFill>
              <a:latin typeface="Calibri"/>
              <a:ea typeface="Calibri"/>
              <a:cs typeface="Calibri"/>
              <a:sym typeface="Calibri"/>
            </a:endParaRPr>
          </a:p>
        </p:txBody>
      </p:sp>
      <p:sp>
        <p:nvSpPr>
          <p:cNvPr id="34" name="Google Shape;34;p4"/>
          <p:cNvSpPr/>
          <p:nvPr/>
        </p:nvSpPr>
        <p:spPr>
          <a:xfrm>
            <a:off x="502920" y="1143000"/>
            <a:ext cx="5120640" cy="6400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300"/>
              <a:buFont typeface="Kanit"/>
              <a:buNone/>
            </a:pPr>
            <a:r>
              <a:rPr b="1" i="0" lang="en-US" sz="3300" u="none" cap="none" strike="noStrike">
                <a:solidFill>
                  <a:srgbClr val="FFFFFF"/>
                </a:solidFill>
                <a:latin typeface="Kanit"/>
                <a:ea typeface="Kanit"/>
                <a:cs typeface="Kanit"/>
                <a:sym typeface="Kanit"/>
              </a:rPr>
              <a:t>BACK 2 BACK 🕺💃</a:t>
            </a:r>
            <a:endParaRPr b="0" i="0" sz="3300" u="none" cap="none" strike="noStrike">
              <a:solidFill>
                <a:schemeClr val="dk1"/>
              </a:solidFill>
              <a:latin typeface="Calibri"/>
              <a:ea typeface="Calibri"/>
              <a:cs typeface="Calibri"/>
              <a:sym typeface="Calibri"/>
            </a:endParaRPr>
          </a:p>
        </p:txBody>
      </p:sp>
      <p:sp>
        <p:nvSpPr>
          <p:cNvPr id="35" name="Google Shape;35;p4"/>
          <p:cNvSpPr/>
          <p:nvPr/>
        </p:nvSpPr>
        <p:spPr>
          <a:xfrm>
            <a:off x="502920" y="1920240"/>
            <a:ext cx="5120640" cy="1051560"/>
          </a:xfrm>
          <a:prstGeom prst="rect">
            <a:avLst/>
          </a:prstGeom>
          <a:noFill/>
          <a:ln>
            <a:noFill/>
          </a:ln>
        </p:spPr>
        <p:txBody>
          <a:bodyPr anchorCtr="0" anchor="ctr" bIns="0" lIns="0" spcFirstLastPara="1" rIns="0" wrap="square" tIns="0">
            <a:noAutofit/>
          </a:bodyPr>
          <a:lstStyle/>
          <a:p>
            <a:pPr indent="0" lvl="0" marL="0" marR="0" rtl="0" algn="l">
              <a:lnSpc>
                <a:spcPct val="136842"/>
              </a:lnSpc>
              <a:spcBef>
                <a:spcPts val="0"/>
              </a:spcBef>
              <a:spcAft>
                <a:spcPts val="0"/>
              </a:spcAft>
              <a:buClr>
                <a:srgbClr val="C4ACFF"/>
              </a:buClr>
              <a:buSzPts val="1900"/>
              <a:buFont typeface="Kanit"/>
              <a:buNone/>
            </a:pPr>
            <a:r>
              <a:rPr b="0" i="0" lang="en-US" sz="1900" u="none" cap="none" strike="noStrike">
                <a:solidFill>
                  <a:srgbClr val="C4ACFF"/>
                </a:solidFill>
                <a:latin typeface="Kanit"/>
                <a:ea typeface="Kanit"/>
                <a:cs typeface="Kanit"/>
                <a:sym typeface="Kanit"/>
              </a:rPr>
              <a:t>"[The one question you both answer]"</a:t>
            </a:r>
            <a:endParaRPr b="0" i="0" sz="1900" u="none" cap="none" strike="noStrike">
              <a:solidFill>
                <a:schemeClr val="dk1"/>
              </a:solidFill>
              <a:latin typeface="Calibri"/>
              <a:ea typeface="Calibri"/>
              <a:cs typeface="Calibri"/>
              <a:sym typeface="Calibri"/>
            </a:endParaRPr>
          </a:p>
        </p:txBody>
      </p:sp>
      <p:sp>
        <p:nvSpPr>
          <p:cNvPr id="36" name="Google Shape;36;p4"/>
          <p:cNvSpPr/>
          <p:nvPr/>
        </p:nvSpPr>
        <p:spPr>
          <a:xfrm>
            <a:off x="502920" y="3108960"/>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4"/>
          <p:cNvSpPr/>
          <p:nvPr/>
        </p:nvSpPr>
        <p:spPr>
          <a:xfrm>
            <a:off x="502920" y="3310128"/>
            <a:ext cx="51206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1200"/>
              <a:buFont typeface="Inter"/>
              <a:buNone/>
            </a:pPr>
            <a:r>
              <a:rPr b="0" i="0" lang="en-US" sz="1200" u="none" cap="none" strike="noStrike">
                <a:solidFill>
                  <a:srgbClr val="E6DEFA"/>
                </a:solidFill>
                <a:latin typeface="Inter"/>
                <a:ea typeface="Inter"/>
                <a:cs typeface="Inter"/>
                <a:sym typeface="Inter"/>
              </a:rPr>
              <a:t>[Your name</a:t>
            </a:r>
            <a:r>
              <a:rPr lang="en-US" sz="1200">
                <a:solidFill>
                  <a:srgbClr val="E6DEFA"/>
                </a:solidFill>
                <a:latin typeface="Inter"/>
                <a:ea typeface="Inter"/>
                <a:cs typeface="Inter"/>
                <a:sym typeface="Inter"/>
              </a:rPr>
              <a:t> </a:t>
            </a:r>
            <a:r>
              <a:rPr b="0" i="0" lang="en-US" sz="1200" u="none" cap="none" strike="noStrike">
                <a:solidFill>
                  <a:srgbClr val="E6DEFA"/>
                </a:solidFill>
                <a:latin typeface="Inter"/>
                <a:ea typeface="Inter"/>
                <a:cs typeface="Inter"/>
                <a:sym typeface="Inter"/>
              </a:rPr>
              <a:t>· Your </a:t>
            </a:r>
            <a:r>
              <a:rPr lang="en-US" sz="1200">
                <a:solidFill>
                  <a:srgbClr val="E6DEFA"/>
                </a:solidFill>
                <a:latin typeface="Inter"/>
                <a:ea typeface="Inter"/>
                <a:cs typeface="Inter"/>
                <a:sym typeface="Inter"/>
              </a:rPr>
              <a:t>c</a:t>
            </a:r>
            <a:r>
              <a:rPr b="0" i="0" lang="en-US" sz="1200" u="none" cap="none" strike="noStrike">
                <a:solidFill>
                  <a:srgbClr val="E6DEFA"/>
                </a:solidFill>
                <a:latin typeface="Inter"/>
                <a:ea typeface="Inter"/>
                <a:cs typeface="Inter"/>
                <a:sym typeface="Inter"/>
              </a:rPr>
              <a:t>lient] x </a:t>
            </a:r>
            <a:r>
              <a:rPr lang="en-US" sz="1200">
                <a:solidFill>
                  <a:srgbClr val="E6DEFA"/>
                </a:solidFill>
                <a:latin typeface="Inter"/>
                <a:ea typeface="Inter"/>
                <a:cs typeface="Inter"/>
                <a:sym typeface="Inter"/>
              </a:rPr>
              <a:t>[Your name · Your client]</a:t>
            </a:r>
            <a:endParaRPr b="0" i="0" sz="1200" u="none" cap="none" strike="noStrike">
              <a:solidFill>
                <a:schemeClr val="dk1"/>
              </a:solidFill>
              <a:latin typeface="Calibri"/>
              <a:ea typeface="Calibri"/>
              <a:cs typeface="Calibri"/>
              <a:sym typeface="Calibri"/>
            </a:endParaRPr>
          </a:p>
        </p:txBody>
      </p:sp>
      <p:sp>
        <p:nvSpPr>
          <p:cNvPr id="38" name="Google Shape;38;p4"/>
          <p:cNvSpPr/>
          <p:nvPr/>
        </p:nvSpPr>
        <p:spPr>
          <a:xfrm>
            <a:off x="5897880" y="822960"/>
            <a:ext cx="2743200" cy="2743200"/>
          </a:xfrm>
          <a:prstGeom prst="roundRect">
            <a:avLst>
              <a:gd fmla="val 1333" name="adj"/>
            </a:avLst>
          </a:prstGeom>
          <a:solidFill>
            <a:srgbClr val="5818FF"/>
          </a:solidFill>
          <a:ln cap="flat" cmpd="sng" w="12700">
            <a:solidFill>
              <a:srgbClr val="5818FF"/>
            </a:solidFill>
            <a:prstDash val="dash"/>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4"/>
          <p:cNvSpPr/>
          <p:nvPr/>
        </p:nvSpPr>
        <p:spPr>
          <a:xfrm>
            <a:off x="5897880" y="822960"/>
            <a:ext cx="2743200" cy="2743200"/>
          </a:xfrm>
          <a:prstGeom prst="rect">
            <a:avLst/>
          </a:prstGeom>
          <a:noFill/>
          <a:ln>
            <a:noFill/>
          </a:ln>
        </p:spPr>
        <p:txBody>
          <a:bodyPr anchorCtr="0" anchor="ctr" bIns="0" lIns="0" spcFirstLastPara="1" rIns="0" wrap="square" tIns="0">
            <a:noAutofit/>
          </a:bodyPr>
          <a:lstStyle/>
          <a:p>
            <a:pPr indent="0" lvl="0" marL="0" marR="0" rtl="0" algn="ctr">
              <a:lnSpc>
                <a:spcPct val="145454"/>
              </a:lnSpc>
              <a:spcBef>
                <a:spcPts val="0"/>
              </a:spcBef>
              <a:spcAft>
                <a:spcPts val="0"/>
              </a:spcAft>
              <a:buClr>
                <a:srgbClr val="C4ACFF"/>
              </a:buClr>
              <a:buSzPts val="1100"/>
              <a:buFont typeface="Kanit"/>
              <a:buNone/>
            </a:pPr>
            <a:r>
              <a:rPr b="0" i="0" lang="en-US" sz="1100" u="none" cap="none" strike="noStrike">
                <a:solidFill>
                  <a:srgbClr val="C4ACFF"/>
                </a:solidFill>
                <a:latin typeface="Kanit"/>
                <a:ea typeface="Kanit"/>
                <a:cs typeface="Kanit"/>
                <a:sym typeface="Kanit"/>
              </a:rPr>
              <a:t>IMAGE</a:t>
            </a:r>
            <a:endParaRPr b="0" i="0" sz="1100" u="none" cap="none" strike="noStrike">
              <a:solidFill>
                <a:schemeClr val="dk1"/>
              </a:solidFill>
              <a:latin typeface="Calibri"/>
              <a:ea typeface="Calibri"/>
              <a:cs typeface="Calibri"/>
              <a:sym typeface="Calibri"/>
            </a:endParaRPr>
          </a:p>
          <a:p>
            <a:pPr indent="0" lvl="0" marL="0" marR="0" rtl="0" algn="ctr">
              <a:lnSpc>
                <a:spcPct val="145454"/>
              </a:lnSpc>
              <a:spcBef>
                <a:spcPts val="0"/>
              </a:spcBef>
              <a:spcAft>
                <a:spcPts val="0"/>
              </a:spcAft>
              <a:buClr>
                <a:srgbClr val="C4ACFF"/>
              </a:buClr>
              <a:buSzPts val="1100"/>
              <a:buFont typeface="Kanit"/>
              <a:buNone/>
            </a:pPr>
            <a:r>
              <a:rPr b="0" i="0" lang="en-US" sz="1100" u="none" cap="none" strike="noStrike">
                <a:solidFill>
                  <a:srgbClr val="C4ACFF"/>
                </a:solidFill>
                <a:latin typeface="Kanit"/>
                <a:ea typeface="Kanit"/>
                <a:cs typeface="Kanit"/>
                <a:sym typeface="Kanit"/>
              </a:rPr>
              <a:t>(optional)</a:t>
            </a:r>
            <a:endParaRPr b="0" i="0" sz="1100" u="none" cap="none" strike="noStrike">
              <a:solidFill>
                <a:schemeClr val="dk1"/>
              </a:solidFill>
              <a:latin typeface="Calibri"/>
              <a:ea typeface="Calibri"/>
              <a:cs typeface="Calibri"/>
              <a:sym typeface="Calibri"/>
            </a:endParaRPr>
          </a:p>
        </p:txBody>
      </p:sp>
      <p:sp>
        <p:nvSpPr>
          <p:cNvPr id="40" name="Google Shape;40;p4"/>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750"/>
              <a:buFont typeface="Inter"/>
              <a:buNone/>
            </a:pPr>
            <a:r>
              <a:rPr b="0" i="0" lang="en-US" sz="750" u="none" cap="none" strike="noStrike">
                <a:solidFill>
                  <a:srgbClr val="E6DEFA"/>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41" name="Google Shape;41;p4"/>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46" name="Shape 46"/>
        <p:cNvGrpSpPr/>
        <p:nvPr/>
      </p:nvGrpSpPr>
      <p:grpSpPr>
        <a:xfrm>
          <a:off x="0" y="0"/>
          <a:ext cx="0" cy="0"/>
          <a:chOff x="0" y="0"/>
          <a:chExt cx="0" cy="0"/>
        </a:xfrm>
      </p:grpSpPr>
      <p:sp>
        <p:nvSpPr>
          <p:cNvPr id="47" name="Google Shape;47;p5"/>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48" name="Google Shape;48;p5"/>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TWO CONTEXTS, SIDE BY SIDE</a:t>
            </a:r>
            <a:endParaRPr b="0" i="0" sz="1900" u="none" cap="none" strike="noStrike">
              <a:solidFill>
                <a:schemeClr val="dk1"/>
              </a:solidFill>
              <a:latin typeface="Calibri"/>
              <a:ea typeface="Calibri"/>
              <a:cs typeface="Calibri"/>
              <a:sym typeface="Calibri"/>
            </a:endParaRPr>
          </a:p>
        </p:txBody>
      </p:sp>
      <p:sp>
        <p:nvSpPr>
          <p:cNvPr id="49" name="Google Shape;49;p5"/>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50" name="Google Shape;50;p5"/>
          <p:cNvGraphicFramePr/>
          <p:nvPr/>
        </p:nvGraphicFramePr>
        <p:xfrm>
          <a:off x="502920" y="1179576"/>
          <a:ext cx="3000000" cy="3000000"/>
        </p:xfrm>
        <a:graphic>
          <a:graphicData uri="http://schemas.openxmlformats.org/drawingml/2006/table">
            <a:tbl>
              <a:tblPr>
                <a:noFill/>
                <a:tableStyleId>{53CFA27E-07E6-42EA-90CC-C9E11EDF8C1E}</a:tableStyleId>
              </a:tblPr>
              <a:tblGrid>
                <a:gridCol w="2103125"/>
                <a:gridCol w="3017525"/>
                <a:gridCol w="3017525"/>
              </a:tblGrid>
              <a:tr h="36575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[SPEAKER A]</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[SPEAKER B]</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365750">
                <a:tc>
                  <a:txBody>
                    <a:bodyPr/>
                    <a:lstStyle/>
                    <a:p>
                      <a:pPr indent="0" lvl="0" marL="0" marR="0" rtl="0" algn="l">
                        <a:spcBef>
                          <a:spcPts val="0"/>
                        </a:spcBef>
                        <a:spcAft>
                          <a:spcPts val="0"/>
                        </a:spcAft>
                        <a:buNone/>
                      </a:pPr>
                      <a:r>
                        <a:rPr b="1" lang="en-US" sz="1000">
                          <a:solidFill>
                            <a:srgbClr val="1B0442"/>
                          </a:solidFill>
                          <a:latin typeface="Kanit"/>
                          <a:ea typeface="Kanit"/>
                          <a:cs typeface="Kanit"/>
                          <a:sym typeface="Kanit"/>
                        </a:rPr>
                        <a:t>Client</a:t>
                      </a:r>
                      <a:endParaRPr b="1" sz="1000" u="none" cap="none" strike="noStrike">
                        <a:solidFill>
                          <a:srgbClr val="1B0442"/>
                        </a:solidFill>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solidFill>
                          <a:srgbClr val="1B0442"/>
                        </a:solidFill>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solidFill>
                          <a:srgbClr val="1B0442"/>
                        </a:solidFill>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Sector / Activity Type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0442"/>
                        </a:buClr>
                        <a:buSzPts val="1000"/>
                        <a:buFont typeface="Kanit"/>
                        <a:buNone/>
                      </a:pPr>
                      <a:r>
                        <a:rPr b="1" lang="en-US" sz="1000">
                          <a:solidFill>
                            <a:srgbClr val="1B0442"/>
                          </a:solidFill>
                          <a:latin typeface="Kanit"/>
                          <a:ea typeface="Kanit"/>
                          <a:cs typeface="Kanit"/>
                          <a:sym typeface="Kanit"/>
                        </a:rPr>
                        <a:t>Scope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rtl="0" algn="l">
                        <a:spcBef>
                          <a:spcPts val="0"/>
                        </a:spcBef>
                        <a:spcAft>
                          <a:spcPts val="0"/>
                        </a:spcAft>
                        <a:buClr>
                          <a:srgbClr val="1B0442"/>
                        </a:buClr>
                        <a:buSzPts val="1000"/>
                        <a:buFont typeface="Kanit"/>
                        <a:buNone/>
                      </a:pPr>
                      <a:r>
                        <a:rPr b="1" lang="en-US" sz="1000">
                          <a:solidFill>
                            <a:srgbClr val="1B0442"/>
                          </a:solidFill>
                          <a:latin typeface="Kanit"/>
                          <a:ea typeface="Kanit"/>
                          <a:cs typeface="Kanit"/>
                          <a:sym typeface="Kanit"/>
                        </a:rPr>
                        <a:t>Design maturity</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Team </a:t>
                      </a:r>
                      <a:r>
                        <a:rPr b="1" lang="en-US" sz="1000">
                          <a:solidFill>
                            <a:srgbClr val="1B0442"/>
                          </a:solidFill>
                          <a:latin typeface="Kanit"/>
                          <a:ea typeface="Kanit"/>
                          <a:cs typeface="Kanit"/>
                          <a:sym typeface="Kanit"/>
                        </a:rPr>
                        <a:t>composition</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rtl="0" algn="l">
                        <a:spcBef>
                          <a:spcPts val="0"/>
                        </a:spcBef>
                        <a:spcAft>
                          <a:spcPts val="0"/>
                        </a:spcAft>
                        <a:buClr>
                          <a:srgbClr val="1B0442"/>
                        </a:buClr>
                        <a:buSzPts val="1000"/>
                        <a:buFont typeface="Kanit"/>
                        <a:buNone/>
                      </a:pPr>
                      <a:r>
                        <a:rPr b="1" lang="en-US" sz="1000">
                          <a:solidFill>
                            <a:srgbClr val="1B0442"/>
                          </a:solidFill>
                          <a:latin typeface="Kanit"/>
                          <a:ea typeface="Kanit"/>
                          <a:cs typeface="Kanit"/>
                          <a:sym typeface="Kanit"/>
                        </a:rPr>
                        <a:t>On this mission since…</a:t>
                      </a:r>
                      <a:endParaRPr sz="1000">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365750">
                <a:tc>
                  <a:txBody>
                    <a:bodyPr/>
                    <a:lstStyle/>
                    <a:p>
                      <a:pPr indent="0" lvl="0" marL="0" marR="0" rtl="0" algn="l">
                        <a:spcBef>
                          <a:spcPts val="0"/>
                        </a:spcBef>
                        <a:spcAft>
                          <a:spcPts val="0"/>
                        </a:spcAft>
                        <a:buClr>
                          <a:srgbClr val="1B0442"/>
                        </a:buClr>
                        <a:buSzPts val="1000"/>
                        <a:buFont typeface="Kanit"/>
                        <a:buNone/>
                      </a:pPr>
                      <a:r>
                        <a:rPr b="1" lang="en-US" sz="1000">
                          <a:solidFill>
                            <a:srgbClr val="1B0442"/>
                          </a:solidFill>
                          <a:latin typeface="Kanit"/>
                          <a:ea typeface="Kanit"/>
                          <a:cs typeface="Kanit"/>
                          <a:sym typeface="Kanit"/>
                        </a:rPr>
                        <a:t>Tooling (AI, Research, Craft…)</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51" name="Google Shape;51;p5"/>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5"/>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Build this table together, fifteen minutes, before the session. It replaces two context slides and it's the one people screenshot.</a:t>
            </a:r>
            <a:endParaRPr b="0" i="0" sz="900" u="none" cap="none" strike="noStrike">
              <a:solidFill>
                <a:schemeClr val="dk1"/>
              </a:solidFill>
              <a:latin typeface="Calibri"/>
              <a:ea typeface="Calibri"/>
              <a:cs typeface="Calibri"/>
              <a:sym typeface="Calibri"/>
            </a:endParaRPr>
          </a:p>
        </p:txBody>
      </p:sp>
      <p:sp>
        <p:nvSpPr>
          <p:cNvPr id="53" name="Google Shape;53;p5"/>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54" name="Google Shape;54;p5"/>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55" name="Google Shape;55;p5"/>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2</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60" name="Shape 60"/>
        <p:cNvGrpSpPr/>
        <p:nvPr/>
      </p:nvGrpSpPr>
      <p:grpSpPr>
        <a:xfrm>
          <a:off x="0" y="0"/>
          <a:ext cx="0" cy="0"/>
          <a:chOff x="0" y="0"/>
          <a:chExt cx="0" cy="0"/>
        </a:xfrm>
      </p:grpSpPr>
      <p:sp>
        <p:nvSpPr>
          <p:cNvPr id="61" name="Google Shape;61;p6"/>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62" name="Google Shape;62;p6"/>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[SPEAKER A]'S ANSWER</a:t>
            </a:r>
            <a:endParaRPr b="0" i="0" sz="1900" u="none" cap="none" strike="noStrike">
              <a:solidFill>
                <a:schemeClr val="dk1"/>
              </a:solidFill>
              <a:latin typeface="Calibri"/>
              <a:ea typeface="Calibri"/>
              <a:cs typeface="Calibri"/>
              <a:sym typeface="Calibri"/>
            </a:endParaRPr>
          </a:p>
        </p:txBody>
      </p:sp>
      <p:sp>
        <p:nvSpPr>
          <p:cNvPr id="63" name="Google Shape;63;p6"/>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6"/>
          <p:cNvSpPr/>
          <p:nvPr/>
        </p:nvSpPr>
        <p:spPr>
          <a:xfrm>
            <a:off x="502920" y="1179576"/>
            <a:ext cx="8138160" cy="64008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5818FF"/>
              </a:buClr>
              <a:buSzPts val="1500"/>
              <a:buFont typeface="Kanit"/>
              <a:buNone/>
            </a:pPr>
            <a:r>
              <a:rPr b="0" i="0" lang="en-US" sz="1500" u="none" cap="none" strike="noStrike">
                <a:solidFill>
                  <a:srgbClr val="5818FF"/>
                </a:solidFill>
                <a:latin typeface="Kanit"/>
                <a:ea typeface="Kanit"/>
                <a:cs typeface="Kanit"/>
                <a:sym typeface="Kanit"/>
              </a:rPr>
              <a:t>[Your answer, one headline sentence]</a:t>
            </a:r>
            <a:endParaRPr b="0" i="0" sz="1500" u="none" cap="none" strike="noStrike">
              <a:solidFill>
                <a:schemeClr val="dk1"/>
              </a:solidFill>
              <a:latin typeface="Calibri"/>
              <a:ea typeface="Calibri"/>
              <a:cs typeface="Calibri"/>
              <a:sym typeface="Calibri"/>
            </a:endParaRPr>
          </a:p>
        </p:txBody>
      </p:sp>
      <p:sp>
        <p:nvSpPr>
          <p:cNvPr id="65" name="Google Shape;65;p6"/>
          <p:cNvSpPr/>
          <p:nvPr/>
        </p:nvSpPr>
        <p:spPr>
          <a:xfrm>
            <a:off x="502920" y="1911096"/>
            <a:ext cx="3977640" cy="1965960"/>
          </a:xfrm>
          <a:prstGeom prst="roundRect">
            <a:avLst>
              <a:gd fmla="val 1860" name="adj"/>
            </a:avLst>
          </a:prstGeom>
          <a:solidFill>
            <a:srgbClr val="FFFFFF"/>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649224" y="2020824"/>
            <a:ext cx="3685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1050"/>
              <a:buFont typeface="Kanit"/>
              <a:buNone/>
            </a:pPr>
            <a:r>
              <a:rPr b="1" i="0" lang="en-US" sz="1050" u="none" cap="none" strike="noStrike">
                <a:solidFill>
                  <a:srgbClr val="5818FF"/>
                </a:solidFill>
                <a:latin typeface="Kanit"/>
                <a:ea typeface="Kanit"/>
                <a:cs typeface="Kanit"/>
                <a:sym typeface="Kanit"/>
              </a:rPr>
              <a:t>WHERE IT'S STUCK</a:t>
            </a:r>
            <a:endParaRPr b="0" i="0" sz="1050" u="none" cap="none" strike="noStrike">
              <a:solidFill>
                <a:schemeClr val="dk1"/>
              </a:solidFill>
              <a:latin typeface="Calibri"/>
              <a:ea typeface="Calibri"/>
              <a:cs typeface="Calibri"/>
              <a:sym typeface="Calibri"/>
            </a:endParaRPr>
          </a:p>
        </p:txBody>
      </p:sp>
      <p:sp>
        <p:nvSpPr>
          <p:cNvPr id="67" name="Google Shape;67;p6"/>
          <p:cNvSpPr/>
          <p:nvPr/>
        </p:nvSpPr>
        <p:spPr>
          <a:xfrm>
            <a:off x="649224" y="2331720"/>
            <a:ext cx="3685032" cy="1417320"/>
          </a:xfrm>
          <a:prstGeom prst="rect">
            <a:avLst/>
          </a:prstGeom>
          <a:noFill/>
          <a:ln>
            <a:noFill/>
          </a:ln>
        </p:spPr>
        <p:txBody>
          <a:bodyPr anchorCtr="0" anchor="t" bIns="0" lIns="0" spcFirstLastPara="1" rIns="0" wrap="square" tIns="0">
            <a:noAutofit/>
          </a:bodyPr>
          <a:lstStyle/>
          <a:p>
            <a:pPr indent="-152400" lvl="0" marL="152400" marR="0" rtl="0" algn="l">
              <a:lnSpc>
                <a:spcPct val="136363"/>
              </a:lnSpc>
              <a:spcBef>
                <a:spcPts val="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a:p>
            <a:pPr indent="-152400" lvl="0" marL="152400" marR="0" rtl="0" algn="l">
              <a:lnSpc>
                <a:spcPct val="136363"/>
              </a:lnSpc>
              <a:spcBef>
                <a:spcPts val="70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68" name="Google Shape;68;p6"/>
          <p:cNvSpPr/>
          <p:nvPr/>
        </p:nvSpPr>
        <p:spPr>
          <a:xfrm>
            <a:off x="4663440" y="1911096"/>
            <a:ext cx="3977640" cy="1965960"/>
          </a:xfrm>
          <a:prstGeom prst="roundRect">
            <a:avLst>
              <a:gd fmla="val 1860" name="adj"/>
            </a:avLst>
          </a:prstGeom>
          <a:solidFill>
            <a:srgbClr val="FFFFFF"/>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6"/>
          <p:cNvSpPr/>
          <p:nvPr/>
        </p:nvSpPr>
        <p:spPr>
          <a:xfrm>
            <a:off x="4809744" y="2020824"/>
            <a:ext cx="3685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1050"/>
              <a:buFont typeface="Kanit"/>
              <a:buNone/>
            </a:pPr>
            <a:r>
              <a:rPr b="1" i="0" lang="en-US" sz="1050" u="none" cap="none" strike="noStrike">
                <a:solidFill>
                  <a:srgbClr val="5818FF"/>
                </a:solidFill>
                <a:latin typeface="Kanit"/>
                <a:ea typeface="Kanit"/>
                <a:cs typeface="Kanit"/>
                <a:sym typeface="Kanit"/>
              </a:rPr>
              <a:t>WHAT'S WORKING</a:t>
            </a:r>
            <a:endParaRPr b="0" i="0" sz="1050" u="none" cap="none" strike="noStrike">
              <a:solidFill>
                <a:schemeClr val="dk1"/>
              </a:solidFill>
              <a:latin typeface="Calibri"/>
              <a:ea typeface="Calibri"/>
              <a:cs typeface="Calibri"/>
              <a:sym typeface="Calibri"/>
            </a:endParaRPr>
          </a:p>
        </p:txBody>
      </p:sp>
      <p:sp>
        <p:nvSpPr>
          <p:cNvPr id="70" name="Google Shape;70;p6"/>
          <p:cNvSpPr/>
          <p:nvPr/>
        </p:nvSpPr>
        <p:spPr>
          <a:xfrm>
            <a:off x="4809744" y="2331720"/>
            <a:ext cx="3685032" cy="1417320"/>
          </a:xfrm>
          <a:prstGeom prst="rect">
            <a:avLst/>
          </a:prstGeom>
          <a:noFill/>
          <a:ln>
            <a:noFill/>
          </a:ln>
        </p:spPr>
        <p:txBody>
          <a:bodyPr anchorCtr="0" anchor="t" bIns="0" lIns="0" spcFirstLastPara="1" rIns="0" wrap="square" tIns="0">
            <a:noAutofit/>
          </a:bodyPr>
          <a:lstStyle/>
          <a:p>
            <a:pPr indent="-152400" lvl="0" marL="152400" marR="0" rtl="0" algn="l">
              <a:lnSpc>
                <a:spcPct val="136363"/>
              </a:lnSpc>
              <a:spcBef>
                <a:spcPts val="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a:p>
            <a:pPr indent="-152400" lvl="0" marL="152400" marR="0" rtl="0" algn="l">
              <a:lnSpc>
                <a:spcPct val="136363"/>
              </a:lnSpc>
              <a:spcBef>
                <a:spcPts val="70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71" name="Google Shape;71;p6"/>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6"/>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Fill this in without peeking at your partner's slide. Comparing too early flattens exactly the differences that make the session worth attending.</a:t>
            </a:r>
            <a:endParaRPr b="0" i="0" sz="900" u="none" cap="none" strike="noStrike">
              <a:solidFill>
                <a:schemeClr val="dk1"/>
              </a:solidFill>
              <a:latin typeface="Calibri"/>
              <a:ea typeface="Calibri"/>
              <a:cs typeface="Calibri"/>
              <a:sym typeface="Calibri"/>
            </a:endParaRPr>
          </a:p>
        </p:txBody>
      </p:sp>
      <p:sp>
        <p:nvSpPr>
          <p:cNvPr id="73" name="Google Shape;73;p6"/>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74" name="Google Shape;74;p6"/>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75" name="Google Shape;75;p6"/>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3</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80" name="Shape 80"/>
        <p:cNvGrpSpPr/>
        <p:nvPr/>
      </p:nvGrpSpPr>
      <p:grpSpPr>
        <a:xfrm>
          <a:off x="0" y="0"/>
          <a:ext cx="0" cy="0"/>
          <a:chOff x="0" y="0"/>
          <a:chExt cx="0" cy="0"/>
        </a:xfrm>
      </p:grpSpPr>
      <p:sp>
        <p:nvSpPr>
          <p:cNvPr id="81" name="Google Shape;81;p7"/>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82" name="Google Shape;82;p7"/>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[SPEAKER B]'S ANSWER</a:t>
            </a:r>
            <a:endParaRPr b="0" i="0" sz="1900" u="none" cap="none" strike="noStrike">
              <a:solidFill>
                <a:schemeClr val="dk1"/>
              </a:solidFill>
              <a:latin typeface="Calibri"/>
              <a:ea typeface="Calibri"/>
              <a:cs typeface="Calibri"/>
              <a:sym typeface="Calibri"/>
            </a:endParaRPr>
          </a:p>
        </p:txBody>
      </p:sp>
      <p:sp>
        <p:nvSpPr>
          <p:cNvPr id="83" name="Google Shape;83;p7"/>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7"/>
          <p:cNvSpPr/>
          <p:nvPr/>
        </p:nvSpPr>
        <p:spPr>
          <a:xfrm>
            <a:off x="502920" y="1179576"/>
            <a:ext cx="8138160" cy="640080"/>
          </a:xfrm>
          <a:prstGeom prst="rect">
            <a:avLst/>
          </a:prstGeom>
          <a:noFill/>
          <a:ln>
            <a:noFill/>
          </a:ln>
        </p:spPr>
        <p:txBody>
          <a:bodyPr anchorCtr="0" anchor="ctr" bIns="0" lIns="0" spcFirstLastPara="1" rIns="0" wrap="square" tIns="0">
            <a:noAutofit/>
          </a:bodyPr>
          <a:lstStyle/>
          <a:p>
            <a:pPr indent="0" lvl="0" marL="0" marR="0" rtl="0" algn="l">
              <a:lnSpc>
                <a:spcPct val="146666"/>
              </a:lnSpc>
              <a:spcBef>
                <a:spcPts val="0"/>
              </a:spcBef>
              <a:spcAft>
                <a:spcPts val="0"/>
              </a:spcAft>
              <a:buClr>
                <a:srgbClr val="5818FF"/>
              </a:buClr>
              <a:buSzPts val="1500"/>
              <a:buFont typeface="Kanit"/>
              <a:buNone/>
            </a:pPr>
            <a:r>
              <a:rPr b="0" i="0" lang="en-US" sz="1500" u="none" cap="none" strike="noStrike">
                <a:solidFill>
                  <a:srgbClr val="5818FF"/>
                </a:solidFill>
                <a:latin typeface="Kanit"/>
                <a:ea typeface="Kanit"/>
                <a:cs typeface="Kanit"/>
                <a:sym typeface="Kanit"/>
              </a:rPr>
              <a:t>[Your answer, one headline sentence]</a:t>
            </a:r>
            <a:endParaRPr b="0" i="0" sz="1500" u="none" cap="none" strike="noStrike">
              <a:solidFill>
                <a:schemeClr val="dk1"/>
              </a:solidFill>
              <a:latin typeface="Calibri"/>
              <a:ea typeface="Calibri"/>
              <a:cs typeface="Calibri"/>
              <a:sym typeface="Calibri"/>
            </a:endParaRPr>
          </a:p>
        </p:txBody>
      </p:sp>
      <p:sp>
        <p:nvSpPr>
          <p:cNvPr id="85" name="Google Shape;85;p7"/>
          <p:cNvSpPr/>
          <p:nvPr/>
        </p:nvSpPr>
        <p:spPr>
          <a:xfrm>
            <a:off x="502920" y="1911096"/>
            <a:ext cx="3977640" cy="1965960"/>
          </a:xfrm>
          <a:prstGeom prst="roundRect">
            <a:avLst>
              <a:gd fmla="val 1860" name="adj"/>
            </a:avLst>
          </a:prstGeom>
          <a:solidFill>
            <a:srgbClr val="FFFFFF"/>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7"/>
          <p:cNvSpPr/>
          <p:nvPr/>
        </p:nvSpPr>
        <p:spPr>
          <a:xfrm>
            <a:off x="649224" y="2020824"/>
            <a:ext cx="3685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1050"/>
              <a:buFont typeface="Kanit"/>
              <a:buNone/>
            </a:pPr>
            <a:r>
              <a:rPr b="1" i="0" lang="en-US" sz="1050" u="none" cap="none" strike="noStrike">
                <a:solidFill>
                  <a:srgbClr val="5818FF"/>
                </a:solidFill>
                <a:latin typeface="Kanit"/>
                <a:ea typeface="Kanit"/>
                <a:cs typeface="Kanit"/>
                <a:sym typeface="Kanit"/>
              </a:rPr>
              <a:t>WHERE IT'S STUCK</a:t>
            </a:r>
            <a:endParaRPr b="0" i="0" sz="1050" u="none" cap="none" strike="noStrike">
              <a:solidFill>
                <a:schemeClr val="dk1"/>
              </a:solidFill>
              <a:latin typeface="Calibri"/>
              <a:ea typeface="Calibri"/>
              <a:cs typeface="Calibri"/>
              <a:sym typeface="Calibri"/>
            </a:endParaRPr>
          </a:p>
        </p:txBody>
      </p:sp>
      <p:sp>
        <p:nvSpPr>
          <p:cNvPr id="87" name="Google Shape;87;p7"/>
          <p:cNvSpPr/>
          <p:nvPr/>
        </p:nvSpPr>
        <p:spPr>
          <a:xfrm>
            <a:off x="649224" y="2331720"/>
            <a:ext cx="3685032" cy="1417320"/>
          </a:xfrm>
          <a:prstGeom prst="rect">
            <a:avLst/>
          </a:prstGeom>
          <a:noFill/>
          <a:ln>
            <a:noFill/>
          </a:ln>
        </p:spPr>
        <p:txBody>
          <a:bodyPr anchorCtr="0" anchor="t" bIns="0" lIns="0" spcFirstLastPara="1" rIns="0" wrap="square" tIns="0">
            <a:noAutofit/>
          </a:bodyPr>
          <a:lstStyle/>
          <a:p>
            <a:pPr indent="-152400" lvl="0" marL="152400" marR="0" rtl="0" algn="l">
              <a:lnSpc>
                <a:spcPct val="136363"/>
              </a:lnSpc>
              <a:spcBef>
                <a:spcPts val="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a:p>
            <a:pPr indent="-152400" lvl="0" marL="152400" marR="0" rtl="0" algn="l">
              <a:lnSpc>
                <a:spcPct val="136363"/>
              </a:lnSpc>
              <a:spcBef>
                <a:spcPts val="70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88" name="Google Shape;88;p7"/>
          <p:cNvSpPr/>
          <p:nvPr/>
        </p:nvSpPr>
        <p:spPr>
          <a:xfrm>
            <a:off x="4663440" y="1911096"/>
            <a:ext cx="3977640" cy="1965960"/>
          </a:xfrm>
          <a:prstGeom prst="roundRect">
            <a:avLst>
              <a:gd fmla="val 1860" name="adj"/>
            </a:avLst>
          </a:prstGeom>
          <a:solidFill>
            <a:srgbClr val="FFFFFF"/>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7"/>
          <p:cNvSpPr/>
          <p:nvPr/>
        </p:nvSpPr>
        <p:spPr>
          <a:xfrm>
            <a:off x="4809744" y="2020824"/>
            <a:ext cx="3685032" cy="25603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1050"/>
              <a:buFont typeface="Kanit"/>
              <a:buNone/>
            </a:pPr>
            <a:r>
              <a:rPr b="1" i="0" lang="en-US" sz="1050" u="none" cap="none" strike="noStrike">
                <a:solidFill>
                  <a:srgbClr val="5818FF"/>
                </a:solidFill>
                <a:latin typeface="Kanit"/>
                <a:ea typeface="Kanit"/>
                <a:cs typeface="Kanit"/>
                <a:sym typeface="Kanit"/>
              </a:rPr>
              <a:t>WHAT'S WORKING</a:t>
            </a:r>
            <a:endParaRPr b="0" i="0" sz="1050" u="none" cap="none" strike="noStrike">
              <a:solidFill>
                <a:schemeClr val="dk1"/>
              </a:solidFill>
              <a:latin typeface="Calibri"/>
              <a:ea typeface="Calibri"/>
              <a:cs typeface="Calibri"/>
              <a:sym typeface="Calibri"/>
            </a:endParaRPr>
          </a:p>
        </p:txBody>
      </p:sp>
      <p:sp>
        <p:nvSpPr>
          <p:cNvPr id="90" name="Google Shape;90;p7"/>
          <p:cNvSpPr/>
          <p:nvPr/>
        </p:nvSpPr>
        <p:spPr>
          <a:xfrm>
            <a:off x="4809744" y="2331720"/>
            <a:ext cx="3685032" cy="1417320"/>
          </a:xfrm>
          <a:prstGeom prst="rect">
            <a:avLst/>
          </a:prstGeom>
          <a:noFill/>
          <a:ln>
            <a:noFill/>
          </a:ln>
        </p:spPr>
        <p:txBody>
          <a:bodyPr anchorCtr="0" anchor="t" bIns="0" lIns="0" spcFirstLastPara="1" rIns="0" wrap="square" tIns="0">
            <a:noAutofit/>
          </a:bodyPr>
          <a:lstStyle/>
          <a:p>
            <a:pPr indent="-152400" lvl="0" marL="152400" marR="0" rtl="0" algn="l">
              <a:lnSpc>
                <a:spcPct val="136363"/>
              </a:lnSpc>
              <a:spcBef>
                <a:spcPts val="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a:p>
            <a:pPr indent="-152400" lvl="0" marL="152400" marR="0" rtl="0" algn="l">
              <a:lnSpc>
                <a:spcPct val="136363"/>
              </a:lnSpc>
              <a:spcBef>
                <a:spcPts val="700"/>
              </a:spcBef>
              <a:spcAft>
                <a:spcPts val="0"/>
              </a:spcAft>
              <a:buClr>
                <a:srgbClr val="1B0442"/>
              </a:buClr>
              <a:buSzPts val="1100"/>
              <a:buFont typeface="Inter"/>
              <a:buChar char="•"/>
            </a:pPr>
            <a:r>
              <a:rPr b="0" i="0" lang="en-US" sz="1100" u="none" cap="none" strike="noStrike">
                <a:solidFill>
                  <a:srgbClr val="1B0442"/>
                </a:solidFill>
                <a:latin typeface="Inter"/>
                <a:ea typeface="Inter"/>
                <a:cs typeface="Inter"/>
                <a:sym typeface="Inter"/>
              </a:rPr>
              <a:t>[…]</a:t>
            </a:r>
            <a:endParaRPr b="0" i="0" sz="1100" u="none" cap="none" strike="noStrike">
              <a:solidFill>
                <a:schemeClr val="dk1"/>
              </a:solidFill>
              <a:latin typeface="Calibri"/>
              <a:ea typeface="Calibri"/>
              <a:cs typeface="Calibri"/>
              <a:sym typeface="Calibri"/>
            </a:endParaRPr>
          </a:p>
        </p:txBody>
      </p:sp>
      <p:sp>
        <p:nvSpPr>
          <p:cNvPr id="91" name="Google Shape;91;p7"/>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7"/>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Same layout as the previous slide, deliberately. Identical structure is what makes the comparison readable, so resist the urge to redesign it.</a:t>
            </a:r>
            <a:endParaRPr b="0" i="0" sz="900" u="none" cap="none" strike="noStrike">
              <a:solidFill>
                <a:schemeClr val="dk1"/>
              </a:solidFill>
              <a:latin typeface="Calibri"/>
              <a:ea typeface="Calibri"/>
              <a:cs typeface="Calibri"/>
              <a:sym typeface="Calibri"/>
            </a:endParaRPr>
          </a:p>
        </p:txBody>
      </p:sp>
      <p:sp>
        <p:nvSpPr>
          <p:cNvPr id="93" name="Google Shape;93;p7"/>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94" name="Google Shape;94;p7"/>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95" name="Google Shape;95;p7"/>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4</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00" name="Shape 100"/>
        <p:cNvGrpSpPr/>
        <p:nvPr/>
      </p:nvGrpSpPr>
      <p:grpSpPr>
        <a:xfrm>
          <a:off x="0" y="0"/>
          <a:ext cx="0" cy="0"/>
          <a:chOff x="0" y="0"/>
          <a:chExt cx="0" cy="0"/>
        </a:xfrm>
      </p:grpSpPr>
      <p:sp>
        <p:nvSpPr>
          <p:cNvPr id="101" name="Google Shape;101;p8"/>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102" name="Google Shape;102;p8"/>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SAME</a:t>
            </a:r>
            <a:endParaRPr b="0" i="0" sz="1900" u="none" cap="none" strike="noStrike">
              <a:solidFill>
                <a:schemeClr val="dk1"/>
              </a:solidFill>
              <a:latin typeface="Calibri"/>
              <a:ea typeface="Calibri"/>
              <a:cs typeface="Calibri"/>
              <a:sym typeface="Calibri"/>
            </a:endParaRPr>
          </a:p>
        </p:txBody>
      </p:sp>
      <p:sp>
        <p:nvSpPr>
          <p:cNvPr id="103" name="Google Shape;103;p8"/>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8"/>
          <p:cNvSpPr/>
          <p:nvPr/>
        </p:nvSpPr>
        <p:spPr>
          <a:xfrm>
            <a:off x="502920" y="1179576"/>
            <a:ext cx="8138160" cy="2560320"/>
          </a:xfrm>
          <a:prstGeom prst="rect">
            <a:avLst/>
          </a:prstGeom>
          <a:noFill/>
          <a:ln>
            <a:noFill/>
          </a:ln>
        </p:spPr>
        <p:txBody>
          <a:bodyPr anchorCtr="0" anchor="t" bIns="0" lIns="0" spcFirstLastPara="1" rIns="0" wrap="square" tIns="0">
            <a:noAutofit/>
          </a:bodyPr>
          <a:lstStyle/>
          <a:p>
            <a:pPr indent="-177800" lvl="0" marL="177800" marR="0" rtl="0" algn="l">
              <a:lnSpc>
                <a:spcPct val="121428"/>
              </a:lnSpc>
              <a:spcBef>
                <a:spcPts val="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[What you both do, despite everything above]</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a:p>
            <a:pPr indent="-177800" lvl="0" marL="177800" marR="0" rtl="0" algn="l">
              <a:lnSpc>
                <a:spcPct val="121428"/>
              </a:lnSpc>
              <a:spcBef>
                <a:spcPts val="800"/>
              </a:spcBef>
              <a:spcAft>
                <a:spcPts val="0"/>
              </a:spcAft>
              <a:buClr>
                <a:srgbClr val="1B0442"/>
              </a:buClr>
              <a:buSzPts val="1400"/>
              <a:buFont typeface="Inter"/>
              <a:buChar char="•"/>
            </a:pPr>
            <a:r>
              <a:rPr b="0" i="0" lang="en-US" sz="1400" u="none" cap="none" strike="noStrike">
                <a:solidFill>
                  <a:srgbClr val="1B0442"/>
                </a:solidFill>
                <a:latin typeface="Inter"/>
                <a:ea typeface="Inter"/>
                <a:cs typeface="Inter"/>
                <a:sym typeface="Inter"/>
              </a:rPr>
              <a:t>[…]</a:t>
            </a:r>
            <a:endParaRPr b="0" i="0" sz="1400" u="none" cap="none" strike="noStrike">
              <a:solidFill>
                <a:schemeClr val="dk1"/>
              </a:solidFill>
              <a:latin typeface="Calibri"/>
              <a:ea typeface="Calibri"/>
              <a:cs typeface="Calibri"/>
              <a:sym typeface="Calibri"/>
            </a:endParaRPr>
          </a:p>
        </p:txBody>
      </p:sp>
      <p:sp>
        <p:nvSpPr>
          <p:cNvPr id="105" name="Google Shape;105;p8"/>
          <p:cNvSpPr/>
          <p:nvPr/>
        </p:nvSpPr>
        <p:spPr>
          <a:xfrm>
            <a:off x="502920" y="4224528"/>
            <a:ext cx="8138160" cy="530352"/>
          </a:xfrm>
          <a:prstGeom prst="roundRect">
            <a:avLst>
              <a:gd fmla="val 6897" name="adj"/>
            </a:avLst>
          </a:prstGeom>
          <a:solidFill>
            <a:srgbClr val="FFF0F2"/>
          </a:solidFill>
          <a:ln cap="flat" cmpd="sng" w="12700">
            <a:solidFill>
              <a:srgbClr val="FFF0F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8"/>
          <p:cNvSpPr/>
          <p:nvPr/>
        </p:nvSpPr>
        <p:spPr>
          <a:xfrm>
            <a:off x="630936" y="4224528"/>
            <a:ext cx="7882128" cy="53035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Usually the shortest slide, and the most reassuring one for whoever in the room is two months into their first mission.</a:t>
            </a:r>
            <a:endParaRPr b="0" i="0" sz="900" u="none" cap="none" strike="noStrike">
              <a:solidFill>
                <a:schemeClr val="dk1"/>
              </a:solidFill>
              <a:latin typeface="Calibri"/>
              <a:ea typeface="Calibri"/>
              <a:cs typeface="Calibri"/>
              <a:sym typeface="Calibri"/>
            </a:endParaRPr>
          </a:p>
        </p:txBody>
      </p:sp>
      <p:sp>
        <p:nvSpPr>
          <p:cNvPr id="107" name="Google Shape;107;p8"/>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08" name="Google Shape;108;p8"/>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09" name="Google Shape;109;p8"/>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5</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2F0FF"/>
        </a:solidFill>
      </p:bgPr>
    </p:bg>
    <p:spTree>
      <p:nvGrpSpPr>
        <p:cNvPr id="114" name="Shape 114"/>
        <p:cNvGrpSpPr/>
        <p:nvPr/>
      </p:nvGrpSpPr>
      <p:grpSpPr>
        <a:xfrm>
          <a:off x="0" y="0"/>
          <a:ext cx="0" cy="0"/>
          <a:chOff x="0" y="0"/>
          <a:chExt cx="0" cy="0"/>
        </a:xfrm>
      </p:grpSpPr>
      <p:sp>
        <p:nvSpPr>
          <p:cNvPr id="115" name="Google Shape;115;p9"/>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850"/>
              <a:buFont typeface="Inter"/>
              <a:buNone/>
            </a:pPr>
            <a:r>
              <a:rPr b="1" i="0" lang="en-US" sz="850" u="none" cap="none" strike="noStrike">
                <a:solidFill>
                  <a:srgbClr val="5818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116" name="Google Shape;116;p9"/>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1B0442"/>
              </a:buClr>
              <a:buSzPts val="1900"/>
              <a:buFont typeface="Kanit"/>
              <a:buNone/>
            </a:pPr>
            <a:r>
              <a:rPr b="1" i="0" lang="en-US" sz="1900" u="none" cap="none" strike="noStrike">
                <a:solidFill>
                  <a:srgbClr val="1B0442"/>
                </a:solidFill>
                <a:latin typeface="Kanit"/>
                <a:ea typeface="Kanit"/>
                <a:cs typeface="Kanit"/>
                <a:sym typeface="Kanit"/>
              </a:rPr>
              <a:t>DIFFERENT</a:t>
            </a:r>
            <a:endParaRPr b="0" i="0" sz="1900" u="none" cap="none" strike="noStrike">
              <a:solidFill>
                <a:schemeClr val="dk1"/>
              </a:solidFill>
              <a:latin typeface="Calibri"/>
              <a:ea typeface="Calibri"/>
              <a:cs typeface="Calibri"/>
              <a:sym typeface="Calibri"/>
            </a:endParaRPr>
          </a:p>
        </p:txBody>
      </p:sp>
      <p:sp>
        <p:nvSpPr>
          <p:cNvPr id="117" name="Google Shape;117;p9"/>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aphicFrame>
        <p:nvGraphicFramePr>
          <p:cNvPr id="118" name="Google Shape;118;p9"/>
          <p:cNvGraphicFramePr/>
          <p:nvPr/>
        </p:nvGraphicFramePr>
        <p:xfrm>
          <a:off x="502920" y="1179576"/>
          <a:ext cx="3000000" cy="3000000"/>
        </p:xfrm>
        <a:graphic>
          <a:graphicData uri="http://schemas.openxmlformats.org/drawingml/2006/table">
            <a:tbl>
              <a:tblPr>
                <a:noFill/>
                <a:tableStyleId>{53CFA27E-07E6-42EA-90CC-C9E11EDF8C1E}</a:tableStyleId>
              </a:tblPr>
              <a:tblGrid>
                <a:gridCol w="2103125"/>
                <a:gridCol w="3017525"/>
                <a:gridCol w="3017525"/>
              </a:tblGrid>
              <a:tr h="548650">
                <a:tc>
                  <a:txBody>
                    <a:bodyPr/>
                    <a:lstStyle/>
                    <a:p>
                      <a:pPr indent="0" lvl="0" marL="0" marR="0" rtl="0" algn="l">
                        <a:spcBef>
                          <a:spcPts val="0"/>
                        </a:spcBef>
                        <a:spcAft>
                          <a:spcPts val="0"/>
                        </a:spcAft>
                        <a:buClr>
                          <a:schemeClr val="dk1"/>
                        </a:buClr>
                        <a:buSzPts val="1000"/>
                        <a:buFont typeface="Calibri"/>
                        <a:buNone/>
                      </a:pPr>
                      <a:r>
                        <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[SPEAKER A]</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c>
                  <a:txBody>
                    <a:bodyPr/>
                    <a:lstStyle/>
                    <a:p>
                      <a:pPr indent="0" lvl="0" marL="0" marR="0" rtl="0" algn="l">
                        <a:spcBef>
                          <a:spcPts val="0"/>
                        </a:spcBef>
                        <a:spcAft>
                          <a:spcPts val="0"/>
                        </a:spcAft>
                        <a:buClr>
                          <a:srgbClr val="FFFFFF"/>
                        </a:buClr>
                        <a:buSzPts val="1000"/>
                        <a:buFont typeface="Kanit"/>
                        <a:buNone/>
                      </a:pPr>
                      <a:r>
                        <a:rPr b="1" lang="en-US" sz="1000" u="none" cap="none" strike="noStrike">
                          <a:solidFill>
                            <a:srgbClr val="FFFFFF"/>
                          </a:solidFill>
                          <a:latin typeface="Kanit"/>
                          <a:ea typeface="Kanit"/>
                          <a:cs typeface="Kanit"/>
                          <a:sym typeface="Kanit"/>
                        </a:rPr>
                        <a:t>[SPEAKER B]</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1B0442"/>
                    </a:solidFill>
                  </a:tcPr>
                </a:tc>
              </a:tr>
              <a:tr h="5486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[The difference]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[The difference]</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r h="548650">
                <a:tc>
                  <a:txBody>
                    <a:bodyPr/>
                    <a:lstStyle/>
                    <a:p>
                      <a:pPr indent="0" lvl="0" marL="0" marR="0" rtl="0" algn="l">
                        <a:spcBef>
                          <a:spcPts val="0"/>
                        </a:spcBef>
                        <a:spcAft>
                          <a:spcPts val="0"/>
                        </a:spcAft>
                        <a:buClr>
                          <a:srgbClr val="1B0442"/>
                        </a:buClr>
                        <a:buSzPts val="1000"/>
                        <a:buFont typeface="Kanit"/>
                        <a:buNone/>
                      </a:pPr>
                      <a:r>
                        <a:rPr b="1" lang="en-US" sz="1000" u="none" cap="none" strike="noStrike">
                          <a:solidFill>
                            <a:srgbClr val="1B0442"/>
                          </a:solidFill>
                          <a:latin typeface="Kanit"/>
                          <a:ea typeface="Kanit"/>
                          <a:cs typeface="Kanit"/>
                          <a:sym typeface="Kanit"/>
                        </a:rPr>
                        <a:t>Why the context explains it</a:t>
                      </a:r>
                      <a:endParaRPr sz="1000" u="none" cap="none" strike="noStrike">
                        <a:latin typeface="Kanit"/>
                        <a:ea typeface="Kanit"/>
                        <a:cs typeface="Kanit"/>
                        <a:sym typeface="Kanit"/>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c>
                  <a:txBody>
                    <a:bodyPr/>
                    <a:lstStyle/>
                    <a:p>
                      <a:pPr indent="0" lvl="0" marL="0" marR="0" rtl="0" algn="l">
                        <a:spcBef>
                          <a:spcPts val="0"/>
                        </a:spcBef>
                        <a:spcAft>
                          <a:spcPts val="0"/>
                        </a:spcAft>
                        <a:buClr>
                          <a:srgbClr val="1B0442"/>
                        </a:buClr>
                        <a:buSzPts val="1000"/>
                        <a:buFont typeface="Inter"/>
                        <a:buNone/>
                      </a:pPr>
                      <a:r>
                        <a:rPr lang="en-US" sz="1000" u="none" cap="none" strike="noStrike">
                          <a:solidFill>
                            <a:srgbClr val="1B0442"/>
                          </a:solidFill>
                          <a:latin typeface="Inter"/>
                          <a:ea typeface="Inter"/>
                          <a:cs typeface="Inter"/>
                          <a:sym typeface="Inter"/>
                        </a:rPr>
                        <a:t>[…]</a:t>
                      </a:r>
                      <a:endParaRPr sz="1000" u="none" cap="none" strike="noStrike">
                        <a:latin typeface="Inter"/>
                        <a:ea typeface="Inter"/>
                        <a:cs typeface="Inter"/>
                        <a:sym typeface="Inter"/>
                      </a:endParaRPr>
                    </a:p>
                  </a:txBody>
                  <a:tcPr marT="73150" marB="73150" marR="73150" marL="73150" anchor="ctr">
                    <a:lnL cap="flat" cmpd="sng" w="12700">
                      <a:solidFill>
                        <a:srgbClr val="E6DEFA"/>
                      </a:solidFill>
                      <a:prstDash val="solid"/>
                      <a:round/>
                      <a:headEnd len="sm" w="sm" type="none"/>
                      <a:tailEnd len="sm" w="sm" type="none"/>
                    </a:lnL>
                    <a:lnR cap="flat" cmpd="sng" w="12700">
                      <a:solidFill>
                        <a:srgbClr val="E6DEFA"/>
                      </a:solidFill>
                      <a:prstDash val="solid"/>
                      <a:round/>
                      <a:headEnd len="sm" w="sm" type="none"/>
                      <a:tailEnd len="sm" w="sm" type="none"/>
                    </a:lnR>
                    <a:lnT cap="flat" cmpd="sng" w="12700">
                      <a:solidFill>
                        <a:srgbClr val="E6DEFA"/>
                      </a:solidFill>
                      <a:prstDash val="solid"/>
                      <a:round/>
                      <a:headEnd len="sm" w="sm" type="none"/>
                      <a:tailEnd len="sm" w="sm" type="none"/>
                    </a:lnT>
                    <a:lnB cap="flat" cmpd="sng" w="12700">
                      <a:solidFill>
                        <a:srgbClr val="E6DEFA"/>
                      </a:solidFill>
                      <a:prstDash val="solid"/>
                      <a:round/>
                      <a:headEnd len="sm" w="sm" type="none"/>
                      <a:tailEnd len="sm" w="sm" type="none"/>
                    </a:lnB>
                    <a:solidFill>
                      <a:srgbClr val="FFFFFF"/>
                    </a:solidFill>
                  </a:tcPr>
                </a:tc>
              </a:tr>
            </a:tbl>
          </a:graphicData>
        </a:graphic>
      </p:graphicFrame>
      <p:sp>
        <p:nvSpPr>
          <p:cNvPr id="119" name="Google Shape;119;p9"/>
          <p:cNvSpPr/>
          <p:nvPr/>
        </p:nvSpPr>
        <p:spPr>
          <a:xfrm>
            <a:off x="502920" y="4224528"/>
            <a:ext cx="8138160" cy="530352"/>
          </a:xfrm>
          <a:prstGeom prst="roundRect">
            <a:avLst>
              <a:gd fmla="val 6897" name="adj"/>
            </a:avLst>
          </a:prstGeom>
          <a:solidFill>
            <a:srgbClr val="FFF0F2"/>
          </a:solidFill>
          <a:ln cap="flat" cmpd="sng" w="12700">
            <a:solidFill>
              <a:srgbClr val="E6DEF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9"/>
          <p:cNvSpPr/>
          <p:nvPr/>
        </p:nvSpPr>
        <p:spPr>
          <a:xfrm>
            <a:off x="630936" y="4224528"/>
            <a:ext cx="7882128" cy="530352"/>
          </a:xfrm>
          <a:prstGeom prst="rect">
            <a:avLst/>
          </a:prstGeom>
          <a:solidFill>
            <a:srgbClr val="FFF0F2"/>
          </a:solidFill>
          <a:ln>
            <a:noFill/>
          </a:ln>
        </p:spPr>
        <p:txBody>
          <a:bodyPr anchorCtr="0" anchor="ctr" bIns="0" lIns="0" spcFirstLastPara="1" rIns="0" wrap="square" tIns="0">
            <a:noAutofit/>
          </a:bodyPr>
          <a:lstStyle/>
          <a:p>
            <a:pPr indent="0" lvl="0" marL="0" marR="0" rtl="0" algn="l">
              <a:spcBef>
                <a:spcPts val="0"/>
              </a:spcBef>
              <a:spcAft>
                <a:spcPts val="0"/>
              </a:spcAft>
              <a:buClr>
                <a:srgbClr val="5818FF"/>
              </a:buClr>
              <a:buSzPts val="900"/>
              <a:buFont typeface="Kanit"/>
              <a:buNone/>
            </a:pPr>
            <a:r>
              <a:rPr b="1" i="0" lang="en-US" sz="900" u="none" cap="none" strike="noStrike">
                <a:solidFill>
                  <a:srgbClr val="C50041"/>
                </a:solidFill>
                <a:latin typeface="Kanit"/>
                <a:ea typeface="Kanit"/>
                <a:cs typeface="Kanit"/>
                <a:sym typeface="Kanit"/>
              </a:rPr>
              <a:t>TIP</a:t>
            </a:r>
            <a:r>
              <a:rPr b="1" i="0" lang="en-US" sz="900" u="none" cap="none" strike="noStrike">
                <a:solidFill>
                  <a:srgbClr val="5818FF"/>
                </a:solidFill>
                <a:latin typeface="Kanit"/>
                <a:ea typeface="Kanit"/>
                <a:cs typeface="Kanit"/>
                <a:sym typeface="Kanit"/>
              </a:rPr>
              <a:t>  </a:t>
            </a:r>
            <a:r>
              <a:rPr b="0" i="0" lang="en-US" sz="900" u="none" cap="none" strike="noStrike">
                <a:solidFill>
                  <a:srgbClr val="1B0442"/>
                </a:solidFill>
                <a:latin typeface="Inter"/>
                <a:ea typeface="Inter"/>
                <a:cs typeface="Inter"/>
                <a:sym typeface="Inter"/>
              </a:rPr>
              <a:t>Leave the disagreement standing. "I run a weekly design review, she thinks it would be pure theatre at her client" is a better slide than a compromise nobody believes.</a:t>
            </a:r>
            <a:endParaRPr b="0" i="0" sz="900" u="none" cap="none" strike="noStrike">
              <a:solidFill>
                <a:schemeClr val="dk1"/>
              </a:solidFill>
              <a:latin typeface="Calibri"/>
              <a:ea typeface="Calibri"/>
              <a:cs typeface="Calibri"/>
              <a:sym typeface="Calibri"/>
            </a:endParaRPr>
          </a:p>
        </p:txBody>
      </p:sp>
      <p:sp>
        <p:nvSpPr>
          <p:cNvPr id="121" name="Google Shape;121;p9"/>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B0442"/>
              </a:buClr>
              <a:buSzPts val="750"/>
              <a:buFont typeface="Inter"/>
              <a:buNone/>
            </a:pPr>
            <a:r>
              <a:rPr b="0" i="0" lang="en-US" sz="750" u="none" cap="none" strike="noStrike">
                <a:solidFill>
                  <a:srgbClr val="1B0442"/>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22" name="Google Shape;122;p9"/>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23" name="Google Shape;123;p9"/>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5818FF"/>
              </a:buClr>
              <a:buSzPts val="1000"/>
              <a:buFont typeface="Kanit"/>
              <a:buNone/>
            </a:pPr>
            <a:r>
              <a:rPr b="1" i="0" lang="en-US" sz="1000" u="none" cap="none" strike="noStrike">
                <a:solidFill>
                  <a:srgbClr val="5818FF"/>
                </a:solidFill>
                <a:latin typeface="Kanit"/>
                <a:ea typeface="Kanit"/>
                <a:cs typeface="Kanit"/>
                <a:sym typeface="Kanit"/>
              </a:rPr>
              <a:t>6</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B0442"/>
        </a:solidFill>
      </p:bgPr>
    </p:bg>
    <p:spTree>
      <p:nvGrpSpPr>
        <p:cNvPr id="128" name="Shape 128"/>
        <p:cNvGrpSpPr/>
        <p:nvPr/>
      </p:nvGrpSpPr>
      <p:grpSpPr>
        <a:xfrm>
          <a:off x="0" y="0"/>
          <a:ext cx="0" cy="0"/>
          <a:chOff x="0" y="0"/>
          <a:chExt cx="0" cy="0"/>
        </a:xfrm>
      </p:grpSpPr>
      <p:sp>
        <p:nvSpPr>
          <p:cNvPr id="129" name="Google Shape;129;p10"/>
          <p:cNvSpPr/>
          <p:nvPr/>
        </p:nvSpPr>
        <p:spPr>
          <a:xfrm>
            <a:off x="0" y="0"/>
            <a:ext cx="201168" cy="5143500"/>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0"/>
          <p:cNvSpPr/>
          <p:nvPr/>
        </p:nvSpPr>
        <p:spPr>
          <a:xfrm>
            <a:off x="502920" y="256032"/>
            <a:ext cx="5943600" cy="20116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4ACFF"/>
              </a:buClr>
              <a:buSzPts val="850"/>
              <a:buFont typeface="Inter"/>
              <a:buNone/>
            </a:pPr>
            <a:r>
              <a:rPr b="1" i="0" lang="en-US" sz="850" u="none" cap="none" strike="noStrike">
                <a:solidFill>
                  <a:srgbClr val="C4ACFF"/>
                </a:solidFill>
                <a:latin typeface="Inter"/>
                <a:ea typeface="Inter"/>
                <a:cs typeface="Inter"/>
                <a:sym typeface="Inter"/>
              </a:rPr>
              <a:t>BACK 2 BACK · TWO OF US, ONE QUESTION</a:t>
            </a:r>
            <a:endParaRPr b="0" i="0" sz="850" u="none" cap="none" strike="noStrike">
              <a:solidFill>
                <a:schemeClr val="dk1"/>
              </a:solidFill>
              <a:latin typeface="Calibri"/>
              <a:ea typeface="Calibri"/>
              <a:cs typeface="Calibri"/>
              <a:sym typeface="Calibri"/>
            </a:endParaRPr>
          </a:p>
        </p:txBody>
      </p:sp>
      <p:sp>
        <p:nvSpPr>
          <p:cNvPr id="131" name="Google Shape;131;p10"/>
          <p:cNvSpPr/>
          <p:nvPr/>
        </p:nvSpPr>
        <p:spPr>
          <a:xfrm>
            <a:off x="502920" y="475488"/>
            <a:ext cx="6766560" cy="420624"/>
          </a:xfrm>
          <a:prstGeom prst="rect">
            <a:avLst/>
          </a:prstGeom>
          <a:noFill/>
          <a:ln>
            <a:noFill/>
          </a:ln>
        </p:spPr>
        <p:txBody>
          <a:bodyPr anchorCtr="0" anchor="t" bIns="0" lIns="0" spcFirstLastPara="1" rIns="0" wrap="square" tIns="0">
            <a:noAutofit/>
          </a:bodyPr>
          <a:lstStyle/>
          <a:p>
            <a:pPr indent="0" lvl="0" marL="0" marR="0" rtl="0" algn="l">
              <a:lnSpc>
                <a:spcPct val="115789"/>
              </a:lnSpc>
              <a:spcBef>
                <a:spcPts val="0"/>
              </a:spcBef>
              <a:spcAft>
                <a:spcPts val="0"/>
              </a:spcAft>
              <a:buClr>
                <a:srgbClr val="FFFFFF"/>
              </a:buClr>
              <a:buSzPts val="1900"/>
              <a:buFont typeface="Kanit"/>
              <a:buNone/>
            </a:pPr>
            <a:r>
              <a:rPr b="1" i="0" lang="en-US" sz="1900" u="none" cap="none" strike="noStrike">
                <a:solidFill>
                  <a:srgbClr val="FFFFFF"/>
                </a:solidFill>
                <a:latin typeface="Kanit"/>
                <a:ea typeface="Kanit"/>
                <a:cs typeface="Kanit"/>
                <a:sym typeface="Kanit"/>
              </a:rPr>
              <a:t>WHAT WE'D PINCH FROM EACH OTHER</a:t>
            </a:r>
            <a:endParaRPr b="0" i="0" sz="1900" u="none" cap="none" strike="noStrike">
              <a:solidFill>
                <a:schemeClr val="dk1"/>
              </a:solidFill>
              <a:latin typeface="Calibri"/>
              <a:ea typeface="Calibri"/>
              <a:cs typeface="Calibri"/>
              <a:sym typeface="Calibri"/>
            </a:endParaRPr>
          </a:p>
        </p:txBody>
      </p:sp>
      <p:sp>
        <p:nvSpPr>
          <p:cNvPr id="132" name="Google Shape;132;p10"/>
          <p:cNvSpPr/>
          <p:nvPr/>
        </p:nvSpPr>
        <p:spPr>
          <a:xfrm>
            <a:off x="502920" y="941832"/>
            <a:ext cx="1097280" cy="41148"/>
          </a:xfrm>
          <a:prstGeom prst="rect">
            <a:avLst/>
          </a:prstGeom>
          <a:solidFill>
            <a:srgbClr val="5818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10"/>
          <p:cNvSpPr/>
          <p:nvPr/>
        </p:nvSpPr>
        <p:spPr>
          <a:xfrm>
            <a:off x="502920" y="1179576"/>
            <a:ext cx="8138160" cy="1188720"/>
          </a:xfrm>
          <a:prstGeom prst="rect">
            <a:avLst/>
          </a:prstGeom>
          <a:noFill/>
          <a:ln>
            <a:noFill/>
          </a:ln>
        </p:spPr>
        <p:txBody>
          <a:bodyPr anchorCtr="0" anchor="t" bIns="0" lIns="0" spcFirstLastPara="1" rIns="0" wrap="square" tIns="0">
            <a:noAutofit/>
          </a:bodyPr>
          <a:lstStyle/>
          <a:p>
            <a:pPr indent="-177800" lvl="0" marL="177800" marR="0" rtl="0" algn="l">
              <a:lnSpc>
                <a:spcPct val="130769"/>
              </a:lnSpc>
              <a:spcBef>
                <a:spcPts val="0"/>
              </a:spcBef>
              <a:spcAft>
                <a:spcPts val="0"/>
              </a:spcAft>
              <a:buClr>
                <a:srgbClr val="FFFFFF"/>
              </a:buClr>
              <a:buSzPts val="1300"/>
              <a:buFont typeface="Inter"/>
              <a:buChar char="•"/>
            </a:pPr>
            <a:r>
              <a:rPr b="0" i="0" lang="en-US" sz="1300" u="none" cap="none" strike="noStrike">
                <a:solidFill>
                  <a:srgbClr val="FFFFFF"/>
                </a:solidFill>
                <a:latin typeface="Inter"/>
                <a:ea typeface="Inter"/>
                <a:cs typeface="Inter"/>
                <a:sym typeface="Inter"/>
              </a:rPr>
              <a:t>A → B: [one thing]</a:t>
            </a:r>
            <a:endParaRPr b="0" i="0" sz="1300" u="none" cap="none" strike="noStrike">
              <a:solidFill>
                <a:schemeClr val="dk1"/>
              </a:solidFill>
              <a:latin typeface="Calibri"/>
              <a:ea typeface="Calibri"/>
              <a:cs typeface="Calibri"/>
              <a:sym typeface="Calibri"/>
            </a:endParaRPr>
          </a:p>
          <a:p>
            <a:pPr indent="-177800" lvl="0" marL="177800" marR="0" rtl="0" algn="l">
              <a:lnSpc>
                <a:spcPct val="130769"/>
              </a:lnSpc>
              <a:spcBef>
                <a:spcPts val="800"/>
              </a:spcBef>
              <a:spcAft>
                <a:spcPts val="0"/>
              </a:spcAft>
              <a:buClr>
                <a:srgbClr val="FFFFFF"/>
              </a:buClr>
              <a:buSzPts val="1300"/>
              <a:buFont typeface="Inter"/>
              <a:buChar char="•"/>
            </a:pPr>
            <a:r>
              <a:rPr b="0" i="0" lang="en-US" sz="1300" u="none" cap="none" strike="noStrike">
                <a:solidFill>
                  <a:srgbClr val="FFFFFF"/>
                </a:solidFill>
                <a:latin typeface="Inter"/>
                <a:ea typeface="Inter"/>
                <a:cs typeface="Inter"/>
                <a:sym typeface="Inter"/>
              </a:rPr>
              <a:t>B → A: [one thing</a:t>
            </a:r>
            <a:endParaRPr b="0" i="0" sz="1300" u="none" cap="none" strike="noStrike">
              <a:solidFill>
                <a:schemeClr val="dk1"/>
              </a:solidFill>
              <a:latin typeface="Calibri"/>
              <a:ea typeface="Calibri"/>
              <a:cs typeface="Calibri"/>
              <a:sym typeface="Calibri"/>
            </a:endParaRPr>
          </a:p>
        </p:txBody>
      </p:sp>
      <p:sp>
        <p:nvSpPr>
          <p:cNvPr id="134" name="Google Shape;134;p10"/>
          <p:cNvSpPr/>
          <p:nvPr/>
        </p:nvSpPr>
        <p:spPr>
          <a:xfrm>
            <a:off x="502920" y="2478024"/>
            <a:ext cx="8138160" cy="822960"/>
          </a:xfrm>
          <a:prstGeom prst="rect">
            <a:avLst/>
          </a:prstGeom>
          <a:noFill/>
          <a:ln>
            <a:noFill/>
          </a:ln>
        </p:spPr>
        <p:txBody>
          <a:bodyPr anchorCtr="0" anchor="ctr" bIns="0" lIns="0" spcFirstLastPara="1" rIns="0" wrap="square" tIns="0">
            <a:noAutofit/>
          </a:bodyPr>
          <a:lstStyle/>
          <a:p>
            <a:pPr indent="0" lvl="0" marL="0" marR="0" rtl="0" algn="l">
              <a:lnSpc>
                <a:spcPct val="137500"/>
              </a:lnSpc>
              <a:spcBef>
                <a:spcPts val="0"/>
              </a:spcBef>
              <a:spcAft>
                <a:spcPts val="0"/>
              </a:spcAft>
              <a:buClr>
                <a:srgbClr val="C4ACFF"/>
              </a:buClr>
              <a:buSzPts val="1600"/>
              <a:buFont typeface="Kanit"/>
              <a:buNone/>
            </a:pPr>
            <a:r>
              <a:rPr b="0" i="0" lang="en-US" sz="1600" u="none" cap="none" strike="noStrike">
                <a:solidFill>
                  <a:srgbClr val="C4ACFF"/>
                </a:solidFill>
                <a:latin typeface="Kanit"/>
                <a:ea typeface="Kanit"/>
                <a:cs typeface="Kanit"/>
                <a:sym typeface="Kanit"/>
              </a:rPr>
              <a:t>Same question to you, drop your answer in the chat: [the question]</a:t>
            </a:r>
            <a:endParaRPr b="0" i="0" sz="1600" u="none" cap="none" strike="noStrike">
              <a:solidFill>
                <a:schemeClr val="dk1"/>
              </a:solidFill>
              <a:latin typeface="Calibri"/>
              <a:ea typeface="Calibri"/>
              <a:cs typeface="Calibri"/>
              <a:sym typeface="Calibri"/>
            </a:endParaRPr>
          </a:p>
        </p:txBody>
      </p:sp>
      <p:sp>
        <p:nvSpPr>
          <p:cNvPr id="135" name="Google Shape;135;p10"/>
          <p:cNvSpPr/>
          <p:nvPr/>
        </p:nvSpPr>
        <p:spPr>
          <a:xfrm>
            <a:off x="502920" y="4846320"/>
            <a:ext cx="1828800" cy="1828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6DEFA"/>
              </a:buClr>
              <a:buSzPts val="750"/>
              <a:buFont typeface="Inter"/>
              <a:buNone/>
            </a:pPr>
            <a:r>
              <a:rPr b="0" i="0" lang="en-US" sz="750" u="none" cap="none" strike="noStrike">
                <a:solidFill>
                  <a:srgbClr val="E6DEFA"/>
                </a:solidFill>
                <a:latin typeface="Inter"/>
                <a:ea typeface="Inter"/>
                <a:cs typeface="Inter"/>
                <a:sym typeface="Inter"/>
              </a:rPr>
              <a:t>WWW.THIGA.CO</a:t>
            </a:r>
            <a:endParaRPr b="0" i="0" sz="750" u="none" cap="none" strike="noStrike">
              <a:solidFill>
                <a:schemeClr val="dk1"/>
              </a:solidFill>
              <a:latin typeface="Calibri"/>
              <a:ea typeface="Calibri"/>
              <a:cs typeface="Calibri"/>
              <a:sym typeface="Calibri"/>
            </a:endParaRPr>
          </a:p>
        </p:txBody>
      </p:sp>
      <p:pic>
        <p:nvPicPr>
          <p:cNvPr descr="preencoded.png" id="136" name="Google Shape;136;p10"/>
          <p:cNvPicPr preferRelativeResize="0"/>
          <p:nvPr/>
        </p:nvPicPr>
        <p:blipFill rotWithShape="1">
          <a:blip r:embed="rId3">
            <a:alphaModFix/>
          </a:blip>
          <a:srcRect b="0" l="0" r="0" t="0"/>
          <a:stretch/>
        </p:blipFill>
        <p:spPr>
          <a:xfrm>
            <a:off x="7635240" y="4846320"/>
            <a:ext cx="1005840" cy="122142"/>
          </a:xfrm>
          <a:prstGeom prst="rect">
            <a:avLst/>
          </a:prstGeom>
          <a:noFill/>
          <a:ln>
            <a:noFill/>
          </a:ln>
        </p:spPr>
      </p:pic>
      <p:sp>
        <p:nvSpPr>
          <p:cNvPr id="137" name="Google Shape;137;p10"/>
          <p:cNvSpPr/>
          <p:nvPr/>
        </p:nvSpPr>
        <p:spPr>
          <a:xfrm>
            <a:off x="7178040" y="4846320"/>
            <a:ext cx="365760" cy="201168"/>
          </a:xfrm>
          <a:prstGeom prst="rect">
            <a:avLst/>
          </a:prstGeom>
          <a:noFill/>
          <a:ln>
            <a:noFill/>
          </a:ln>
        </p:spPr>
        <p:txBody>
          <a:bodyPr anchorCtr="0" anchor="ctr" bIns="0" lIns="0" spcFirstLastPara="1" rIns="0" wrap="square" tIns="0">
            <a:noAutofit/>
          </a:bodyPr>
          <a:lstStyle/>
          <a:p>
            <a:pPr indent="0" lvl="0" marL="0" marR="0" rtl="0" algn="r">
              <a:spcBef>
                <a:spcPts val="0"/>
              </a:spcBef>
              <a:spcAft>
                <a:spcPts val="0"/>
              </a:spcAft>
              <a:buClr>
                <a:srgbClr val="C4ACFF"/>
              </a:buClr>
              <a:buSzPts val="1000"/>
              <a:buFont typeface="Kanit"/>
              <a:buNone/>
            </a:pPr>
            <a:r>
              <a:rPr b="1" i="0" lang="en-US" sz="1000" u="none" cap="none" strike="noStrike">
                <a:solidFill>
                  <a:srgbClr val="C4ACFF"/>
                </a:solidFill>
                <a:latin typeface="Kanit"/>
                <a:ea typeface="Kanit"/>
                <a:cs typeface="Kanit"/>
                <a:sym typeface="Kanit"/>
              </a:rPr>
              <a:t>7</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