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5143500" cy="9144000"/>
  <p:embeddedFontLst>
    <p:embeddedFont>
      <p:font typeface="Inter"/>
      <p:regular r:id="rId14"/>
      <p:bold r:id="rId15"/>
      <p:italic r:id="rId16"/>
      <p:boldItalic r:id="rId17"/>
    </p:embeddedFont>
    <p:embeddedFont>
      <p:font typeface="Kani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6D34A03-0700-40ED-B5F1-7E45448843EF}">
  <a:tblStyle styleId="{76D34A03-0700-40ED-B5F1-7E45448843E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Kani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Kani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Kanit-bold.fntdata"/><Relationship Id="rId6" Type="http://schemas.openxmlformats.org/officeDocument/2006/relationships/slide" Target="slides/slide1.xml"/><Relationship Id="rId18" Type="http://schemas.openxmlformats.org/officeDocument/2006/relationships/font" Target="fonts/Kani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is for the speaker, not the audience. Delete it before presenting.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Put one full-bleed image behind this text. Go for the shot that makes someone say "oh, that thing". Technical photos come later.</a:t>
            </a:r>
            <a:br>
              <a:rPr lang="en-US"/>
            </a:br>
            <a:r>
              <a:rPr lang="en-US"/>
              <a:t>⏱ 30 sec</a:t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sentence, then stop talking and let the image do its work.</a:t>
            </a:r>
            <a:br>
              <a:rPr lang="en-US"/>
            </a:br>
            <a:r>
              <a:rPr lang="en-US"/>
              <a:t>⏱ 1 min</a:t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a fact is shaky, say "apparently" out loud rather than stating it as gospel.</a:t>
            </a:r>
            <a:br>
              <a:rPr lang="en-US"/>
            </a:br>
            <a:r>
              <a:rPr lang="en-US"/>
              <a:t>⏱ 3 min</a:t>
            </a:r>
            <a:endParaRPr/>
          </a:p>
        </p:txBody>
      </p:sp>
      <p:sp>
        <p:nvSpPr>
          <p:cNvPr id="58" name="Google Shape;5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Say the call, then the alternative, then the constraint. In that order, it lands.</a:t>
            </a:r>
            <a:br>
              <a:rPr lang="en-US"/>
            </a:br>
            <a:r>
              <a:rPr lang="en-US"/>
              <a:t>⏱ 3 min</a:t>
            </a:r>
            <a:endParaRPr/>
          </a:p>
        </p:txBody>
      </p:sp>
      <p:sp>
        <p:nvSpPr>
          <p:cNvPr id="74" name="Google Shape;7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⏱ 3 min</a:t>
            </a:r>
            <a:endParaRPr/>
          </a:p>
        </p:txBody>
      </p:sp>
      <p:sp>
        <p:nvSpPr>
          <p:cNvPr id="92" name="Google Shape;9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⏱ 2 min</a:t>
            </a:r>
            <a:endParaRPr/>
          </a:p>
        </p:txBody>
      </p:sp>
      <p:sp>
        <p:nvSpPr>
          <p:cNvPr id="110" name="Google Shape;11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⏱ 3 min, then 10 min of questions</a:t>
            </a:r>
            <a:endParaRPr/>
          </a:p>
        </p:txBody>
      </p:sp>
      <p:sp>
        <p:nvSpPr>
          <p:cNvPr id="126" name="Google Shape;12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02925" y="475502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2000"/>
              <a:buFont typeface="Kanit"/>
              <a:buNone/>
            </a:pPr>
            <a:r>
              <a:rPr b="1" i="0" lang="en-US" sz="20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HOW TO USE THIS TEMPLATE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02920" y="932688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02920" y="1133856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400"/>
              <a:buFont typeface="Kanit"/>
              <a:buNone/>
            </a:pPr>
            <a:r>
              <a:rPr b="0" i="0" lang="en-US" sz="14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A short exposé on design that has nothing to do with our screens, so we can pinch ideas from </a:t>
            </a:r>
            <a:r>
              <a:rPr lang="en-US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other domains &amp; people</a:t>
            </a:r>
            <a:r>
              <a:rPr b="0" i="0" lang="en-US" sz="14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 working under very different constraints.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" name="Google Shape;19;p3"/>
          <p:cNvGraphicFramePr/>
          <p:nvPr/>
        </p:nvGraphicFramePr>
        <p:xfrm>
          <a:off x="502920" y="17881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{76D34A03-0700-40ED-B5F1-7E45448843EF}</a:tableStyleId>
              </a:tblPr>
              <a:tblGrid>
                <a:gridCol w="4069075"/>
                <a:gridCol w="4069075"/>
              </a:tblGrid>
              <a:tr h="31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THE RULES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82300" marB="82300" marR="82300" marL="82300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04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THE TRAP TO AVOID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82300" marB="82300" marR="82300" marL="82300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0442"/>
                    </a:solidFill>
                  </a:tcPr>
                </a:tc>
              </a:tr>
              <a:tr h="10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· Two decisions decoded properly beats four mentioned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· Decode decisions, skip the chronology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· Credit your sources on the last slide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82300" marB="82300" marR="82300" marL="82300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 Wikipedia summary. Dates and a timeline are not a banger.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What works: two or three deliberate decisions, the option that got rejected, and the constraint that forced the call.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82300" marB="82300" marR="82300" marL="82300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Google Shape;20;p3"/>
          <p:cNvSpPr/>
          <p:nvPr/>
        </p:nvSpPr>
        <p:spPr>
          <a:xfrm>
            <a:off x="502920" y="3383280"/>
            <a:ext cx="8138160" cy="841248"/>
          </a:xfrm>
          <a:prstGeom prst="roundRect">
            <a:avLst>
              <a:gd fmla="val 4348" name="adj"/>
            </a:avLst>
          </a:prstGeom>
          <a:solidFill>
            <a:srgbClr val="E6DEFA"/>
          </a:solidFill>
          <a:ln cap="flat" cmpd="sng" w="12700">
            <a:solidFill>
              <a:srgbClr val="E6D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30936" y="3383280"/>
            <a:ext cx="7882128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100"/>
              <a:buFont typeface="Kanit"/>
              <a:buNone/>
            </a:pPr>
            <a:r>
              <a:rPr b="1" i="0" lang="en-US" sz="11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HOW TO FILL THIS IN.   </a:t>
            </a:r>
            <a:r>
              <a:rPr b="0" i="0" lang="en-US" sz="9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Read the speaker notes on each slide first: they hold the questions to answer and what to actually say out loud. Fill the [bracketed] bits, drop your visuals in the dashed zones, then delete the TIP boxes and this slide.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Quicker route: paste your notes into Claude and ask it to fill this template for you. Then correct what it got wrong, which is the part only you can 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" name="Google Shape;2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/>
          <p:nvPr/>
        </p:nvSpPr>
        <p:spPr>
          <a:xfrm>
            <a:off x="502920" y="256032"/>
            <a:ext cx="5943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850"/>
              <a:buFont typeface="Inter"/>
              <a:buNone/>
            </a:pPr>
            <a:r>
              <a:rPr b="1" lang="en-US" sz="1700">
                <a:solidFill>
                  <a:srgbClr val="5818FF"/>
                </a:solidFill>
                <a:highlight>
                  <a:srgbClr val="5818FF"/>
                </a:highlight>
                <a:latin typeface="Kanit"/>
                <a:ea typeface="Kanit"/>
                <a:cs typeface="Kanit"/>
                <a:sym typeface="Kanit"/>
              </a:rPr>
              <a:t>.</a:t>
            </a:r>
            <a:r>
              <a:rPr b="1" i="0" lang="en-US" sz="1600" u="none" cap="none" strike="noStrike">
                <a:solidFill>
                  <a:srgbClr val="FFFFFF"/>
                </a:solidFill>
                <a:highlight>
                  <a:srgbClr val="5818FF"/>
                </a:highlight>
                <a:latin typeface="Inter"/>
                <a:ea typeface="Inter"/>
                <a:cs typeface="Inter"/>
                <a:sym typeface="Inter"/>
              </a:rPr>
              <a:t> READ ME FIRST</a:t>
            </a:r>
            <a:r>
              <a:rPr b="1" i="0" lang="en-US" sz="1600" u="none" cap="none" strike="noStrike">
                <a:solidFill>
                  <a:srgbClr val="5818FF"/>
                </a:solidFill>
                <a:highlight>
                  <a:srgbClr val="5818FF"/>
                </a:highlight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600" u="none" cap="none" strike="noStrike">
              <a:solidFill>
                <a:srgbClr val="5818FF"/>
              </a:solidFill>
              <a:highlight>
                <a:srgbClr val="5818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035040" y="420624"/>
            <a:ext cx="2606100" cy="502800"/>
          </a:xfrm>
          <a:prstGeom prst="rect">
            <a:avLst/>
          </a:prstGeom>
          <a:solidFill>
            <a:srgbClr val="C5004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DELETE THIS SLIDE</a:t>
            </a:r>
            <a:br>
              <a:rPr b="1" i="0" lang="en-US" sz="1000" u="none" cap="none" strike="noStrik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</a:br>
            <a:r>
              <a:rPr b="0" i="0" lang="en-US" sz="900" u="none" cap="none" strike="noStrike">
                <a:solidFill>
                  <a:srgbClr val="FFF0F2"/>
                </a:solidFill>
                <a:latin typeface="Inter"/>
                <a:ea typeface="Inter"/>
                <a:cs typeface="Inter"/>
                <a:sym typeface="Inter"/>
              </a:rPr>
              <a:t>before you present</a:t>
            </a:r>
            <a:endParaRPr b="0" i="0" sz="1000" u="none" cap="none" strike="noStrike">
              <a:solidFill>
                <a:srgbClr val="FFF0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0442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502920" y="822960"/>
            <a:ext cx="5029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C4ACFF"/>
                </a:solidFill>
                <a:latin typeface="Inter"/>
                <a:ea typeface="Inter"/>
                <a:cs typeface="Inter"/>
                <a:sym typeface="Inter"/>
              </a:rPr>
              <a:t>TRIBE DESIGN · [DATE]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02920" y="1143000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Kanit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THAT'S A BANGER 🥇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02920" y="1920240"/>
            <a:ext cx="5120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1900"/>
              <a:buFont typeface="Kanit"/>
              <a:buNone/>
            </a:pPr>
            <a:r>
              <a:rPr b="0" i="0" lang="en-US" sz="19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[The object, typeface, trend or piece of industrial design]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02920" y="3108960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502920" y="331012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DEFA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E6DEFA"/>
                </a:solidFill>
                <a:latin typeface="Inter"/>
                <a:ea typeface="Inter"/>
                <a:cs typeface="Inter"/>
                <a:sym typeface="Inter"/>
              </a:rPr>
              <a:t>[Your name] · [Client or anonymised descriptor]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897880" y="822960"/>
            <a:ext cx="2743200" cy="2743200"/>
          </a:xfrm>
          <a:prstGeom prst="roundRect">
            <a:avLst>
              <a:gd fmla="val 1333" name="adj"/>
            </a:avLst>
          </a:prstGeom>
          <a:solidFill>
            <a:srgbClr val="5818FF"/>
          </a:solidFill>
          <a:ln cap="flat" cmpd="sng" w="12700">
            <a:solidFill>
              <a:srgbClr val="5818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897880" y="822960"/>
            <a:ext cx="2743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1100"/>
              <a:buFont typeface="Kanit"/>
              <a:buNone/>
            </a:pPr>
            <a:r>
              <a:rPr b="0" i="0" lang="en-US" sz="11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IMAGE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1100"/>
              <a:buFont typeface="Kanit"/>
              <a:buNone/>
            </a:pPr>
            <a:r>
              <a:rPr b="0" i="0" lang="en-US" sz="11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(optional)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DEFA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E6DEFA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" name="Google Shape;4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5818FF"/>
                </a:solidFill>
                <a:latin typeface="Inter"/>
                <a:ea typeface="Inter"/>
                <a:cs typeface="Inter"/>
                <a:sym typeface="Inter"/>
              </a:rPr>
              <a:t>THAT'S A BANGER · DESIGN OUTSIDE DIGITAL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502920" y="475488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900"/>
              <a:buFont typeface="Kanit"/>
              <a:buNone/>
            </a:pPr>
            <a:r>
              <a:rPr b="1" i="0" lang="en-US" sz="19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WHY THIS ONE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502920" y="941832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502920" y="1453896"/>
            <a:ext cx="75895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3000"/>
              <a:buFont typeface="Kanit"/>
              <a:buNone/>
            </a:pPr>
            <a:r>
              <a:rPr b="1" i="0" lang="en-US" sz="30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[Your hook, one sentence, in your own voice]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02920" y="4224528"/>
            <a:ext cx="8138160" cy="530352"/>
          </a:xfrm>
          <a:prstGeom prst="roundRect">
            <a:avLst>
              <a:gd fmla="val 6897" name="adj"/>
            </a:avLst>
          </a:prstGeom>
          <a:solidFill>
            <a:srgbClr val="FFF0F2"/>
          </a:solidFill>
          <a:ln cap="flat" cmpd="sng" w="12700">
            <a:solidFill>
              <a:srgbClr val="FFF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630936" y="4224528"/>
            <a:ext cx="78821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C50041"/>
                </a:solidFill>
                <a:latin typeface="Kanit"/>
                <a:ea typeface="Kanit"/>
                <a:cs typeface="Kanit"/>
                <a:sym typeface="Kanit"/>
              </a:rPr>
              <a:t>TIP</a:t>
            </a:r>
            <a:r>
              <a:rPr b="1" i="0" lang="en-US" sz="9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  </a:t>
            </a:r>
            <a:r>
              <a:rPr b="0" i="0" lang="en-US" sz="9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Personal works best: "I've walked past this every day for four years and never noticed the handrail was doing three jobs at once."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" name="Google Shape;5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7178040" y="48463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5818FF"/>
                </a:solidFill>
                <a:latin typeface="Inter"/>
                <a:ea typeface="Inter"/>
                <a:cs typeface="Inter"/>
                <a:sym typeface="Inter"/>
              </a:rPr>
              <a:t>THAT'S A BANGER · DESIGN OUTSIDE DIGITAL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502920" y="475488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900"/>
              <a:buFont typeface="Kanit"/>
              <a:buNone/>
            </a:pPr>
            <a:r>
              <a:rPr b="1" i="0" lang="en-US" sz="19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THE BRIEF BEHIND IT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502920" y="941832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3" name="Google Shape;63;p6"/>
          <p:cNvGraphicFramePr/>
          <p:nvPr/>
        </p:nvGraphicFramePr>
        <p:xfrm>
          <a:off x="502920" y="11795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{76D34A03-0700-40ED-B5F1-7E45448843EF}</a:tableStyleId>
              </a:tblPr>
              <a:tblGrid>
                <a:gridCol w="2194550"/>
                <a:gridCol w="5943600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04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YOURS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0442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0442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Who made it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[designer, studio, agency, nobody knows]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0442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When &amp; where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[year, country, context]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0442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The constraint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[budget · material · regulation · era · audience]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0442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What was at stake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[why it had to work]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Google Shape;64;p6"/>
          <p:cNvSpPr/>
          <p:nvPr/>
        </p:nvSpPr>
        <p:spPr>
          <a:xfrm>
            <a:off x="502920" y="3319272"/>
            <a:ext cx="8138160" cy="685800"/>
          </a:xfrm>
          <a:prstGeom prst="roundRect">
            <a:avLst>
              <a:gd fmla="val 5333" name="adj"/>
            </a:avLst>
          </a:prstGeom>
          <a:solidFill>
            <a:srgbClr val="E6DEFA"/>
          </a:solidFill>
          <a:ln cap="flat" cmpd="sng" w="12700">
            <a:solidFill>
              <a:srgbClr val="5818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502920" y="3319272"/>
            <a:ext cx="8138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200"/>
              <a:buFont typeface="Kanit"/>
              <a:buNone/>
            </a:pPr>
            <a:r>
              <a:rPr b="0" i="0" lang="en-US" sz="12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one archive image or photo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502920" y="4224528"/>
            <a:ext cx="8138160" cy="530352"/>
          </a:xfrm>
          <a:prstGeom prst="roundRect">
            <a:avLst>
              <a:gd fmla="val 6897" name="adj"/>
            </a:avLst>
          </a:prstGeom>
          <a:solidFill>
            <a:srgbClr val="FFF0F2"/>
          </a:solidFill>
          <a:ln cap="flat" cmpd="sng" w="12700">
            <a:solidFill>
              <a:srgbClr val="FFF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630936" y="4224528"/>
            <a:ext cx="78821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C50041"/>
                </a:solidFill>
                <a:latin typeface="Kanit"/>
                <a:ea typeface="Kanit"/>
                <a:cs typeface="Kanit"/>
                <a:sym typeface="Kanit"/>
              </a:rPr>
              <a:t>TIP</a:t>
            </a:r>
            <a:r>
              <a:rPr b="1" i="0" lang="en-US" sz="9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  </a:t>
            </a:r>
            <a:r>
              <a:rPr b="0" i="0" lang="en-US" sz="9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The constraint carries the story. Design with no constraint is decoration, and what we want is how somebody worked inside a limit.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" name="Google Shape;6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6"/>
          <p:cNvSpPr/>
          <p:nvPr/>
        </p:nvSpPr>
        <p:spPr>
          <a:xfrm>
            <a:off x="7178040" y="48463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5818FF"/>
                </a:solidFill>
                <a:latin typeface="Inter"/>
                <a:ea typeface="Inter"/>
                <a:cs typeface="Inter"/>
                <a:sym typeface="Inter"/>
              </a:rPr>
              <a:t>THAT'S A BANGER · DESIGN OUTSIDE DIGITAL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502920" y="475488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900"/>
              <a:buFont typeface="Kanit"/>
              <a:buNone/>
            </a:pPr>
            <a:r>
              <a:rPr b="1" i="0" lang="en-US" sz="19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DECISION ONE, DECODED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502920" y="941832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7"/>
          <p:cNvSpPr/>
          <p:nvPr/>
        </p:nvSpPr>
        <p:spPr>
          <a:xfrm>
            <a:off x="4709160" y="1179576"/>
            <a:ext cx="3931920" cy="2834640"/>
          </a:xfrm>
          <a:prstGeom prst="roundRect">
            <a:avLst>
              <a:gd fmla="val 1290" name="adj"/>
            </a:avLst>
          </a:prstGeom>
          <a:solidFill>
            <a:srgbClr val="E6DEFA"/>
          </a:solidFill>
          <a:ln cap="flat" cmpd="sng" w="12700">
            <a:solidFill>
              <a:srgbClr val="5818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4709160" y="1179576"/>
            <a:ext cx="393192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200"/>
              <a:buFont typeface="Kanit"/>
              <a:buNone/>
            </a:pPr>
            <a:r>
              <a:rPr b="0" i="0" lang="en-US" sz="12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IMAGE OF THE DECISION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200"/>
              <a:buFont typeface="Kanit"/>
              <a:buNone/>
            </a:pPr>
            <a:r>
              <a:rPr b="0" i="0" lang="en-US" sz="12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close enough that we can see 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502920" y="1179576"/>
            <a:ext cx="3977640" cy="2834640"/>
          </a:xfrm>
          <a:prstGeom prst="roundRect">
            <a:avLst>
              <a:gd fmla="val 1290" name="adj"/>
            </a:avLst>
          </a:prstGeom>
          <a:solidFill>
            <a:srgbClr val="FFFFFF"/>
          </a:solidFill>
          <a:ln cap="flat" cmpd="sng" w="12700">
            <a:solidFill>
              <a:srgbClr val="E6D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649224" y="1289304"/>
            <a:ext cx="3685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50"/>
              <a:buFont typeface="Kanit"/>
              <a:buNone/>
            </a:pPr>
            <a:r>
              <a:rPr b="1" i="0" lang="en-US" sz="105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THE CALL THEY MADE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649224" y="1600200"/>
            <a:ext cx="3685032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[what they did]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2550" lvl="0" marL="152400" marR="0" rtl="0" algn="l">
              <a:lnSpc>
                <a:spcPct val="136363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36363"/>
              </a:lnSpc>
              <a:spcBef>
                <a:spcPts val="70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REJECTED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36363"/>
              </a:lnSpc>
              <a:spcBef>
                <a:spcPts val="70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[what they didn't do]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2550" lvl="0" marL="152400" marR="0" rtl="0" algn="l">
              <a:lnSpc>
                <a:spcPct val="136363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36363"/>
              </a:lnSpc>
              <a:spcBef>
                <a:spcPts val="70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WHY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36363"/>
              </a:lnSpc>
              <a:spcBef>
                <a:spcPts val="70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[the constraint that decided it]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502920" y="4224528"/>
            <a:ext cx="8138160" cy="530352"/>
          </a:xfrm>
          <a:prstGeom prst="roundRect">
            <a:avLst>
              <a:gd fmla="val 6897" name="adj"/>
            </a:avLst>
          </a:prstGeom>
          <a:solidFill>
            <a:srgbClr val="FFF0F2"/>
          </a:solidFill>
          <a:ln cap="flat" cmpd="sng" w="12700">
            <a:solidFill>
              <a:srgbClr val="FFF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630936" y="4224528"/>
            <a:ext cx="78821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C50041"/>
                </a:solidFill>
                <a:latin typeface="Kanit"/>
                <a:ea typeface="Kanit"/>
                <a:cs typeface="Kanit"/>
                <a:sym typeface="Kanit"/>
              </a:rPr>
              <a:t>TIP</a:t>
            </a:r>
            <a:r>
              <a:rPr b="1" i="0" lang="en-US" sz="9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  </a:t>
            </a:r>
            <a:r>
              <a:rPr b="0" i="0" lang="en-US" sz="9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One image, three boxes, one line each. If you need a paragraph, you've drifted into explaining the object instead of the decision.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" name="Google Shape;8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7"/>
          <p:cNvSpPr/>
          <p:nvPr/>
        </p:nvSpPr>
        <p:spPr>
          <a:xfrm>
            <a:off x="7178040" y="48463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5818FF"/>
                </a:solidFill>
                <a:latin typeface="Inter"/>
                <a:ea typeface="Inter"/>
                <a:cs typeface="Inter"/>
                <a:sym typeface="Inter"/>
              </a:rPr>
              <a:t>THAT'S A BANGER · DESIGN OUTSIDE DIGITAL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502920" y="475488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900"/>
              <a:buFont typeface="Kanit"/>
              <a:buNone/>
            </a:pPr>
            <a:r>
              <a:rPr b="1" i="0" lang="en-US" sz="19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DECISION TWO, DECODED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502920" y="941832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"/>
          <p:cNvSpPr/>
          <p:nvPr/>
        </p:nvSpPr>
        <p:spPr>
          <a:xfrm>
            <a:off x="4709160" y="1179576"/>
            <a:ext cx="3931920" cy="2834640"/>
          </a:xfrm>
          <a:prstGeom prst="roundRect">
            <a:avLst>
              <a:gd fmla="val 1290" name="adj"/>
            </a:avLst>
          </a:prstGeom>
          <a:solidFill>
            <a:srgbClr val="E6DEFA"/>
          </a:solidFill>
          <a:ln cap="flat" cmpd="sng" w="12700">
            <a:solidFill>
              <a:srgbClr val="5818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"/>
          <p:cNvSpPr/>
          <p:nvPr/>
        </p:nvSpPr>
        <p:spPr>
          <a:xfrm>
            <a:off x="4709160" y="1179576"/>
            <a:ext cx="393192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200"/>
              <a:buFont typeface="Kanit"/>
              <a:buNone/>
            </a:pPr>
            <a:r>
              <a:rPr b="0" i="0" lang="en-US" sz="12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IMAGE OF THE DECISION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502920" y="1179576"/>
            <a:ext cx="3977640" cy="2834640"/>
          </a:xfrm>
          <a:prstGeom prst="roundRect">
            <a:avLst>
              <a:gd fmla="val 1290" name="adj"/>
            </a:avLst>
          </a:prstGeom>
          <a:solidFill>
            <a:srgbClr val="FFFFFF"/>
          </a:solidFill>
          <a:ln cap="flat" cmpd="sng" w="12700">
            <a:solidFill>
              <a:srgbClr val="E6D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8"/>
          <p:cNvSpPr/>
          <p:nvPr/>
        </p:nvSpPr>
        <p:spPr>
          <a:xfrm>
            <a:off x="649224" y="1289304"/>
            <a:ext cx="3685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50"/>
              <a:buFont typeface="Kanit"/>
              <a:buNone/>
            </a:pPr>
            <a:r>
              <a:rPr b="1" i="0" lang="en-US" sz="105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THE CALL THEY MADE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649224" y="1600200"/>
            <a:ext cx="3685032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[what they did]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2550" lvl="0" marL="152400" marR="0" rtl="0" algn="l">
              <a:lnSpc>
                <a:spcPct val="136363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36363"/>
              </a:lnSpc>
              <a:spcBef>
                <a:spcPts val="70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REJECTED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36363"/>
              </a:lnSpc>
              <a:spcBef>
                <a:spcPts val="70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[what they didn't do]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2550" lvl="0" marL="152400" marR="0" rtl="0" algn="l">
              <a:lnSpc>
                <a:spcPct val="136363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36363"/>
              </a:lnSpc>
              <a:spcBef>
                <a:spcPts val="70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WHY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36363"/>
              </a:lnSpc>
              <a:spcBef>
                <a:spcPts val="700"/>
              </a:spcBef>
              <a:spcAft>
                <a:spcPts val="0"/>
              </a:spcAft>
              <a:buClr>
                <a:srgbClr val="1B0442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[the constraint that decided it]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502920" y="4224528"/>
            <a:ext cx="8138160" cy="530352"/>
          </a:xfrm>
          <a:prstGeom prst="roundRect">
            <a:avLst>
              <a:gd fmla="val 6897" name="adj"/>
            </a:avLst>
          </a:prstGeom>
          <a:solidFill>
            <a:srgbClr val="FFF0F2"/>
          </a:solidFill>
          <a:ln cap="flat" cmpd="sng" w="12700">
            <a:solidFill>
              <a:srgbClr val="FFF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630936" y="4224528"/>
            <a:ext cx="78821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C50041"/>
                </a:solidFill>
                <a:latin typeface="Kanit"/>
                <a:ea typeface="Kanit"/>
                <a:cs typeface="Kanit"/>
                <a:sym typeface="Kanit"/>
              </a:rPr>
              <a:t>TIP</a:t>
            </a:r>
            <a:r>
              <a:rPr b="1" i="0" lang="en-US" sz="9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  </a:t>
            </a:r>
            <a:r>
              <a:rPr b="0" i="0" lang="en-US" sz="9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Add a third decision only if it earns its own slide. Two decoded properly beats four name-dropped.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" name="Google Shape;10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8"/>
          <p:cNvSpPr/>
          <p:nvPr/>
        </p:nvSpPr>
        <p:spPr>
          <a:xfrm>
            <a:off x="7178040" y="48463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0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5818FF"/>
                </a:solidFill>
                <a:latin typeface="Inter"/>
                <a:ea typeface="Inter"/>
                <a:cs typeface="Inter"/>
                <a:sym typeface="Inter"/>
              </a:rPr>
              <a:t>THAT'S A BANGER · DESIGN OUTSIDE DIGITAL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502920" y="475488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1900"/>
              <a:buFont typeface="Kanit"/>
              <a:buNone/>
            </a:pPr>
            <a:r>
              <a:rPr b="1" i="0" lang="en-US" sz="1900" u="none" cap="none" strike="noStrike">
                <a:solidFill>
                  <a:srgbClr val="1B0442"/>
                </a:solidFill>
                <a:latin typeface="Kanit"/>
                <a:ea typeface="Kanit"/>
                <a:cs typeface="Kanit"/>
                <a:sym typeface="Kanit"/>
              </a:rPr>
              <a:t>THE DETAIL NOBODY NOTICES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502920" y="941832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"/>
          <p:cNvSpPr/>
          <p:nvPr/>
        </p:nvSpPr>
        <p:spPr>
          <a:xfrm>
            <a:off x="502920" y="1179576"/>
            <a:ext cx="8138160" cy="2286000"/>
          </a:xfrm>
          <a:prstGeom prst="roundRect">
            <a:avLst>
              <a:gd fmla="val 1600" name="adj"/>
            </a:avLst>
          </a:prstGeom>
          <a:solidFill>
            <a:srgbClr val="E6DEFA"/>
          </a:solidFill>
          <a:ln cap="flat" cmpd="sng" w="12700">
            <a:solidFill>
              <a:srgbClr val="5818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/>
          <p:cNvSpPr/>
          <p:nvPr/>
        </p:nvSpPr>
        <p:spPr>
          <a:xfrm>
            <a:off x="502920" y="1179576"/>
            <a:ext cx="81381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200"/>
              <a:buFont typeface="Kanit"/>
              <a:buNone/>
            </a:pPr>
            <a:r>
              <a:rPr b="0" i="0" lang="en-US" sz="12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ONE ZOOMED CROP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200"/>
              <a:buFont typeface="Kanit"/>
              <a:buNone/>
            </a:pPr>
            <a:r>
              <a:rPr b="0" i="0" lang="en-US" sz="12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kerning · a weld · a colour that only exists at night · a curve that stops water pooling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502920" y="3575304"/>
            <a:ext cx="8138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500"/>
              <a:buFont typeface="Kanit"/>
              <a:buNone/>
            </a:pPr>
            <a:r>
              <a:rPr b="0" i="0" lang="en-US" sz="15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[What it's for, in one line]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502920" y="4224528"/>
            <a:ext cx="8138160" cy="530352"/>
          </a:xfrm>
          <a:prstGeom prst="roundRect">
            <a:avLst>
              <a:gd fmla="val 6897" name="adj"/>
            </a:avLst>
          </a:prstGeom>
          <a:solidFill>
            <a:srgbClr val="FFF0F2"/>
          </a:solidFill>
          <a:ln cap="flat" cmpd="sng" w="12700">
            <a:solidFill>
              <a:srgbClr val="FFF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630936" y="4224528"/>
            <a:ext cx="78821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C50041"/>
                </a:solidFill>
                <a:latin typeface="Kanit"/>
                <a:ea typeface="Kanit"/>
                <a:cs typeface="Kanit"/>
                <a:sym typeface="Kanit"/>
              </a:rPr>
              <a:t>TIP</a:t>
            </a:r>
            <a:r>
              <a:rPr b="1" i="0" lang="en-US" sz="9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  </a:t>
            </a:r>
            <a:r>
              <a:rPr b="0" i="0" lang="en-US" sz="90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The crowd-pleaser. Zoom in hard: this is the slide people screenshot and send to a friend who doesn't work in design.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0442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1B0442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1" name="Google Shape;12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9"/>
          <p:cNvSpPr/>
          <p:nvPr/>
        </p:nvSpPr>
        <p:spPr>
          <a:xfrm>
            <a:off x="7178040" y="48463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818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5818FF"/>
                </a:solidFill>
                <a:latin typeface="Kanit"/>
                <a:ea typeface="Kanit"/>
                <a:cs typeface="Kanit"/>
                <a:sym typeface="Kanit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044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/>
          <p:nvPr/>
        </p:nvSpPr>
        <p:spPr>
          <a:xfrm>
            <a:off x="502925" y="4099801"/>
            <a:ext cx="8138100" cy="530400"/>
          </a:xfrm>
          <a:prstGeom prst="roundRect">
            <a:avLst>
              <a:gd fmla="val 6897" name="adj"/>
            </a:avLst>
          </a:prstGeom>
          <a:solidFill>
            <a:srgbClr val="FFF0F2"/>
          </a:solidFill>
          <a:ln cap="flat" cmpd="sng" w="12700">
            <a:solidFill>
              <a:srgbClr val="FFF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0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C4ACFF"/>
                </a:solidFill>
                <a:latin typeface="Inter"/>
                <a:ea typeface="Inter"/>
                <a:cs typeface="Inter"/>
                <a:sym typeface="Inter"/>
              </a:rPr>
              <a:t>THAT'S A BANGER · DESIGN OUTSIDE DIGITAL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502920" y="475488"/>
            <a:ext cx="6766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Kanit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WHAT WE CAN PINCH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502920" y="941832"/>
            <a:ext cx="1097280" cy="41148"/>
          </a:xfrm>
          <a:prstGeom prst="rect">
            <a:avLst/>
          </a:prstGeom>
          <a:solidFill>
            <a:srgbClr val="581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3" name="Google Shape;133;p10"/>
          <p:cNvGraphicFramePr/>
          <p:nvPr/>
        </p:nvGraphicFramePr>
        <p:xfrm>
          <a:off x="502920" y="11795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{76D34A03-0700-40ED-B5F1-7E45448843EF}</a:tableStyleId>
              </a:tblPr>
              <a:tblGrid>
                <a:gridCol w="4069075"/>
                <a:gridCol w="4069075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IN THEIR WORLD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04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IN OURS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0442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0442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[the principle]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[the product design equivalent, concrete]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Kanit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0442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[the principle]</a:t>
                      </a:r>
                      <a:endParaRPr sz="1000" u="none" cap="none" strike="noStrike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0442"/>
                        </a:buClr>
                        <a:buSzPts val="1000"/>
                        <a:buFont typeface="Inter"/>
                        <a:buNone/>
                      </a:pPr>
                      <a:r>
                        <a:rPr lang="en-US" sz="1000" u="none" cap="none" strike="noStrike">
                          <a:solidFill>
                            <a:srgbClr val="1B044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[the product design equivalent, concrete]</a:t>
                      </a:r>
                      <a:endParaRPr sz="1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3150" marB="73150" marR="73150" marL="73150" anchor="ctr">
                    <a:lnL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4" name="Google Shape;134;p10"/>
          <p:cNvSpPr/>
          <p:nvPr/>
        </p:nvSpPr>
        <p:spPr>
          <a:xfrm>
            <a:off x="502920" y="2953512"/>
            <a:ext cx="8138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1400"/>
              <a:buFont typeface="Kanit"/>
              <a:buNone/>
            </a:pPr>
            <a:r>
              <a:rPr b="0" i="0" lang="en-US" sz="14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Over to you: [your question] · Sources: [book, doc, archive]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565175" y="4136376"/>
            <a:ext cx="8076000" cy="475500"/>
          </a:xfrm>
          <a:prstGeom prst="rect">
            <a:avLst/>
          </a:prstGeom>
          <a:solidFill>
            <a:srgbClr val="FFF0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900"/>
              <a:buFont typeface="Kanit"/>
              <a:buNone/>
            </a:pPr>
            <a:r>
              <a:rPr b="1" i="0" lang="en-US" sz="900" u="none" cap="none" strike="noStrike">
                <a:solidFill>
                  <a:srgbClr val="C50041"/>
                </a:solidFill>
                <a:latin typeface="Kanit"/>
                <a:ea typeface="Kanit"/>
                <a:cs typeface="Kanit"/>
                <a:sym typeface="Kanit"/>
              </a:rPr>
              <a:t>TIP</a:t>
            </a:r>
            <a:r>
              <a:rPr b="1" i="0" lang="en-US" sz="900" u="none" cap="none" strike="noStrike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  </a:t>
            </a:r>
            <a:r>
              <a:rPr b="0" i="0" lang="en-US" sz="9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Make the transfer concrete. "Signage designed for someone running for a train" becomes "design the empty state for the user who is already late", not "think about context".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502920" y="4846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DEFA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E6DEFA"/>
                </a:solidFill>
                <a:latin typeface="Inter"/>
                <a:ea typeface="Inter"/>
                <a:cs typeface="Inter"/>
                <a:sym typeface="Inter"/>
              </a:rPr>
              <a:t>WWW.THIGA.CO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7" name="Google Shape;13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0" y="4846320"/>
            <a:ext cx="1005840" cy="12214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0"/>
          <p:cNvSpPr/>
          <p:nvPr/>
        </p:nvSpPr>
        <p:spPr>
          <a:xfrm>
            <a:off x="7178040" y="48463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ACFF"/>
              </a:buClr>
              <a:buSzPts val="1000"/>
              <a:buFont typeface="Kanit"/>
              <a:buNone/>
            </a:pPr>
            <a:r>
              <a:rPr b="1" i="0" lang="en-US" sz="1000" u="none" cap="none" strike="noStrike">
                <a:solidFill>
                  <a:srgbClr val="C4ACFF"/>
                </a:solidFill>
                <a:latin typeface="Kanit"/>
                <a:ea typeface="Kanit"/>
                <a:cs typeface="Kanit"/>
                <a:sym typeface="Kanit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