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5143500" cy="9144000"/>
  <p:embeddedFontLst>
    <p:embeddedFont>
      <p:font typeface="Inter"/>
      <p:regular r:id="rId12"/>
      <p:bold r:id="rId13"/>
      <p:italic r:id="rId14"/>
      <p:boldItalic r:id="rId15"/>
    </p:embeddedFont>
    <p:embeddedFont>
      <p:font typeface="Kani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22FFA0-6382-450B-8D7F-5FA66426D6CB}">
  <a:tblStyle styleId="{3722FFA0-6382-450B-8D7F-5FA66426D6C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Kanit-bold.fntdata"/><Relationship Id="rId16" Type="http://schemas.openxmlformats.org/officeDocument/2006/relationships/font" Target="fonts/Kani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Kanit-boldItalic.fntdata"/><Relationship Id="rId6" Type="http://schemas.openxmlformats.org/officeDocument/2006/relationships/slide" Target="slides/slide1.xml"/><Relationship Id="rId18" Type="http://schemas.openxmlformats.org/officeDocument/2006/relationships/font" Target="fonts/Kani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for the speaker, not the audience. Delete it before presenting.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You're hosting, not presenting. Say the split out loud at minute three: fifteen minutes for our guest, thirty-five for the room. It tells the guest when to stop and gives everyone permission to jump in.</a:t>
            </a:r>
            <a:br>
              <a:rPr lang="en-US"/>
            </a:br>
            <a:r>
              <a:rPr lang="en-US"/>
              <a:t>⏱ 3 min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Ninety seconds. Don't read their CV, tell us why they're here today.</a:t>
            </a:r>
            <a:br>
              <a:rPr lang="en-US"/>
            </a:br>
            <a:br>
              <a:rPr lang="en-US"/>
            </a:br>
            <a:r>
              <a:rPr lang="en-US"/>
              <a:t>Housekeeping in one breath: recording or not, the timing split, how to jump in.</a:t>
            </a:r>
            <a:br>
              <a:rPr lang="en-US"/>
            </a:br>
            <a:r>
              <a:rPr lang="en-US"/>
              <a:t>⏱ 2 min</a:t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Leave this slide up through the Q&amp;A. It gives the room something to build on and kills the awkward first silence.</a:t>
            </a:r>
            <a:br>
              <a:rPr lang="en-US"/>
            </a:br>
            <a:br>
              <a:rPr lang="en-US"/>
            </a:br>
            <a:r>
              <a:rPr lang="en-US"/>
              <a:t>Keep three silence-breakers in your pocket, short and personal ("what's on your desk right now?"). Use one the moment the room goes quiet for four seconds.</a:t>
            </a:r>
            <a:br>
              <a:rPr lang="en-US"/>
            </a:br>
            <a:br>
              <a:rPr lang="en-US"/>
            </a:br>
            <a:r>
              <a:rPr lang="en-US"/>
              <a:t>Read out the name of whoever sent a question. People write better questions when they get the credit.</a:t>
            </a:r>
            <a:br>
              <a:rPr lang="en-US"/>
            </a:br>
            <a:r>
              <a:rPr lang="en-US"/>
              <a:t>⏱ 30 min</a:t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 question, short answer, keep the rhythm going. This is usually where the room relaxes and the best material shows up.</a:t>
            </a:r>
            <a:br>
              <a:rPr lang="en-US"/>
            </a:br>
            <a:r>
              <a:rPr lang="en-US"/>
              <a:t>⏱ 8 min</a:t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4 min</a:t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02925" y="475503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2000"/>
              <a:buFont typeface="Kanit"/>
              <a:buNone/>
            </a:pPr>
            <a:r>
              <a:rPr b="1" i="0" lang="en-US" sz="20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HOW TO USE THIS TEMPLATE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0" y="932688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02920" y="11338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400"/>
              <a:buFont typeface="Kanit"/>
              <a:buNone/>
            </a:pPr>
            <a:r>
              <a:rPr b="0" i="0" lang="en-US" sz="14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Someone from outside Thiga comes to talk: a sector we never see (games, furniture, fashion, a startup) or a craft we don't have in house.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" name="Google Shape;19;p3"/>
          <p:cNvGraphicFramePr/>
          <p:nvPr/>
        </p:nvGraphicFramePr>
        <p:xfrm>
          <a:off x="502920" y="17007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{3722FFA0-6382-450B-8D7F-5FA66426D6CB}</a:tableStyleId>
              </a:tblPr>
              <a:tblGrid>
                <a:gridCol w="4069075"/>
                <a:gridCol w="4069075"/>
              </a:tblGrid>
              <a:tr h="25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RULES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TRAP TO AVOID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</a:tr>
              <a:tr h="1118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4 slides. That's the whole deck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Ask for questions from the tribe </a:t>
                      </a:r>
                      <a:r>
                        <a:rPr lang="en-US" sz="1000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week ahead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The guest brings slides, or nothing at all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Letting it turn into a fifty-minute talk with five rushed minutes at the end. The name of the ritual is a clue.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Google Shape;20;p3"/>
          <p:cNvSpPr/>
          <p:nvPr/>
        </p:nvSpPr>
        <p:spPr>
          <a:xfrm>
            <a:off x="502920" y="3383280"/>
            <a:ext cx="8138160" cy="841248"/>
          </a:xfrm>
          <a:prstGeom prst="roundRect">
            <a:avLst>
              <a:gd fmla="val 4348" name="adj"/>
            </a:avLst>
          </a:prstGeom>
          <a:solidFill>
            <a:srgbClr val="E6DEFA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30936" y="3383280"/>
            <a:ext cx="788212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100"/>
              <a:buFont typeface="Kanit"/>
              <a:buNone/>
            </a:pPr>
            <a:r>
              <a:rPr b="1" i="0" lang="en-US" sz="11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HOW TO FILL THIS IN.   </a:t>
            </a: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Two things to do before the day: a 20-minute prep call with your guest (what they want to talk about, what's off-limits, whether we can record)</a:t>
            </a:r>
            <a:r>
              <a:rPr lang="en-US" sz="950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 a question collection in the tribe</a:t>
            </a:r>
            <a:r>
              <a:rPr lang="en-US" sz="950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’s</a:t>
            </a: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50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Slack </a:t>
            </a: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channel </a:t>
            </a:r>
            <a:r>
              <a:rPr lang="en-US" sz="950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a few days </a:t>
            </a: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ahead.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Your guest builds nothing unless they feel like it. Your job is four slides, twelve questions, and a room that never goes quiet. Name a timekeeper who isn't you.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502920" y="256032"/>
            <a:ext cx="5943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lang="en-US" sz="1700">
                <a:solidFill>
                  <a:srgbClr val="5818FF"/>
                </a:solidFill>
                <a:highlight>
                  <a:srgbClr val="5818FF"/>
                </a:highlight>
                <a:latin typeface="Kanit"/>
                <a:ea typeface="Kanit"/>
                <a:cs typeface="Kanit"/>
                <a:sym typeface="Kanit"/>
              </a:rPr>
              <a:t>.</a:t>
            </a:r>
            <a:r>
              <a:rPr b="1" i="0" lang="en-US" sz="1600" u="none" cap="none" strike="noStrike">
                <a:solidFill>
                  <a:srgbClr val="FFFFFF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 READ ME FIRST</a:t>
            </a:r>
            <a:r>
              <a:rPr b="1" i="0" lang="en-US" sz="1600" u="none" cap="none" strike="noStrike">
                <a:solidFill>
                  <a:srgbClr val="5818FF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00" u="none" cap="none" strike="noStrike">
              <a:solidFill>
                <a:srgbClr val="5818FF"/>
              </a:solidFill>
              <a:highlight>
                <a:srgbClr val="5818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035040" y="420624"/>
            <a:ext cx="2606100" cy="502800"/>
          </a:xfrm>
          <a:prstGeom prst="rect">
            <a:avLst/>
          </a:prstGeom>
          <a:solidFill>
            <a:srgbClr val="C5004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DELETE THIS SLIDE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</a:br>
            <a:r>
              <a:rPr b="0" i="0" lang="en-US" sz="900" u="none" cap="none" strike="noStrike">
                <a:solidFill>
                  <a:srgbClr val="FFF0F2"/>
                </a:solidFill>
                <a:latin typeface="Inter"/>
                <a:ea typeface="Inter"/>
                <a:cs typeface="Inter"/>
                <a:sym typeface="Inter"/>
              </a:rPr>
              <a:t>before you present</a:t>
            </a:r>
            <a:endParaRPr b="0" i="0" sz="1000" u="none" cap="none" strike="noStrike">
              <a:solidFill>
                <a:srgbClr val="FFF0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0442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2920" y="822960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C4ACFF"/>
                </a:solidFill>
                <a:latin typeface="Inter"/>
                <a:ea typeface="Inter"/>
                <a:cs typeface="Inter"/>
                <a:sym typeface="Inter"/>
              </a:rPr>
              <a:t>TRIBE DESIGN · [DATE]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02920" y="114300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Kanit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ASK ME ANYTHING 🎤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02920" y="1920240"/>
            <a:ext cx="5120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[Guest name]: [role] @ [company]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3108960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02920" y="331012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[Your name]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897880" y="822960"/>
            <a:ext cx="2743200" cy="2743200"/>
          </a:xfrm>
          <a:prstGeom prst="roundRect">
            <a:avLst>
              <a:gd fmla="val 1333" name="adj"/>
            </a:avLst>
          </a:prstGeom>
          <a:solidFill>
            <a:srgbClr val="5818FF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897880" y="822960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(optional)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ASK ME ANYTHING · GUEST SESSION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WHY WE INVITED THEM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7607808" y="329184"/>
            <a:ext cx="1033272" cy="256032"/>
          </a:xfrm>
          <a:prstGeom prst="roundRect">
            <a:avLst>
              <a:gd fmla="val 14286" name="adj"/>
            </a:avLst>
          </a:prstGeom>
          <a:solidFill>
            <a:srgbClr val="5818FF"/>
          </a:solidFill>
          <a:ln cap="flat" cmpd="sng" w="12700">
            <a:solidFill>
              <a:srgbClr val="581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7607808" y="32918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2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263640" y="1179576"/>
            <a:ext cx="2377440" cy="2286000"/>
          </a:xfrm>
          <a:prstGeom prst="roundRect">
            <a:avLst>
              <a:gd fmla="val 1600" name="adj"/>
            </a:avLst>
          </a:prstGeom>
          <a:solidFill>
            <a:srgbClr val="E6DEFA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263640" y="1179576"/>
            <a:ext cx="23774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GUEST PHOTO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02920" y="1179576"/>
            <a:ext cx="5577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[What they've built]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41666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[Why it matters to us right now]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41666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[One surprising thing, from your prep call rather than their LinkedIn]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02920" y="3575304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500"/>
              <a:buFont typeface="Kanit"/>
              <a:buNone/>
            </a:pPr>
            <a:r>
              <a:rPr b="0" i="0" lang="en-US" sz="15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Today: </a:t>
            </a:r>
            <a:r>
              <a:rPr lang="en-US" sz="1500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20</a:t>
            </a:r>
            <a:r>
              <a:rPr b="0" i="0" lang="en-US" sz="15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minutes from [guest], then 3</a:t>
            </a:r>
            <a:r>
              <a:rPr lang="en-US" sz="1500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0</a:t>
            </a:r>
            <a:r>
              <a:rPr b="0" i="0" lang="en-US" sz="15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minutes of your questions.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E6DEFA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TIP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The surprising detail is what warms the room up. Get it in the prep call, and while you're there agree what's off-limits and whether we can record.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ASK ME ANYTHING · GUEST SESSION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OUR ANCHOR QUESTIONS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7607808" y="329184"/>
            <a:ext cx="1033272" cy="256032"/>
          </a:xfrm>
          <a:prstGeom prst="roundRect">
            <a:avLst>
              <a:gd fmla="val 14286" name="adj"/>
            </a:avLst>
          </a:prstGeom>
          <a:solidFill>
            <a:srgbClr val="5818FF"/>
          </a:solidFill>
          <a:ln cap="flat" cmpd="sng" w="12700">
            <a:solidFill>
              <a:srgbClr val="581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7607808" y="32918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30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02920" y="1179576"/>
            <a:ext cx="8138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1. [Something only this guest can answer]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1428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2. [Something only this guest can answer]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1428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3. [Something only this guest can answer]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02920" y="3026664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500"/>
              <a:buFont typeface="Kanit"/>
              <a:buNone/>
            </a:pPr>
            <a:r>
              <a:rPr b="0" i="0" lang="en-US" sz="15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Then: your questions, plus the ones you sent in advance.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E6DEFA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TIP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Anchor questions should be unanswerable by anyone else: "what does design maturity look like in a fifteen-person games studio?" rather than "what advice would you give juniors?"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ASK ME ANYTHING · GUEST SESSION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LIGHTNING ROUND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7607808" y="329184"/>
            <a:ext cx="1033272" cy="256032"/>
          </a:xfrm>
          <a:prstGeom prst="roundRect">
            <a:avLst>
              <a:gd fmla="val 14286" name="adj"/>
            </a:avLst>
          </a:prstGeom>
          <a:solidFill>
            <a:srgbClr val="5818FF"/>
          </a:solidFill>
          <a:ln cap="flat" cmpd="sng" w="12700">
            <a:solidFill>
              <a:srgbClr val="581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7607808" y="32918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8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02920" y="1179576"/>
            <a:ext cx="3977640" cy="2377440"/>
          </a:xfrm>
          <a:prstGeom prst="roundRect">
            <a:avLst>
              <a:gd fmla="val 1538" name="adj"/>
            </a:avLst>
          </a:prstGeom>
          <a:solidFill>
            <a:srgbClr val="FFFFFF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649224" y="1289304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50"/>
              <a:buFont typeface="Kanit"/>
              <a:buNone/>
            </a:pPr>
            <a:r>
              <a:rPr b="1" i="0" lang="en-US" sz="105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FOUR QUICK 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649224" y="1600200"/>
            <a:ext cx="368503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[…]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[…]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[…]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[…]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663440" y="1179576"/>
            <a:ext cx="3977640" cy="2377440"/>
          </a:xfrm>
          <a:prstGeom prst="roundRect">
            <a:avLst>
              <a:gd fmla="val 1538" name="adj"/>
            </a:avLst>
          </a:prstGeom>
          <a:solidFill>
            <a:srgbClr val="FFFFFF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4809744" y="1289304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50"/>
              <a:buFont typeface="Kanit"/>
              <a:buNone/>
            </a:pPr>
            <a:r>
              <a:rPr b="1" i="0" lang="en-US" sz="105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YOUR BANK OF 12, IN FOUR BUCKETS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809744" y="1600200"/>
            <a:ext cx="368503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Context: their world, day to 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Craft: process, artefacts, what they dropped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Friction: what's hard, what failed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Transfer: what we'd need to know walking into their sector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E6DEFA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TIP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No yes/no questions anywhere in the hour. Start with how, what, or "tell us about the time…". Build twelve, expect to use six.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044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C4ACFF"/>
                </a:solidFill>
                <a:latin typeface="Inter"/>
                <a:ea typeface="Inter"/>
                <a:cs typeface="Inter"/>
                <a:sym typeface="Inter"/>
              </a:rPr>
              <a:t>ASK ME ANYTHING · GUEST SESSION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STAY IN TOUCH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7607808" y="329184"/>
            <a:ext cx="1033272" cy="256032"/>
          </a:xfrm>
          <a:prstGeom prst="roundRect">
            <a:avLst>
              <a:gd fmla="val 14286" name="adj"/>
            </a:avLst>
          </a:prstGeom>
          <a:solidFill>
            <a:srgbClr val="5818FF"/>
          </a:solidFill>
          <a:ln cap="flat" cmpd="sng" w="12700">
            <a:solidFill>
              <a:srgbClr val="581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7607808" y="32918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4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02925" y="1179575"/>
            <a:ext cx="81381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[Guest]: [newsletter, portfolio, LinkedIn]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769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Resources: [link]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502920" y="2523744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2000"/>
              <a:buFont typeface="Kanit"/>
              <a:buNone/>
            </a:pPr>
            <a:r>
              <a:rPr b="0" i="0" lang="en-US" sz="20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Thank you, [guest name].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502920" y="426110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TIP  </a:t>
            </a:r>
            <a:r>
              <a:rPr b="0" i="0" lang="en-US" sz="90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Leave this up while you wrap. Send the thank-you the same day, with the recording and five bullets in the tribe space.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8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